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3.jpg" ContentType="image/jpeg"/>
  <Override PartName="/ppt/media/image14.jpg" ContentType="image/jpeg"/>
  <Override PartName="/ppt/media/image15.jpg" ContentType="image/jpeg"/>
  <Override PartName="/ppt/media/image31.jpg" ContentType="image/jpeg"/>
  <Override PartName="/ppt/media/image32.jpg" ContentType="image/jpeg"/>
  <Override PartName="/ppt/media/image33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49AA5-10BA-41B7-BE3D-717E11A6450D}" v="137" dt="2025-12-31T03:29:05.2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72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28EF2-C4B8-4CAC-9BE2-9D12776C995C}" type="datetimeFigureOut">
              <a:rPr lang="tr-TR" smtClean="0"/>
              <a:t>31.12.2025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DF43B-E670-4C16-9210-E5874EFD32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63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DF43B-E670-4C16-9210-E5874EFD320B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4355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1563" y="839258"/>
            <a:ext cx="14685010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05214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05214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05214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3677" y="3046941"/>
            <a:ext cx="5916295" cy="5940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05214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179" y="619124"/>
            <a:ext cx="15841980" cy="69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05214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1593" y="2375252"/>
            <a:ext cx="7595234" cy="6327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5885" marR="5080" indent="-83820">
              <a:lnSpc>
                <a:spcPts val="5200"/>
              </a:lnSpc>
              <a:spcBef>
                <a:spcPts val="730"/>
              </a:spcBef>
            </a:pPr>
            <a:r>
              <a:rPr sz="4800" spc="85" dirty="0">
                <a:solidFill>
                  <a:srgbClr val="052644"/>
                </a:solidFill>
              </a:rPr>
              <a:t>Stochastic</a:t>
            </a:r>
            <a:r>
              <a:rPr sz="4800" spc="20" dirty="0">
                <a:solidFill>
                  <a:srgbClr val="052644"/>
                </a:solidFill>
              </a:rPr>
              <a:t> </a:t>
            </a:r>
            <a:r>
              <a:rPr sz="4800" spc="50" dirty="0">
                <a:solidFill>
                  <a:srgbClr val="072849"/>
                </a:solidFill>
              </a:rPr>
              <a:t>Flight</a:t>
            </a:r>
            <a:r>
              <a:rPr sz="4800" spc="65" dirty="0">
                <a:solidFill>
                  <a:srgbClr val="072849"/>
                </a:solidFill>
              </a:rPr>
              <a:t> </a:t>
            </a:r>
            <a:r>
              <a:rPr sz="4800" dirty="0">
                <a:solidFill>
                  <a:srgbClr val="072A48"/>
                </a:solidFill>
              </a:rPr>
              <a:t>Dynamics:</a:t>
            </a:r>
            <a:r>
              <a:rPr sz="4800" spc="505" dirty="0">
                <a:solidFill>
                  <a:srgbClr val="072A48"/>
                </a:solidFill>
              </a:rPr>
              <a:t> </a:t>
            </a:r>
            <a:r>
              <a:rPr sz="4800" dirty="0">
                <a:solidFill>
                  <a:srgbClr val="072D52"/>
                </a:solidFill>
              </a:rPr>
              <a:t>A</a:t>
            </a:r>
            <a:r>
              <a:rPr sz="4800" spc="114" dirty="0">
                <a:solidFill>
                  <a:srgbClr val="072D52"/>
                </a:solidFill>
              </a:rPr>
              <a:t> </a:t>
            </a:r>
            <a:r>
              <a:rPr sz="4800" spc="180" dirty="0">
                <a:solidFill>
                  <a:srgbClr val="052B52"/>
                </a:solidFill>
              </a:rPr>
              <a:t>Monte</a:t>
            </a:r>
            <a:r>
              <a:rPr sz="4800" spc="50" dirty="0">
                <a:solidFill>
                  <a:srgbClr val="052B52"/>
                </a:solidFill>
              </a:rPr>
              <a:t> </a:t>
            </a:r>
            <a:r>
              <a:rPr sz="4800" spc="85" dirty="0">
                <a:solidFill>
                  <a:srgbClr val="0A2D4F"/>
                </a:solidFill>
              </a:rPr>
              <a:t>Carlo</a:t>
            </a:r>
            <a:r>
              <a:rPr sz="4800" spc="240" dirty="0">
                <a:solidFill>
                  <a:srgbClr val="0A2D4F"/>
                </a:solidFill>
              </a:rPr>
              <a:t> </a:t>
            </a:r>
            <a:r>
              <a:rPr sz="4800" spc="-10" dirty="0">
                <a:solidFill>
                  <a:srgbClr val="05284D"/>
                </a:solidFill>
              </a:rPr>
              <a:t>Analysis </a:t>
            </a:r>
            <a:r>
              <a:rPr sz="4800" dirty="0">
                <a:solidFill>
                  <a:srgbClr val="0A2F50"/>
                </a:solidFill>
              </a:rPr>
              <a:t>of</a:t>
            </a:r>
            <a:r>
              <a:rPr sz="4800" spc="-70" dirty="0">
                <a:solidFill>
                  <a:srgbClr val="0A2F50"/>
                </a:solidFill>
              </a:rPr>
              <a:t> </a:t>
            </a:r>
            <a:r>
              <a:rPr sz="4800" dirty="0">
                <a:solidFill>
                  <a:srgbClr val="082B49"/>
                </a:solidFill>
              </a:rPr>
              <a:t>Rocket</a:t>
            </a:r>
            <a:r>
              <a:rPr sz="4800" spc="125" dirty="0">
                <a:solidFill>
                  <a:srgbClr val="082B49"/>
                </a:solidFill>
              </a:rPr>
              <a:t> </a:t>
            </a:r>
            <a:r>
              <a:rPr sz="4800" spc="60" dirty="0">
                <a:solidFill>
                  <a:srgbClr val="052642"/>
                </a:solidFill>
              </a:rPr>
              <a:t>Trajectory</a:t>
            </a:r>
            <a:r>
              <a:rPr sz="4800" spc="40" dirty="0">
                <a:solidFill>
                  <a:srgbClr val="052642"/>
                </a:solidFill>
              </a:rPr>
              <a:t> </a:t>
            </a:r>
            <a:r>
              <a:rPr sz="4800" dirty="0">
                <a:solidFill>
                  <a:srgbClr val="082D50"/>
                </a:solidFill>
              </a:rPr>
              <a:t>Under</a:t>
            </a:r>
            <a:r>
              <a:rPr sz="4800" spc="160" dirty="0">
                <a:solidFill>
                  <a:srgbClr val="082D50"/>
                </a:solidFill>
              </a:rPr>
              <a:t> </a:t>
            </a:r>
            <a:r>
              <a:rPr sz="4800" spc="70" dirty="0">
                <a:solidFill>
                  <a:srgbClr val="012342"/>
                </a:solidFill>
              </a:rPr>
              <a:t>Atmospheric</a:t>
            </a:r>
            <a:r>
              <a:rPr sz="4800" spc="80" dirty="0">
                <a:solidFill>
                  <a:srgbClr val="012342"/>
                </a:solidFill>
              </a:rPr>
              <a:t> </a:t>
            </a:r>
            <a:r>
              <a:rPr sz="4800" spc="100" dirty="0">
                <a:solidFill>
                  <a:srgbClr val="0A2D4D"/>
                </a:solidFill>
              </a:rPr>
              <a:t>Uncertainty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090487" y="2514952"/>
            <a:ext cx="11311255" cy="2707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dirty="0">
                <a:solidFill>
                  <a:srgbClr val="151515"/>
                </a:solidFill>
                <a:latin typeface="Cambria"/>
                <a:cs typeface="Cambria"/>
              </a:rPr>
              <a:t>Quantifying</a:t>
            </a:r>
            <a:r>
              <a:rPr sz="2850" spc="29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131313"/>
                </a:solidFill>
                <a:latin typeface="Cambria"/>
                <a:cs typeface="Cambria"/>
              </a:rPr>
              <a:t>the</a:t>
            </a:r>
            <a:r>
              <a:rPr sz="2850" spc="8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181818"/>
                </a:solidFill>
                <a:latin typeface="Cambria"/>
                <a:cs typeface="Cambria"/>
              </a:rPr>
              <a:t>Impact</a:t>
            </a:r>
            <a:r>
              <a:rPr sz="2850" spc="100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111111"/>
                </a:solidFill>
                <a:latin typeface="Cambria"/>
                <a:cs typeface="Cambria"/>
              </a:rPr>
              <a:t>Dispersion</a:t>
            </a:r>
            <a:r>
              <a:rPr sz="2850" spc="15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0A1C33"/>
                </a:solidFill>
                <a:latin typeface="Cambria"/>
                <a:cs typeface="Cambria"/>
              </a:rPr>
              <a:t>Zone</a:t>
            </a:r>
            <a:r>
              <a:rPr sz="2850" spc="65" dirty="0">
                <a:solidFill>
                  <a:srgbClr val="0A1C33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1A1A1A"/>
                </a:solidFill>
                <a:latin typeface="Cambria"/>
                <a:cs typeface="Cambria"/>
              </a:rPr>
              <a:t>and</a:t>
            </a:r>
            <a:r>
              <a:rPr sz="2850" spc="25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161616"/>
                </a:solidFill>
                <a:latin typeface="Cambria"/>
                <a:cs typeface="Cambria"/>
              </a:rPr>
              <a:t>Mission</a:t>
            </a:r>
            <a:r>
              <a:rPr sz="2850" spc="4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0F0F0F"/>
                </a:solidFill>
                <a:latin typeface="Cambria"/>
                <a:cs typeface="Cambria"/>
              </a:rPr>
              <a:t>Success</a:t>
            </a:r>
            <a:r>
              <a:rPr sz="2850" spc="15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F0F0F"/>
                </a:solidFill>
                <a:latin typeface="Cambria"/>
                <a:cs typeface="Cambria"/>
              </a:rPr>
              <a:t>Probability</a:t>
            </a:r>
            <a:endParaRPr lang="tr-TR" sz="2850" spc="-10" dirty="0">
              <a:solidFill>
                <a:srgbClr val="0F0F0F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tr-TR" sz="2850" spc="-10" dirty="0">
              <a:solidFill>
                <a:srgbClr val="0F0F0F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tr-TR" sz="2850" spc="-10" dirty="0">
              <a:solidFill>
                <a:srgbClr val="0F0F0F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tr-TR" sz="2850" spc="-10" dirty="0">
              <a:solidFill>
                <a:srgbClr val="0F0F0F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50" spc="-10" dirty="0">
                <a:solidFill>
                  <a:srgbClr val="0F0F0F"/>
                </a:solidFill>
                <a:latin typeface="Cambria"/>
                <a:cs typeface="Cambria"/>
              </a:rPr>
              <a:t>Tolgahan Döner                - 22290549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50" spc="-10" dirty="0">
                <a:solidFill>
                  <a:srgbClr val="0F0F0F"/>
                </a:solidFill>
                <a:latin typeface="Cambria"/>
                <a:cs typeface="Cambria"/>
              </a:rPr>
              <a:t>Ahmet Kerim Karık         - 22290013</a:t>
            </a:r>
            <a:endParaRPr sz="28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3400" y="4762500"/>
            <a:ext cx="20320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1400" y="3962400"/>
            <a:ext cx="1841500" cy="1803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6500" y="4699000"/>
            <a:ext cx="355600" cy="355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1410" y="1110544"/>
            <a:ext cx="6094730" cy="189483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indent="16510">
              <a:lnSpc>
                <a:spcPct val="92500"/>
              </a:lnSpc>
              <a:spcBef>
                <a:spcPts val="490"/>
              </a:spcBef>
            </a:pPr>
            <a:r>
              <a:rPr sz="4300" dirty="0">
                <a:solidFill>
                  <a:srgbClr val="05284B"/>
                </a:solidFill>
              </a:rPr>
              <a:t>The</a:t>
            </a:r>
            <a:r>
              <a:rPr sz="4300" spc="-200" dirty="0">
                <a:solidFill>
                  <a:srgbClr val="05284B"/>
                </a:solidFill>
              </a:rPr>
              <a:t> </a:t>
            </a:r>
            <a:r>
              <a:rPr sz="4300" dirty="0">
                <a:solidFill>
                  <a:srgbClr val="072A52"/>
                </a:solidFill>
              </a:rPr>
              <a:t>Core</a:t>
            </a:r>
            <a:r>
              <a:rPr sz="4300" spc="-180" dirty="0">
                <a:solidFill>
                  <a:srgbClr val="072A52"/>
                </a:solidFill>
              </a:rPr>
              <a:t> </a:t>
            </a:r>
            <a:r>
              <a:rPr sz="4300" spc="80" dirty="0">
                <a:solidFill>
                  <a:srgbClr val="032449"/>
                </a:solidFill>
              </a:rPr>
              <a:t>Objective: </a:t>
            </a:r>
            <a:r>
              <a:rPr sz="4300" spc="110" dirty="0">
                <a:solidFill>
                  <a:srgbClr val="03264B"/>
                </a:solidFill>
              </a:rPr>
              <a:t>Moving</a:t>
            </a:r>
            <a:r>
              <a:rPr sz="4300" spc="-160" dirty="0">
                <a:solidFill>
                  <a:srgbClr val="03264B"/>
                </a:solidFill>
              </a:rPr>
              <a:t> </a:t>
            </a:r>
            <a:r>
              <a:rPr sz="4300" spc="-10" dirty="0">
                <a:solidFill>
                  <a:srgbClr val="03264D"/>
                </a:solidFill>
              </a:rPr>
              <a:t>Beyond </a:t>
            </a:r>
            <a:r>
              <a:rPr sz="4300" spc="95" dirty="0">
                <a:solidFill>
                  <a:srgbClr val="032D52"/>
                </a:solidFill>
              </a:rPr>
              <a:t>Deterministic</a:t>
            </a:r>
            <a:r>
              <a:rPr sz="4300" spc="185" dirty="0">
                <a:solidFill>
                  <a:srgbClr val="032D52"/>
                </a:solidFill>
              </a:rPr>
              <a:t> </a:t>
            </a:r>
            <a:r>
              <a:rPr sz="4300" spc="95" dirty="0">
                <a:solidFill>
                  <a:srgbClr val="032346"/>
                </a:solidFill>
              </a:rPr>
              <a:t>Prediction</a:t>
            </a:r>
            <a:endParaRPr sz="4300"/>
          </a:p>
        </p:txBody>
      </p:sp>
      <p:sp>
        <p:nvSpPr>
          <p:cNvPr id="6" name="object 6"/>
          <p:cNvSpPr txBox="1"/>
          <p:nvPr/>
        </p:nvSpPr>
        <p:spPr>
          <a:xfrm>
            <a:off x="827801" y="3460750"/>
            <a:ext cx="7561580" cy="54775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33045" marR="1085215" indent="-220979">
              <a:lnSpc>
                <a:spcPts val="2900"/>
              </a:lnSpc>
              <a:spcBef>
                <a:spcPts val="280"/>
              </a:spcBef>
              <a:buChar char="•"/>
              <a:tabLst>
                <a:tab pos="234950" algn="l"/>
              </a:tabLst>
            </a:pPr>
            <a:r>
              <a:rPr sz="2500" spc="-75" dirty="0">
                <a:latin typeface="Cambria"/>
                <a:cs typeface="Cambria"/>
              </a:rPr>
              <a:t>Standard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deterministic</a:t>
            </a:r>
            <a:r>
              <a:rPr sz="2500" spc="9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models</a:t>
            </a:r>
            <a:r>
              <a:rPr sz="2500" spc="5" dirty="0">
                <a:latin typeface="Cambria"/>
                <a:cs typeface="Cambria"/>
              </a:rPr>
              <a:t> </a:t>
            </a:r>
            <a:r>
              <a:rPr sz="2500" spc="-95" dirty="0">
                <a:latin typeface="Cambria"/>
                <a:cs typeface="Cambria"/>
              </a:rPr>
              <a:t>provide</a:t>
            </a:r>
            <a:r>
              <a:rPr sz="2500" dirty="0">
                <a:latin typeface="Cambria"/>
                <a:cs typeface="Cambria"/>
              </a:rPr>
              <a:t> a</a:t>
            </a:r>
            <a:r>
              <a:rPr sz="2500" spc="-10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single 	</a:t>
            </a:r>
            <a:r>
              <a:rPr sz="2500" spc="-80" dirty="0">
                <a:latin typeface="Cambria"/>
                <a:cs typeface="Cambria"/>
              </a:rPr>
              <a:t>trajectory,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failing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75" dirty="0">
                <a:latin typeface="Cambria"/>
                <a:cs typeface="Cambria"/>
              </a:rPr>
              <a:t>to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spc="-40" dirty="0">
                <a:latin typeface="Cambria"/>
                <a:cs typeface="Cambria"/>
              </a:rPr>
              <a:t>account </a:t>
            </a:r>
            <a:r>
              <a:rPr sz="2500" dirty="0">
                <a:latin typeface="Cambria"/>
                <a:cs typeface="Cambria"/>
              </a:rPr>
              <a:t>for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spc="-110" dirty="0">
                <a:latin typeface="Cambria"/>
                <a:cs typeface="Cambria"/>
              </a:rPr>
              <a:t>real-</a:t>
            </a:r>
            <a:r>
              <a:rPr sz="2500" spc="-10" dirty="0">
                <a:latin typeface="Cambria"/>
                <a:cs typeface="Cambria"/>
              </a:rPr>
              <a:t>world 	</a:t>
            </a:r>
            <a:r>
              <a:rPr sz="2500" spc="-60" dirty="0">
                <a:latin typeface="Cambria"/>
                <a:cs typeface="Cambria"/>
              </a:rPr>
              <a:t>environmental</a:t>
            </a:r>
            <a:r>
              <a:rPr sz="2500" spc="125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uncertainties</a:t>
            </a:r>
            <a:r>
              <a:rPr sz="2500" spc="5" dirty="0">
                <a:latin typeface="Cambria"/>
                <a:cs typeface="Cambria"/>
              </a:rPr>
              <a:t> </a:t>
            </a:r>
            <a:r>
              <a:rPr sz="2500" spc="-30" dirty="0">
                <a:latin typeface="Cambria"/>
                <a:cs typeface="Cambria"/>
              </a:rPr>
              <a:t>like</a:t>
            </a:r>
            <a:r>
              <a:rPr sz="2500" spc="-100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fluctuations</a:t>
            </a:r>
            <a:r>
              <a:rPr sz="2500" spc="2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in 	</a:t>
            </a:r>
            <a:r>
              <a:rPr sz="2500" spc="-85" dirty="0">
                <a:latin typeface="Cambria"/>
                <a:cs typeface="Cambria"/>
              </a:rPr>
              <a:t>temperature</a:t>
            </a:r>
            <a:r>
              <a:rPr sz="2500" spc="65" dirty="0">
                <a:latin typeface="Cambria"/>
                <a:cs typeface="Cambria"/>
              </a:rPr>
              <a:t> </a:t>
            </a:r>
            <a:r>
              <a:rPr sz="2500" spc="-35" dirty="0">
                <a:latin typeface="Cambria"/>
                <a:cs typeface="Cambria"/>
              </a:rPr>
              <a:t>and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pressure.</a:t>
            </a:r>
            <a:endParaRPr sz="2500">
              <a:latin typeface="Cambria"/>
              <a:cs typeface="Cambria"/>
            </a:endParaRPr>
          </a:p>
          <a:p>
            <a:pPr marL="237490" marR="5080" indent="-221615">
              <a:lnSpc>
                <a:spcPct val="87400"/>
              </a:lnSpc>
              <a:spcBef>
                <a:spcPts val="1985"/>
              </a:spcBef>
              <a:buChar char="•"/>
              <a:tabLst>
                <a:tab pos="237490" algn="l"/>
                <a:tab pos="239395" algn="l"/>
              </a:tabLst>
            </a:pP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45" dirty="0">
                <a:latin typeface="Times New Roman"/>
                <a:cs typeface="Times New Roman"/>
              </a:rPr>
              <a:t>This</a:t>
            </a:r>
            <a:r>
              <a:rPr sz="2750" spc="-25" dirty="0">
                <a:latin typeface="Times New Roman"/>
                <a:cs typeface="Times New Roman"/>
              </a:rPr>
              <a:t> </a:t>
            </a:r>
            <a:r>
              <a:rPr sz="2750" spc="-105" dirty="0">
                <a:latin typeface="Times New Roman"/>
                <a:cs typeface="Times New Roman"/>
              </a:rPr>
              <a:t>study's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spc="-75" dirty="0">
                <a:latin typeface="Times New Roman"/>
                <a:cs typeface="Times New Roman"/>
              </a:rPr>
              <a:t>primary</a:t>
            </a:r>
            <a:r>
              <a:rPr sz="2750" spc="-100" dirty="0">
                <a:latin typeface="Times New Roman"/>
                <a:cs typeface="Times New Roman"/>
              </a:rPr>
              <a:t> </a:t>
            </a:r>
            <a:r>
              <a:rPr sz="2750" spc="-195" dirty="0">
                <a:latin typeface="Times New Roman"/>
                <a:cs typeface="Times New Roman"/>
              </a:rPr>
              <a:t>Objective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spc="-114" dirty="0">
                <a:latin typeface="Times New Roman"/>
                <a:cs typeface="Times New Roman"/>
              </a:rPr>
              <a:t>is</a:t>
            </a:r>
            <a:r>
              <a:rPr sz="2750" spc="-170" dirty="0">
                <a:latin typeface="Times New Roman"/>
                <a:cs typeface="Times New Roman"/>
              </a:rPr>
              <a:t> </a:t>
            </a:r>
            <a:r>
              <a:rPr sz="2750" spc="-105" dirty="0">
                <a:latin typeface="Times New Roman"/>
                <a:cs typeface="Times New Roman"/>
              </a:rPr>
              <a:t>to</a:t>
            </a:r>
            <a:r>
              <a:rPr sz="2750" spc="-125" dirty="0">
                <a:latin typeface="Times New Roman"/>
                <a:cs typeface="Times New Roman"/>
              </a:rPr>
              <a:t> </a:t>
            </a:r>
            <a:r>
              <a:rPr sz="2750" spc="-80" dirty="0">
                <a:latin typeface="Times New Roman"/>
                <a:cs typeface="Times New Roman"/>
              </a:rPr>
              <a:t>conduct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high- </a:t>
            </a:r>
            <a:r>
              <a:rPr sz="2750" spc="-125" dirty="0">
                <a:latin typeface="Times New Roman"/>
                <a:cs typeface="Times New Roman"/>
              </a:rPr>
              <a:t>fidelity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-105" dirty="0">
                <a:latin typeface="Times New Roman"/>
                <a:cs typeface="Times New Roman"/>
              </a:rPr>
              <a:t>flight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spc="-70" dirty="0">
                <a:latin typeface="Times New Roman"/>
                <a:cs typeface="Times New Roman"/>
              </a:rPr>
              <a:t>simulation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Times New Roman"/>
                <a:cs typeface="Times New Roman"/>
              </a:rPr>
              <a:t>under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spc="-85" dirty="0">
                <a:latin typeface="Times New Roman"/>
                <a:cs typeface="Times New Roman"/>
              </a:rPr>
              <a:t>stochastic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atmospheric </a:t>
            </a:r>
            <a:r>
              <a:rPr sz="2750" spc="-75" dirty="0">
                <a:latin typeface="Times New Roman"/>
                <a:cs typeface="Times New Roman"/>
              </a:rPr>
              <a:t>conditions</a:t>
            </a:r>
            <a:r>
              <a:rPr sz="2750" spc="-85" dirty="0">
                <a:latin typeface="Times New Roman"/>
                <a:cs typeface="Times New Roman"/>
              </a:rPr>
              <a:t> </a:t>
            </a:r>
            <a:r>
              <a:rPr sz="2750" spc="-105" dirty="0">
                <a:latin typeface="Times New Roman"/>
                <a:cs typeface="Times New Roman"/>
              </a:rPr>
              <a:t>to</a:t>
            </a:r>
            <a:r>
              <a:rPr sz="2750" spc="-120" dirty="0">
                <a:latin typeface="Times New Roman"/>
                <a:cs typeface="Times New Roman"/>
              </a:rPr>
              <a:t> </a:t>
            </a:r>
            <a:r>
              <a:rPr sz="2750" spc="-95" dirty="0">
                <a:latin typeface="Times New Roman"/>
                <a:cs typeface="Times New Roman"/>
              </a:rPr>
              <a:t>quantify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-40" dirty="0">
                <a:latin typeface="Times New Roman"/>
                <a:cs typeface="Times New Roman"/>
              </a:rPr>
              <a:t>the</a:t>
            </a:r>
            <a:r>
              <a:rPr sz="2750" spc="-95" dirty="0">
                <a:latin typeface="Times New Roman"/>
                <a:cs typeface="Times New Roman"/>
              </a:rPr>
              <a:t> </a:t>
            </a:r>
            <a:r>
              <a:rPr sz="2750" spc="-105" dirty="0">
                <a:latin typeface="Times New Roman"/>
                <a:cs typeface="Times New Roman"/>
              </a:rPr>
              <a:t>impact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spc="-170" dirty="0">
                <a:latin typeface="Times New Roman"/>
                <a:cs typeface="Times New Roman"/>
              </a:rPr>
              <a:t>of</a:t>
            </a:r>
            <a:r>
              <a:rPr sz="2750" spc="-1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this</a:t>
            </a:r>
            <a:r>
              <a:rPr sz="2750" spc="685" dirty="0">
                <a:latin typeface="Times New Roman"/>
                <a:cs typeface="Times New Roman"/>
              </a:rPr>
              <a:t> </a:t>
            </a:r>
            <a:r>
              <a:rPr sz="2750" spc="-80" dirty="0">
                <a:latin typeface="Times New Roman"/>
                <a:cs typeface="Times New Roman"/>
              </a:rPr>
              <a:t>thermodynamic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100" dirty="0">
                <a:latin typeface="Times New Roman"/>
                <a:cs typeface="Times New Roman"/>
              </a:rPr>
              <a:t>variability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spc="-95" dirty="0">
                <a:latin typeface="Times New Roman"/>
                <a:cs typeface="Times New Roman"/>
              </a:rPr>
              <a:t>on</a:t>
            </a:r>
            <a:r>
              <a:rPr sz="2750" spc="-80" dirty="0">
                <a:latin typeface="Times New Roman"/>
                <a:cs typeface="Times New Roman"/>
              </a:rPr>
              <a:t> </a:t>
            </a:r>
            <a:r>
              <a:rPr sz="2750" spc="-75" dirty="0">
                <a:latin typeface="Times New Roman"/>
                <a:cs typeface="Times New Roman"/>
              </a:rPr>
              <a:t>operational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performance.</a:t>
            </a:r>
            <a:endParaRPr sz="2750">
              <a:latin typeface="Times New Roman"/>
              <a:cs typeface="Times New Roman"/>
            </a:endParaRPr>
          </a:p>
          <a:p>
            <a:pPr marL="243840" marR="496570" indent="-231775">
              <a:lnSpc>
                <a:spcPts val="2900"/>
              </a:lnSpc>
              <a:spcBef>
                <a:spcPts val="1980"/>
              </a:spcBef>
              <a:buChar char="•"/>
              <a:tabLst>
                <a:tab pos="243840" algn="l"/>
              </a:tabLst>
            </a:pPr>
            <a:r>
              <a:rPr sz="2500" spc="-90" dirty="0">
                <a:latin typeface="Cambria"/>
                <a:cs typeface="Cambria"/>
              </a:rPr>
              <a:t>By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employing</a:t>
            </a:r>
            <a:r>
              <a:rPr sz="2500" spc="-2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</a:t>
            </a:r>
            <a:r>
              <a:rPr sz="2500" spc="-135" dirty="0">
                <a:latin typeface="Cambria"/>
                <a:cs typeface="Cambria"/>
              </a:rPr>
              <a:t> </a:t>
            </a:r>
            <a:r>
              <a:rPr sz="2500" spc="-65" dirty="0">
                <a:latin typeface="Cambria"/>
                <a:cs typeface="Cambria"/>
              </a:rPr>
              <a:t>Monte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spc="-30" dirty="0">
                <a:latin typeface="Cambria"/>
                <a:cs typeface="Cambria"/>
              </a:rPr>
              <a:t>Carlo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spc="-30" dirty="0">
                <a:latin typeface="Cambria"/>
                <a:cs typeface="Cambria"/>
              </a:rPr>
              <a:t>approach,</a:t>
            </a:r>
            <a:r>
              <a:rPr sz="2500" spc="20" dirty="0">
                <a:latin typeface="Cambria"/>
                <a:cs typeface="Cambria"/>
              </a:rPr>
              <a:t> </a:t>
            </a:r>
            <a:r>
              <a:rPr sz="2500" spc="-100" dirty="0">
                <a:latin typeface="Cambria"/>
                <a:cs typeface="Cambria"/>
              </a:rPr>
              <a:t>we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can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move </a:t>
            </a:r>
            <a:r>
              <a:rPr sz="2500" spc="-65" dirty="0">
                <a:latin typeface="Cambria"/>
                <a:cs typeface="Cambria"/>
              </a:rPr>
              <a:t>beyond</a:t>
            </a:r>
            <a:r>
              <a:rPr sz="2500" spc="-3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</a:t>
            </a:r>
            <a:r>
              <a:rPr sz="2500" spc="-120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simple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point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estimate</a:t>
            </a:r>
            <a:r>
              <a:rPr sz="2500" spc="3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to:</a:t>
            </a:r>
            <a:endParaRPr sz="2500">
              <a:latin typeface="Cambria"/>
              <a:cs typeface="Cambria"/>
            </a:endParaRPr>
          </a:p>
          <a:p>
            <a:pPr marL="575310" lvl="1" indent="-351155">
              <a:lnSpc>
                <a:spcPts val="3055"/>
              </a:lnSpc>
              <a:spcBef>
                <a:spcPts val="370"/>
              </a:spcBef>
              <a:buChar char="—"/>
              <a:tabLst>
                <a:tab pos="575310" algn="l"/>
              </a:tabLst>
            </a:pPr>
            <a:r>
              <a:rPr sz="2550" spc="-25" dirty="0">
                <a:latin typeface="Cambria"/>
                <a:cs typeface="Cambria"/>
              </a:rPr>
              <a:t>Define</a:t>
            </a:r>
            <a:r>
              <a:rPr sz="2550" spc="-12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</a:t>
            </a:r>
            <a:r>
              <a:rPr sz="2550" spc="-140" dirty="0">
                <a:latin typeface="Cambria"/>
                <a:cs typeface="Cambria"/>
              </a:rPr>
              <a:t> </a:t>
            </a:r>
            <a:r>
              <a:rPr sz="2550" spc="-75" dirty="0">
                <a:latin typeface="Cambria"/>
                <a:cs typeface="Cambria"/>
              </a:rPr>
              <a:t>statistically</a:t>
            </a:r>
            <a:r>
              <a:rPr sz="2550" spc="45" dirty="0">
                <a:latin typeface="Cambria"/>
                <a:cs typeface="Cambria"/>
              </a:rPr>
              <a:t> </a:t>
            </a:r>
            <a:r>
              <a:rPr sz="2550" spc="-120" dirty="0">
                <a:latin typeface="Cambria"/>
                <a:cs typeface="Cambria"/>
              </a:rPr>
              <a:t>robust</a:t>
            </a:r>
            <a:r>
              <a:rPr sz="2550" spc="-25" dirty="0">
                <a:latin typeface="Cambria"/>
                <a:cs typeface="Cambria"/>
              </a:rPr>
              <a:t> </a:t>
            </a:r>
            <a:r>
              <a:rPr sz="2550" spc="-20" dirty="0">
                <a:latin typeface="Cambria"/>
                <a:cs typeface="Cambria"/>
              </a:rPr>
              <a:t>‘Impact</a:t>
            </a:r>
            <a:r>
              <a:rPr sz="2550" spc="-9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Dispersion</a:t>
            </a:r>
            <a:endParaRPr sz="2550">
              <a:latin typeface="Cambria"/>
              <a:cs typeface="Cambria"/>
            </a:endParaRPr>
          </a:p>
          <a:p>
            <a:pPr marL="580390">
              <a:lnSpc>
                <a:spcPts val="2875"/>
              </a:lnSpc>
            </a:pPr>
            <a:r>
              <a:rPr sz="2400" spc="-10" dirty="0">
                <a:latin typeface="Cambria"/>
                <a:cs typeface="Cambria"/>
              </a:rPr>
              <a:t>Zone.’</a:t>
            </a:r>
            <a:endParaRPr sz="2400">
              <a:latin typeface="Cambria"/>
              <a:cs typeface="Cambria"/>
            </a:endParaRPr>
          </a:p>
          <a:p>
            <a:pPr marL="587375" lvl="1" indent="-363220">
              <a:lnSpc>
                <a:spcPct val="100000"/>
              </a:lnSpc>
              <a:spcBef>
                <a:spcPts val="420"/>
              </a:spcBef>
              <a:buClr>
                <a:srgbClr val="1C1C1C"/>
              </a:buClr>
              <a:buChar char="—"/>
              <a:tabLst>
                <a:tab pos="587375" algn="l"/>
              </a:tabLst>
            </a:pPr>
            <a:r>
              <a:rPr sz="2600" spc="-85" dirty="0">
                <a:latin typeface="Cambria"/>
                <a:cs typeface="Cambria"/>
              </a:rPr>
              <a:t>Quantify</a:t>
            </a:r>
            <a:r>
              <a:rPr sz="2600" spc="-5" dirty="0">
                <a:latin typeface="Cambria"/>
                <a:cs typeface="Cambria"/>
              </a:rPr>
              <a:t> </a:t>
            </a:r>
            <a:r>
              <a:rPr sz="2600" spc="-114" dirty="0">
                <a:latin typeface="Cambria"/>
                <a:cs typeface="Cambria"/>
              </a:rPr>
              <a:t>the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‘Probability</a:t>
            </a:r>
            <a:r>
              <a:rPr sz="2600" spc="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-229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Mission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Success.’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5829" y="5167488"/>
            <a:ext cx="1697989" cy="7156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15265" marR="5080" indent="-203200">
              <a:lnSpc>
                <a:spcPts val="2600"/>
              </a:lnSpc>
              <a:spcBef>
                <a:spcPts val="380"/>
              </a:spcBef>
            </a:pPr>
            <a:r>
              <a:rPr sz="2350" spc="-50" dirty="0">
                <a:latin typeface="Cambria"/>
                <a:cs typeface="Cambria"/>
              </a:rPr>
              <a:t>Deterministic </a:t>
            </a:r>
            <a:r>
              <a:rPr sz="2350" spc="-10" dirty="0">
                <a:latin typeface="Cambria"/>
                <a:cs typeface="Cambria"/>
              </a:rPr>
              <a:t>Prediction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25841" y="7092950"/>
            <a:ext cx="1567815" cy="736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0" marR="5080" indent="-114300">
              <a:lnSpc>
                <a:spcPts val="2600"/>
              </a:lnSpc>
              <a:spcBef>
                <a:spcPts val="520"/>
              </a:spcBef>
            </a:pPr>
            <a:r>
              <a:rPr sz="2500" spc="-120" dirty="0">
                <a:latin typeface="Cambria"/>
                <a:cs typeface="Cambria"/>
              </a:rPr>
              <a:t>Probabilistic </a:t>
            </a:r>
            <a:r>
              <a:rPr sz="2500" spc="-25" dirty="0">
                <a:latin typeface="Cambria"/>
                <a:cs typeface="Cambria"/>
              </a:rPr>
              <a:t>Landscape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1200" y="6997700"/>
            <a:ext cx="8432800" cy="2286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4900" y="6286500"/>
            <a:ext cx="850900" cy="850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6543" y="930627"/>
            <a:ext cx="1544383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492615" algn="l"/>
              </a:tabLst>
            </a:pPr>
            <a:r>
              <a:rPr sz="4700" spc="50" dirty="0">
                <a:solidFill>
                  <a:srgbClr val="032142"/>
                </a:solidFill>
              </a:rPr>
              <a:t>The</a:t>
            </a:r>
            <a:r>
              <a:rPr sz="4700" spc="-245" dirty="0">
                <a:solidFill>
                  <a:srgbClr val="032142"/>
                </a:solidFill>
              </a:rPr>
              <a:t> </a:t>
            </a:r>
            <a:r>
              <a:rPr sz="4700" spc="135" dirty="0">
                <a:solidFill>
                  <a:srgbClr val="012654"/>
                </a:solidFill>
              </a:rPr>
              <a:t>Mathematical</a:t>
            </a:r>
            <a:r>
              <a:rPr sz="4700" spc="-5" dirty="0">
                <a:solidFill>
                  <a:srgbClr val="012654"/>
                </a:solidFill>
              </a:rPr>
              <a:t> </a:t>
            </a:r>
            <a:r>
              <a:rPr sz="4700" spc="80" dirty="0">
                <a:solidFill>
                  <a:srgbClr val="05244B"/>
                </a:solidFill>
              </a:rPr>
              <a:t>Framework:</a:t>
            </a:r>
            <a:r>
              <a:rPr sz="4700" dirty="0">
                <a:solidFill>
                  <a:srgbClr val="05244B"/>
                </a:solidFill>
              </a:rPr>
              <a:t>	</a:t>
            </a:r>
            <a:r>
              <a:rPr sz="4700" spc="80" dirty="0">
                <a:solidFill>
                  <a:srgbClr val="082B52"/>
                </a:solidFill>
              </a:rPr>
              <a:t>Point</a:t>
            </a:r>
            <a:r>
              <a:rPr sz="4700" spc="-65" dirty="0">
                <a:solidFill>
                  <a:srgbClr val="082B52"/>
                </a:solidFill>
              </a:rPr>
              <a:t> </a:t>
            </a:r>
            <a:r>
              <a:rPr sz="4700" spc="110" dirty="0">
                <a:solidFill>
                  <a:srgbClr val="00264D"/>
                </a:solidFill>
              </a:rPr>
              <a:t>Mass</a:t>
            </a:r>
            <a:r>
              <a:rPr sz="4700" spc="-245" dirty="0">
                <a:solidFill>
                  <a:srgbClr val="00264D"/>
                </a:solidFill>
              </a:rPr>
              <a:t> </a:t>
            </a:r>
            <a:r>
              <a:rPr sz="4700" spc="90" dirty="0">
                <a:solidFill>
                  <a:srgbClr val="05264B"/>
                </a:solidFill>
              </a:rPr>
              <a:t>Dynamics</a:t>
            </a:r>
            <a:endParaRPr sz="4700"/>
          </a:p>
        </p:txBody>
      </p:sp>
      <p:sp>
        <p:nvSpPr>
          <p:cNvPr id="5" name="object 5"/>
          <p:cNvSpPr txBox="1"/>
          <p:nvPr/>
        </p:nvSpPr>
        <p:spPr>
          <a:xfrm>
            <a:off x="1286794" y="2248958"/>
            <a:ext cx="14993619" cy="4675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9885" indent="-335915">
              <a:lnSpc>
                <a:spcPts val="4155"/>
              </a:lnSpc>
              <a:spcBef>
                <a:spcPts val="90"/>
              </a:spcBef>
              <a:buChar char="•"/>
              <a:tabLst>
                <a:tab pos="349885" algn="l"/>
              </a:tabLst>
            </a:pPr>
            <a:r>
              <a:rPr sz="3550" dirty="0">
                <a:latin typeface="Cambria"/>
                <a:cs typeface="Cambria"/>
              </a:rPr>
              <a:t>The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45" dirty="0">
                <a:latin typeface="Cambria"/>
                <a:cs typeface="Cambria"/>
              </a:rPr>
              <a:t>simulation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is</a:t>
            </a:r>
            <a:r>
              <a:rPr sz="3550" spc="-195" dirty="0">
                <a:latin typeface="Cambria"/>
                <a:cs typeface="Cambria"/>
              </a:rPr>
              <a:t> </a:t>
            </a:r>
            <a:r>
              <a:rPr sz="3550" spc="-40" dirty="0">
                <a:latin typeface="Cambria"/>
                <a:cs typeface="Cambria"/>
              </a:rPr>
              <a:t>built</a:t>
            </a:r>
            <a:r>
              <a:rPr sz="3550" spc="-14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upon</a:t>
            </a:r>
            <a:r>
              <a:rPr sz="3550" spc="-114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the</a:t>
            </a:r>
            <a:r>
              <a:rPr sz="3550" spc="-155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numerical</a:t>
            </a:r>
            <a:r>
              <a:rPr sz="3550" spc="-100" dirty="0">
                <a:latin typeface="Cambria"/>
                <a:cs typeface="Cambria"/>
              </a:rPr>
              <a:t> </a:t>
            </a:r>
            <a:r>
              <a:rPr sz="3550" spc="-60" dirty="0">
                <a:latin typeface="Cambria"/>
                <a:cs typeface="Cambria"/>
              </a:rPr>
              <a:t>integration</a:t>
            </a:r>
            <a:r>
              <a:rPr sz="3550" spc="-1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of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the</a:t>
            </a:r>
            <a:r>
              <a:rPr sz="3550" spc="-175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equations</a:t>
            </a:r>
            <a:r>
              <a:rPr sz="3550" spc="-185" dirty="0">
                <a:latin typeface="Cambria"/>
                <a:cs typeface="Cambria"/>
              </a:rPr>
              <a:t> </a:t>
            </a:r>
            <a:r>
              <a:rPr sz="3550" spc="85" dirty="0">
                <a:latin typeface="Cambria"/>
                <a:cs typeface="Cambria"/>
              </a:rPr>
              <a:t>of</a:t>
            </a:r>
            <a:endParaRPr sz="3550">
              <a:latin typeface="Cambria"/>
              <a:cs typeface="Cambria"/>
            </a:endParaRPr>
          </a:p>
          <a:p>
            <a:pPr marL="345440">
              <a:lnSpc>
                <a:spcPts val="4079"/>
              </a:lnSpc>
            </a:pPr>
            <a:r>
              <a:rPr sz="3600" dirty="0">
                <a:latin typeface="Cambria"/>
                <a:cs typeface="Cambria"/>
              </a:rPr>
              <a:t>motion</a:t>
            </a:r>
            <a:r>
              <a:rPr sz="3600" spc="-14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in</a:t>
            </a:r>
            <a:r>
              <a:rPr sz="3600" spc="-195" dirty="0">
                <a:latin typeface="Cambria"/>
                <a:cs typeface="Cambria"/>
              </a:rPr>
              <a:t> </a:t>
            </a:r>
            <a:r>
              <a:rPr sz="3600" spc="-130" dirty="0">
                <a:latin typeface="Cambria"/>
                <a:cs typeface="Cambria"/>
              </a:rPr>
              <a:t>two</a:t>
            </a:r>
            <a:r>
              <a:rPr sz="3600" spc="-6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dimensions.</a:t>
            </a:r>
            <a:endParaRPr sz="3600">
              <a:latin typeface="Cambria"/>
              <a:cs typeface="Cambria"/>
            </a:endParaRPr>
          </a:p>
          <a:p>
            <a:pPr marL="347980" indent="-335280">
              <a:lnSpc>
                <a:spcPts val="4105"/>
              </a:lnSpc>
              <a:buChar char="•"/>
              <a:tabLst>
                <a:tab pos="347980" algn="l"/>
              </a:tabLst>
            </a:pPr>
            <a:r>
              <a:rPr sz="3650" spc="-100" dirty="0">
                <a:latin typeface="Cambria"/>
                <a:cs typeface="Cambria"/>
              </a:rPr>
              <a:t>The </a:t>
            </a:r>
            <a:r>
              <a:rPr sz="3650" spc="-90" dirty="0">
                <a:latin typeface="Cambria"/>
                <a:cs typeface="Cambria"/>
              </a:rPr>
              <a:t>core</a:t>
            </a:r>
            <a:r>
              <a:rPr sz="3650" spc="-110" dirty="0">
                <a:latin typeface="Cambria"/>
                <a:cs typeface="Cambria"/>
              </a:rPr>
              <a:t> </a:t>
            </a:r>
            <a:r>
              <a:rPr sz="3650" spc="-100" dirty="0">
                <a:latin typeface="Cambria"/>
                <a:cs typeface="Cambria"/>
              </a:rPr>
              <a:t>model </a:t>
            </a:r>
            <a:r>
              <a:rPr sz="3650" spc="-145" dirty="0">
                <a:latin typeface="Cambria"/>
                <a:cs typeface="Cambria"/>
              </a:rPr>
              <a:t>treats</a:t>
            </a:r>
            <a:r>
              <a:rPr sz="3650" spc="-55" dirty="0">
                <a:latin typeface="Cambria"/>
                <a:cs typeface="Cambria"/>
              </a:rPr>
              <a:t> </a:t>
            </a:r>
            <a:r>
              <a:rPr sz="3650" spc="-90" dirty="0">
                <a:latin typeface="Cambria"/>
                <a:cs typeface="Cambria"/>
              </a:rPr>
              <a:t>the</a:t>
            </a:r>
            <a:r>
              <a:rPr sz="3650" spc="-110" dirty="0">
                <a:latin typeface="Cambria"/>
                <a:cs typeface="Cambria"/>
              </a:rPr>
              <a:t> </a:t>
            </a:r>
            <a:r>
              <a:rPr sz="3650" spc="-120" dirty="0">
                <a:latin typeface="Cambria"/>
                <a:cs typeface="Cambria"/>
              </a:rPr>
              <a:t>rocket</a:t>
            </a:r>
            <a:r>
              <a:rPr sz="3650" spc="-80" dirty="0">
                <a:latin typeface="Cambria"/>
                <a:cs typeface="Cambria"/>
              </a:rPr>
              <a:t> </a:t>
            </a:r>
            <a:r>
              <a:rPr sz="3650" dirty="0">
                <a:latin typeface="Cambria"/>
                <a:cs typeface="Cambria"/>
              </a:rPr>
              <a:t>as</a:t>
            </a:r>
            <a:r>
              <a:rPr sz="3650" spc="-200" dirty="0">
                <a:latin typeface="Cambria"/>
                <a:cs typeface="Cambria"/>
              </a:rPr>
              <a:t> </a:t>
            </a:r>
            <a:r>
              <a:rPr sz="3650" spc="-95" dirty="0">
                <a:latin typeface="Cambria"/>
                <a:cs typeface="Cambria"/>
              </a:rPr>
              <a:t>a</a:t>
            </a:r>
            <a:r>
              <a:rPr sz="3650" spc="-204" dirty="0">
                <a:latin typeface="Cambria"/>
                <a:cs typeface="Cambria"/>
              </a:rPr>
              <a:t> </a:t>
            </a:r>
            <a:r>
              <a:rPr sz="3650" spc="-75" dirty="0">
                <a:latin typeface="Cambria"/>
                <a:cs typeface="Cambria"/>
              </a:rPr>
              <a:t>variable-</a:t>
            </a:r>
            <a:r>
              <a:rPr sz="3650" spc="-10" dirty="0">
                <a:latin typeface="Cambria"/>
                <a:cs typeface="Cambria"/>
              </a:rPr>
              <a:t>mass</a:t>
            </a:r>
            <a:r>
              <a:rPr sz="3650" spc="-190" dirty="0">
                <a:latin typeface="Cambria"/>
                <a:cs typeface="Cambria"/>
              </a:rPr>
              <a:t> </a:t>
            </a:r>
            <a:r>
              <a:rPr sz="3650" spc="-45" dirty="0">
                <a:latin typeface="Cambria"/>
                <a:cs typeface="Cambria"/>
              </a:rPr>
              <a:t>system,</a:t>
            </a:r>
            <a:r>
              <a:rPr sz="3650" spc="55" dirty="0">
                <a:latin typeface="Cambria"/>
                <a:cs typeface="Cambria"/>
              </a:rPr>
              <a:t> </a:t>
            </a:r>
            <a:r>
              <a:rPr sz="3650" spc="-80" dirty="0">
                <a:latin typeface="Cambria"/>
                <a:cs typeface="Cambria"/>
              </a:rPr>
              <a:t>accounting</a:t>
            </a:r>
            <a:r>
              <a:rPr sz="3650" spc="30" dirty="0">
                <a:latin typeface="Cambria"/>
                <a:cs typeface="Cambria"/>
              </a:rPr>
              <a:t> </a:t>
            </a:r>
            <a:r>
              <a:rPr sz="3650" spc="-25" dirty="0">
                <a:latin typeface="Cambria"/>
                <a:cs typeface="Cambria"/>
              </a:rPr>
              <a:t>for</a:t>
            </a:r>
            <a:endParaRPr sz="3650">
              <a:latin typeface="Cambria"/>
              <a:cs typeface="Cambria"/>
            </a:endParaRPr>
          </a:p>
          <a:p>
            <a:pPr marL="347980">
              <a:lnSpc>
                <a:spcPts val="4040"/>
              </a:lnSpc>
            </a:pPr>
            <a:r>
              <a:rPr sz="3550" spc="-70" dirty="0">
                <a:latin typeface="Cambria"/>
                <a:cs typeface="Cambria"/>
              </a:rPr>
              <a:t>propellant</a:t>
            </a:r>
            <a:r>
              <a:rPr sz="3550" spc="10" dirty="0">
                <a:latin typeface="Cambria"/>
                <a:cs typeface="Cambria"/>
              </a:rPr>
              <a:t> </a:t>
            </a:r>
            <a:r>
              <a:rPr sz="3550" spc="-65" dirty="0">
                <a:latin typeface="Cambria"/>
                <a:cs typeface="Cambria"/>
              </a:rPr>
              <a:t>consumption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during</a:t>
            </a:r>
            <a:r>
              <a:rPr sz="3550" spc="-12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the</a:t>
            </a:r>
            <a:r>
              <a:rPr sz="3550" spc="-170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burn</a:t>
            </a:r>
            <a:r>
              <a:rPr sz="3550" spc="-130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phase.</a:t>
            </a:r>
            <a:endParaRPr sz="3550">
              <a:latin typeface="Cambria"/>
              <a:cs typeface="Cambria"/>
            </a:endParaRPr>
          </a:p>
          <a:p>
            <a:pPr marL="345440" marR="351155" indent="-332105">
              <a:lnSpc>
                <a:spcPts val="4100"/>
              </a:lnSpc>
              <a:spcBef>
                <a:spcPts val="190"/>
              </a:spcBef>
              <a:buChar char="•"/>
              <a:tabLst>
                <a:tab pos="345440" algn="l"/>
                <a:tab pos="349250" algn="l"/>
                <a:tab pos="9383395" algn="l"/>
              </a:tabLst>
            </a:pPr>
            <a:r>
              <a:rPr sz="3550" dirty="0">
                <a:latin typeface="Cambria"/>
                <a:cs typeface="Cambria"/>
              </a:rPr>
              <a:t>	The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114" dirty="0">
                <a:latin typeface="Cambria"/>
                <a:cs typeface="Cambria"/>
              </a:rPr>
              <a:t>rocket's</a:t>
            </a:r>
            <a:r>
              <a:rPr sz="3550" spc="-80" dirty="0">
                <a:latin typeface="Cambria"/>
                <a:cs typeface="Cambria"/>
              </a:rPr>
              <a:t> </a:t>
            </a:r>
            <a:r>
              <a:rPr sz="3550" spc="-30" dirty="0">
                <a:latin typeface="Cambria"/>
                <a:cs typeface="Cambria"/>
              </a:rPr>
              <a:t>motion</a:t>
            </a:r>
            <a:r>
              <a:rPr sz="3550" spc="-10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is</a:t>
            </a:r>
            <a:r>
              <a:rPr sz="3550" spc="-180" dirty="0">
                <a:latin typeface="Cambria"/>
                <a:cs typeface="Cambria"/>
              </a:rPr>
              <a:t> </a:t>
            </a:r>
            <a:r>
              <a:rPr sz="3550" spc="-75" dirty="0">
                <a:latin typeface="Cambria"/>
                <a:cs typeface="Cambria"/>
              </a:rPr>
              <a:t>governed</a:t>
            </a:r>
            <a:r>
              <a:rPr sz="3550" spc="5" dirty="0">
                <a:latin typeface="Cambria"/>
                <a:cs typeface="Cambria"/>
              </a:rPr>
              <a:t> </a:t>
            </a:r>
            <a:r>
              <a:rPr sz="3550" spc="-75" dirty="0">
                <a:latin typeface="Cambria"/>
                <a:cs typeface="Cambria"/>
              </a:rPr>
              <a:t>by</a:t>
            </a:r>
            <a:r>
              <a:rPr sz="3550" spc="-125" dirty="0">
                <a:latin typeface="Cambria"/>
                <a:cs typeface="Cambria"/>
              </a:rPr>
              <a:t> </a:t>
            </a:r>
            <a:r>
              <a:rPr sz="3550" spc="-95" dirty="0">
                <a:latin typeface="Cambria"/>
                <a:cs typeface="Cambria"/>
              </a:rPr>
              <a:t>Newton's</a:t>
            </a:r>
            <a:r>
              <a:rPr sz="3550" spc="-10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Second</a:t>
            </a:r>
            <a:r>
              <a:rPr sz="3550" spc="-195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Law</a:t>
            </a:r>
            <a:r>
              <a:rPr sz="3550" spc="-175" dirty="0">
                <a:latin typeface="Cambria"/>
                <a:cs typeface="Cambria"/>
              </a:rPr>
              <a:t> </a:t>
            </a:r>
            <a:r>
              <a:rPr sz="3550" spc="-40" dirty="0">
                <a:latin typeface="Cambria"/>
                <a:cs typeface="Cambria"/>
              </a:rPr>
              <a:t>(F=ma),</a:t>
            </a:r>
            <a:r>
              <a:rPr sz="3550" spc="80" dirty="0">
                <a:latin typeface="Cambria"/>
                <a:cs typeface="Cambria"/>
              </a:rPr>
              <a:t> </a:t>
            </a:r>
            <a:r>
              <a:rPr sz="3550" spc="-60" dirty="0">
                <a:latin typeface="Cambria"/>
                <a:cs typeface="Cambria"/>
              </a:rPr>
              <a:t>where</a:t>
            </a:r>
            <a:r>
              <a:rPr sz="3550" spc="-15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the </a:t>
            </a:r>
            <a:r>
              <a:rPr sz="3550" dirty="0">
                <a:latin typeface="Cambria"/>
                <a:cs typeface="Cambria"/>
              </a:rPr>
              <a:t>net</a:t>
            </a:r>
            <a:r>
              <a:rPr sz="3550" spc="-135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force</a:t>
            </a:r>
            <a:r>
              <a:rPr sz="3550" spc="1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is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a</a:t>
            </a:r>
            <a:r>
              <a:rPr sz="3550" spc="-195" dirty="0">
                <a:latin typeface="Cambria"/>
                <a:cs typeface="Cambria"/>
              </a:rPr>
              <a:t> </a:t>
            </a:r>
            <a:r>
              <a:rPr sz="3550" spc="-50" dirty="0">
                <a:latin typeface="Cambria"/>
                <a:cs typeface="Cambria"/>
              </a:rPr>
              <a:t>vector</a:t>
            </a:r>
            <a:r>
              <a:rPr sz="3550" spc="-110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sum</a:t>
            </a:r>
            <a:r>
              <a:rPr sz="3550" spc="-11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of</a:t>
            </a:r>
            <a:r>
              <a:rPr sz="3550" spc="-195" dirty="0">
                <a:latin typeface="Cambria"/>
                <a:cs typeface="Cambria"/>
              </a:rPr>
              <a:t> </a:t>
            </a:r>
            <a:r>
              <a:rPr sz="3550" spc="-30" dirty="0">
                <a:latin typeface="Cambria"/>
                <a:cs typeface="Cambria"/>
              </a:rPr>
              <a:t>thrust,</a:t>
            </a:r>
            <a:r>
              <a:rPr sz="3550" spc="100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aerodynamic</a:t>
            </a:r>
            <a:r>
              <a:rPr sz="3550" dirty="0">
                <a:latin typeface="Cambria"/>
                <a:cs typeface="Cambria"/>
              </a:rPr>
              <a:t>	drag,</a:t>
            </a:r>
            <a:r>
              <a:rPr sz="3550" spc="-6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and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gravity.</a:t>
            </a:r>
            <a:endParaRPr sz="3550">
              <a:latin typeface="Cambria"/>
              <a:cs typeface="Cambria"/>
            </a:endParaRPr>
          </a:p>
          <a:p>
            <a:pPr marL="348615" indent="-335280">
              <a:lnSpc>
                <a:spcPts val="3840"/>
              </a:lnSpc>
              <a:buChar char="•"/>
              <a:tabLst>
                <a:tab pos="348615" algn="l"/>
              </a:tabLst>
            </a:pPr>
            <a:r>
              <a:rPr sz="3600" dirty="0">
                <a:latin typeface="Cambria"/>
                <a:cs typeface="Cambria"/>
              </a:rPr>
              <a:t>All</a:t>
            </a:r>
            <a:r>
              <a:rPr sz="3600" spc="-200" dirty="0">
                <a:latin typeface="Cambria"/>
                <a:cs typeface="Cambria"/>
              </a:rPr>
              <a:t> </a:t>
            </a:r>
            <a:r>
              <a:rPr sz="3600" spc="-45" dirty="0">
                <a:latin typeface="Cambria"/>
                <a:cs typeface="Cambria"/>
              </a:rPr>
              <a:t>calculations</a:t>
            </a:r>
            <a:r>
              <a:rPr sz="3600" spc="-100" dirty="0">
                <a:latin typeface="Cambria"/>
                <a:cs typeface="Cambria"/>
              </a:rPr>
              <a:t> </a:t>
            </a:r>
            <a:r>
              <a:rPr sz="3600" spc="-110" dirty="0">
                <a:latin typeface="Cambria"/>
                <a:cs typeface="Cambria"/>
              </a:rPr>
              <a:t>are</a:t>
            </a:r>
            <a:r>
              <a:rPr sz="3600" spc="-85" dirty="0">
                <a:latin typeface="Cambria"/>
                <a:cs typeface="Cambria"/>
              </a:rPr>
              <a:t> </a:t>
            </a:r>
            <a:r>
              <a:rPr sz="3600" spc="-70" dirty="0">
                <a:latin typeface="Cambria"/>
                <a:cs typeface="Cambria"/>
              </a:rPr>
              <a:t>performed</a:t>
            </a:r>
            <a:r>
              <a:rPr sz="3600" spc="-80" dirty="0">
                <a:latin typeface="Cambria"/>
                <a:cs typeface="Cambria"/>
              </a:rPr>
              <a:t> </a:t>
            </a:r>
            <a:r>
              <a:rPr sz="3600" spc="-25" dirty="0">
                <a:latin typeface="Cambria"/>
                <a:cs typeface="Cambria"/>
              </a:rPr>
              <a:t>using</a:t>
            </a:r>
            <a:r>
              <a:rPr sz="3600" spc="-10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a</a:t>
            </a:r>
            <a:r>
              <a:rPr sz="3600" spc="-175" dirty="0">
                <a:latin typeface="Cambria"/>
                <a:cs typeface="Cambria"/>
              </a:rPr>
              <a:t> </a:t>
            </a:r>
            <a:r>
              <a:rPr sz="3600" spc="-125" dirty="0">
                <a:latin typeface="Cambria"/>
                <a:cs typeface="Cambria"/>
              </a:rPr>
              <a:t>time-</a:t>
            </a:r>
            <a:r>
              <a:rPr sz="3600" spc="-55" dirty="0">
                <a:latin typeface="Cambria"/>
                <a:cs typeface="Cambria"/>
              </a:rPr>
              <a:t>step</a:t>
            </a:r>
            <a:r>
              <a:rPr sz="3600" spc="-75" dirty="0">
                <a:latin typeface="Cambria"/>
                <a:cs typeface="Cambria"/>
              </a:rPr>
              <a:t> integration</a:t>
            </a:r>
            <a:r>
              <a:rPr sz="3600" spc="-55" dirty="0">
                <a:latin typeface="Cambria"/>
                <a:cs typeface="Cambria"/>
              </a:rPr>
              <a:t> </a:t>
            </a:r>
            <a:r>
              <a:rPr sz="3600" spc="-70" dirty="0">
                <a:latin typeface="Cambria"/>
                <a:cs typeface="Cambria"/>
              </a:rPr>
              <a:t>method</a:t>
            </a:r>
            <a:r>
              <a:rPr sz="3600" spc="-85" dirty="0">
                <a:latin typeface="Cambria"/>
                <a:cs typeface="Cambria"/>
              </a:rPr>
              <a:t> </a:t>
            </a:r>
            <a:r>
              <a:rPr sz="3600" spc="-70" dirty="0">
                <a:latin typeface="Cambria"/>
                <a:cs typeface="Cambria"/>
              </a:rPr>
              <a:t>with</a:t>
            </a:r>
            <a:r>
              <a:rPr sz="3600" spc="-90" dirty="0">
                <a:latin typeface="Cambria"/>
                <a:cs typeface="Cambria"/>
              </a:rPr>
              <a:t> </a:t>
            </a:r>
            <a:r>
              <a:rPr sz="3600" spc="-50" dirty="0">
                <a:latin typeface="Cambria"/>
                <a:cs typeface="Cambria"/>
              </a:rPr>
              <a:t>a</a:t>
            </a:r>
            <a:endParaRPr sz="3600">
              <a:latin typeface="Cambria"/>
              <a:cs typeface="Cambria"/>
            </a:endParaRPr>
          </a:p>
          <a:p>
            <a:pPr marL="349885">
              <a:lnSpc>
                <a:spcPts val="4210"/>
              </a:lnSpc>
            </a:pPr>
            <a:r>
              <a:rPr sz="3600" spc="-90" dirty="0">
                <a:latin typeface="Cambria"/>
                <a:cs typeface="Cambria"/>
              </a:rPr>
              <a:t>granularity</a:t>
            </a:r>
            <a:r>
              <a:rPr sz="3600" spc="-10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of</a:t>
            </a:r>
            <a:r>
              <a:rPr sz="3600" spc="-20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dt</a:t>
            </a:r>
            <a:r>
              <a:rPr sz="3600" spc="-19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=</a:t>
            </a:r>
            <a:r>
              <a:rPr sz="3600" spc="-305" dirty="0">
                <a:latin typeface="Cambria"/>
                <a:cs typeface="Cambria"/>
              </a:rPr>
              <a:t> </a:t>
            </a:r>
            <a:r>
              <a:rPr sz="3600" spc="-65" dirty="0">
                <a:latin typeface="Cambria"/>
                <a:cs typeface="Cambria"/>
              </a:rPr>
              <a:t>0.01s</a:t>
            </a:r>
            <a:r>
              <a:rPr sz="3600" spc="-125" dirty="0">
                <a:latin typeface="Cambria"/>
                <a:cs typeface="Cambria"/>
              </a:rPr>
              <a:t> </a:t>
            </a:r>
            <a:r>
              <a:rPr sz="3600" spc="-55" dirty="0">
                <a:latin typeface="Cambria"/>
                <a:cs typeface="Cambria"/>
              </a:rPr>
              <a:t>to</a:t>
            </a:r>
            <a:r>
              <a:rPr sz="3600" spc="-145" dirty="0">
                <a:latin typeface="Cambria"/>
                <a:cs typeface="Cambria"/>
              </a:rPr>
              <a:t> </a:t>
            </a:r>
            <a:r>
              <a:rPr sz="3600" spc="-65" dirty="0">
                <a:latin typeface="Cambria"/>
                <a:cs typeface="Cambria"/>
              </a:rPr>
              <a:t>ensure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110" dirty="0">
                <a:latin typeface="Cambria"/>
                <a:cs typeface="Cambria"/>
              </a:rPr>
              <a:t>high-</a:t>
            </a:r>
            <a:r>
              <a:rPr sz="3600" spc="-45" dirty="0">
                <a:latin typeface="Cambria"/>
                <a:cs typeface="Cambria"/>
              </a:rPr>
              <a:t>fidelity</a:t>
            </a:r>
            <a:r>
              <a:rPr sz="3600" spc="11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results.</a:t>
            </a:r>
            <a:endParaRPr sz="3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380"/>
              </a:spcBef>
            </a:pPr>
            <a:r>
              <a:rPr sz="2850" spc="-50" dirty="0">
                <a:latin typeface="Cambria"/>
                <a:cs typeface="Cambria"/>
              </a:rPr>
              <a:t>dt</a:t>
            </a:r>
            <a:r>
              <a:rPr sz="2850" spc="-100" dirty="0">
                <a:latin typeface="Cambria"/>
                <a:cs typeface="Cambria"/>
              </a:rPr>
              <a:t> </a:t>
            </a:r>
            <a:r>
              <a:rPr sz="2850" spc="60" dirty="0">
                <a:solidFill>
                  <a:srgbClr val="0F0F0F"/>
                </a:solidFill>
                <a:latin typeface="Cambria"/>
                <a:cs typeface="Cambria"/>
              </a:rPr>
              <a:t>=</a:t>
            </a:r>
            <a:r>
              <a:rPr sz="2850" spc="-17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0.01s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2368" y="7400572"/>
            <a:ext cx="2292032" cy="4392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59865" algn="l"/>
              </a:tabLst>
            </a:pPr>
            <a:r>
              <a:rPr sz="2750" spc="-20" dirty="0">
                <a:solidFill>
                  <a:srgbClr val="031831"/>
                </a:solidFill>
                <a:latin typeface="Times New Roman"/>
                <a:cs typeface="Times New Roman"/>
              </a:rPr>
              <a:t>Drag</a:t>
            </a:r>
            <a:r>
              <a:rPr sz="2750" dirty="0">
                <a:solidFill>
                  <a:srgbClr val="031831"/>
                </a:solidFill>
                <a:latin typeface="Times New Roman"/>
                <a:cs typeface="Times New Roman"/>
              </a:rPr>
              <a:t>	</a:t>
            </a:r>
            <a:r>
              <a:rPr lang="tr-TR" sz="2750" spc="-20" dirty="0" err="1">
                <a:solidFill>
                  <a:srgbClr val="051631"/>
                </a:solidFill>
                <a:latin typeface="Times New Roman"/>
                <a:cs typeface="Times New Roman"/>
              </a:rPr>
              <a:t>Move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6001" y="8708672"/>
            <a:ext cx="109664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25" dirty="0">
                <a:solidFill>
                  <a:srgbClr val="05182D"/>
                </a:solidFill>
                <a:latin typeface="Cambria"/>
                <a:cs typeface="Cambria"/>
              </a:rPr>
              <a:t>Gravity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2359" y="7313083"/>
            <a:ext cx="100584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105" dirty="0">
                <a:solidFill>
                  <a:srgbClr val="262626"/>
                </a:solidFill>
                <a:latin typeface="Cambria"/>
                <a:cs typeface="Cambria"/>
              </a:rPr>
              <a:t>Thrust</a:t>
            </a:r>
            <a:endParaRPr sz="2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6700" y="7061200"/>
            <a:ext cx="1701800" cy="1092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38400" y="6896100"/>
            <a:ext cx="1422400" cy="1409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07200" y="3543300"/>
            <a:ext cx="139700" cy="38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25700" y="3238500"/>
            <a:ext cx="1460500" cy="15621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78700" y="3784600"/>
            <a:ext cx="215900" cy="1778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213600" y="3517900"/>
            <a:ext cx="1079500" cy="609600"/>
            <a:chOff x="7213600" y="3517900"/>
            <a:chExt cx="1079500" cy="60960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2100" y="3517900"/>
              <a:ext cx="139700" cy="2921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3600" y="3581400"/>
              <a:ext cx="1079500" cy="5461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70444" y="366888"/>
            <a:ext cx="1425638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dirty="0">
                <a:solidFill>
                  <a:srgbClr val="052A54"/>
                </a:solidFill>
              </a:rPr>
              <a:t>Governing</a:t>
            </a:r>
            <a:r>
              <a:rPr sz="4850" spc="-65" dirty="0">
                <a:solidFill>
                  <a:srgbClr val="052A54"/>
                </a:solidFill>
              </a:rPr>
              <a:t> </a:t>
            </a:r>
            <a:r>
              <a:rPr sz="4850" spc="95" dirty="0">
                <a:solidFill>
                  <a:srgbClr val="072856"/>
                </a:solidFill>
              </a:rPr>
              <a:t>Principles:</a:t>
            </a:r>
            <a:r>
              <a:rPr sz="4850" spc="-15" dirty="0">
                <a:solidFill>
                  <a:srgbClr val="072856"/>
                </a:solidFill>
              </a:rPr>
              <a:t> </a:t>
            </a:r>
            <a:r>
              <a:rPr sz="4850" spc="50" dirty="0">
                <a:solidFill>
                  <a:srgbClr val="05264D"/>
                </a:solidFill>
              </a:rPr>
              <a:t>The</a:t>
            </a:r>
            <a:r>
              <a:rPr sz="4850" spc="-275" dirty="0">
                <a:solidFill>
                  <a:srgbClr val="05264D"/>
                </a:solidFill>
              </a:rPr>
              <a:t> </a:t>
            </a:r>
            <a:r>
              <a:rPr sz="4850" spc="80" dirty="0">
                <a:solidFill>
                  <a:srgbClr val="032446"/>
                </a:solidFill>
              </a:rPr>
              <a:t>Laws</a:t>
            </a:r>
            <a:r>
              <a:rPr sz="4850" spc="-185" dirty="0">
                <a:solidFill>
                  <a:srgbClr val="032446"/>
                </a:solidFill>
              </a:rPr>
              <a:t> </a:t>
            </a:r>
            <a:r>
              <a:rPr sz="4850" spc="114" dirty="0">
                <a:solidFill>
                  <a:srgbClr val="012144"/>
                </a:solidFill>
              </a:rPr>
              <a:t>of</a:t>
            </a:r>
            <a:r>
              <a:rPr sz="4850" spc="-80" dirty="0">
                <a:solidFill>
                  <a:srgbClr val="012144"/>
                </a:solidFill>
              </a:rPr>
              <a:t> </a:t>
            </a:r>
            <a:r>
              <a:rPr sz="4850" spc="70" dirty="0">
                <a:solidFill>
                  <a:srgbClr val="082A50"/>
                </a:solidFill>
              </a:rPr>
              <a:t>Physics</a:t>
            </a:r>
            <a:r>
              <a:rPr sz="4850" spc="-80" dirty="0">
                <a:solidFill>
                  <a:srgbClr val="082A50"/>
                </a:solidFill>
              </a:rPr>
              <a:t> </a:t>
            </a:r>
            <a:r>
              <a:rPr sz="4850" spc="50" dirty="0">
                <a:solidFill>
                  <a:srgbClr val="05284D"/>
                </a:solidFill>
              </a:rPr>
              <a:t>in</a:t>
            </a:r>
            <a:r>
              <a:rPr sz="4850" spc="10" dirty="0">
                <a:solidFill>
                  <a:srgbClr val="05284D"/>
                </a:solidFill>
              </a:rPr>
              <a:t> </a:t>
            </a:r>
            <a:r>
              <a:rPr sz="4850" spc="-20" dirty="0">
                <a:solidFill>
                  <a:srgbClr val="052346"/>
                </a:solidFill>
              </a:rPr>
              <a:t>Code</a:t>
            </a:r>
            <a:endParaRPr sz="4850"/>
          </a:p>
        </p:txBody>
      </p:sp>
      <p:sp>
        <p:nvSpPr>
          <p:cNvPr id="20" name="object 20"/>
          <p:cNvSpPr txBox="1"/>
          <p:nvPr/>
        </p:nvSpPr>
        <p:spPr>
          <a:xfrm>
            <a:off x="15707030" y="9448326"/>
            <a:ext cx="123189" cy="222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9089" y="1180394"/>
            <a:ext cx="13726160" cy="894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ts val="3504"/>
              </a:lnSpc>
              <a:spcBef>
                <a:spcPts val="105"/>
              </a:spcBef>
            </a:pPr>
            <a:r>
              <a:rPr sz="3050" spc="-80" dirty="0">
                <a:latin typeface="Cambria"/>
                <a:cs typeface="Cambria"/>
              </a:rPr>
              <a:t>The</a:t>
            </a:r>
            <a:r>
              <a:rPr sz="3050" spc="-90" dirty="0">
                <a:latin typeface="Cambria"/>
                <a:cs typeface="Cambria"/>
              </a:rPr>
              <a:t> simulation</a:t>
            </a:r>
            <a:r>
              <a:rPr sz="3050" spc="-75" dirty="0">
                <a:latin typeface="Cambria"/>
                <a:cs typeface="Cambria"/>
              </a:rPr>
              <a:t> </a:t>
            </a:r>
            <a:r>
              <a:rPr sz="3050" spc="-110" dirty="0">
                <a:latin typeface="Cambria"/>
                <a:cs typeface="Cambria"/>
              </a:rPr>
              <a:t>integrates</a:t>
            </a:r>
            <a:r>
              <a:rPr sz="3050" spc="-60" dirty="0">
                <a:latin typeface="Cambria"/>
                <a:cs typeface="Cambria"/>
              </a:rPr>
              <a:t> </a:t>
            </a:r>
            <a:r>
              <a:rPr sz="3050" spc="-90" dirty="0">
                <a:latin typeface="Cambria"/>
                <a:cs typeface="Cambria"/>
              </a:rPr>
              <a:t>four</a:t>
            </a:r>
            <a:r>
              <a:rPr sz="3050" spc="-80" dirty="0">
                <a:latin typeface="Cambria"/>
                <a:cs typeface="Cambria"/>
              </a:rPr>
              <a:t> </a:t>
            </a:r>
            <a:r>
              <a:rPr sz="3050" spc="-85" dirty="0">
                <a:latin typeface="Cambria"/>
                <a:cs typeface="Cambria"/>
              </a:rPr>
              <a:t>fundamental</a:t>
            </a:r>
            <a:r>
              <a:rPr sz="3050" spc="-5" dirty="0">
                <a:latin typeface="Cambria"/>
                <a:cs typeface="Cambria"/>
              </a:rPr>
              <a:t> </a:t>
            </a:r>
            <a:r>
              <a:rPr sz="3050" spc="-70" dirty="0">
                <a:latin typeface="Cambria"/>
                <a:cs typeface="Cambria"/>
              </a:rPr>
              <a:t>physical</a:t>
            </a:r>
            <a:r>
              <a:rPr sz="3050" spc="-30" dirty="0">
                <a:latin typeface="Cambria"/>
                <a:cs typeface="Cambria"/>
              </a:rPr>
              <a:t> </a:t>
            </a:r>
            <a:r>
              <a:rPr sz="3050" spc="-75" dirty="0">
                <a:latin typeface="Cambria"/>
                <a:cs typeface="Cambria"/>
              </a:rPr>
              <a:t>principles</a:t>
            </a:r>
            <a:r>
              <a:rPr sz="3050" dirty="0">
                <a:latin typeface="Cambria"/>
                <a:cs typeface="Cambria"/>
              </a:rPr>
              <a:t> </a:t>
            </a:r>
            <a:r>
              <a:rPr sz="3050" spc="-130" dirty="0">
                <a:latin typeface="Cambria"/>
                <a:cs typeface="Cambria"/>
              </a:rPr>
              <a:t>to</a:t>
            </a:r>
            <a:r>
              <a:rPr sz="3050" spc="-120" dirty="0">
                <a:latin typeface="Cambria"/>
                <a:cs typeface="Cambria"/>
              </a:rPr>
              <a:t> </a:t>
            </a:r>
            <a:r>
              <a:rPr sz="3050" spc="-85" dirty="0">
                <a:latin typeface="Cambria"/>
                <a:cs typeface="Cambria"/>
              </a:rPr>
              <a:t>create</a:t>
            </a:r>
            <a:r>
              <a:rPr sz="3050" spc="20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a</a:t>
            </a:r>
            <a:r>
              <a:rPr sz="3050" spc="-160" dirty="0">
                <a:latin typeface="Cambria"/>
                <a:cs typeface="Cambria"/>
              </a:rPr>
              <a:t> </a:t>
            </a:r>
            <a:r>
              <a:rPr sz="3050" spc="-75" dirty="0">
                <a:latin typeface="Cambria"/>
                <a:cs typeface="Cambria"/>
              </a:rPr>
              <a:t>realistic</a:t>
            </a:r>
            <a:r>
              <a:rPr sz="3050" spc="-35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flight</a:t>
            </a:r>
            <a:endParaRPr sz="3050">
              <a:latin typeface="Cambria"/>
              <a:cs typeface="Cambria"/>
            </a:endParaRPr>
          </a:p>
          <a:p>
            <a:pPr marL="12700">
              <a:lnSpc>
                <a:spcPts val="3325"/>
              </a:lnSpc>
            </a:pPr>
            <a:r>
              <a:rPr sz="2900" spc="-10" dirty="0">
                <a:latin typeface="Cambria"/>
                <a:cs typeface="Cambria"/>
              </a:rPr>
              <a:t>environment: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9637" y="2397477"/>
            <a:ext cx="5325745" cy="2259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70">
              <a:lnSpc>
                <a:spcPts val="3695"/>
              </a:lnSpc>
              <a:spcBef>
                <a:spcPts val="120"/>
              </a:spcBef>
            </a:pPr>
            <a:r>
              <a:rPr sz="3450" spc="-55" dirty="0">
                <a:solidFill>
                  <a:srgbClr val="031C3D"/>
                </a:solidFill>
                <a:latin typeface="Trebuchet MS"/>
                <a:cs typeface="Trebuchet MS"/>
              </a:rPr>
              <a:t>Newton's</a:t>
            </a:r>
            <a:r>
              <a:rPr sz="3450" spc="-150" dirty="0">
                <a:solidFill>
                  <a:srgbClr val="031C3D"/>
                </a:solidFill>
                <a:latin typeface="Trebuchet MS"/>
                <a:cs typeface="Trebuchet MS"/>
              </a:rPr>
              <a:t> </a:t>
            </a:r>
            <a:r>
              <a:rPr sz="3450" spc="-25" dirty="0">
                <a:solidFill>
                  <a:srgbClr val="031A3A"/>
                </a:solidFill>
                <a:latin typeface="Trebuchet MS"/>
                <a:cs typeface="Trebuchet MS"/>
              </a:rPr>
              <a:t>Second</a:t>
            </a:r>
            <a:r>
              <a:rPr sz="3450" spc="-235" dirty="0">
                <a:solidFill>
                  <a:srgbClr val="031A3A"/>
                </a:solidFill>
                <a:latin typeface="Trebuchet MS"/>
                <a:cs typeface="Trebuchet MS"/>
              </a:rPr>
              <a:t> </a:t>
            </a:r>
            <a:r>
              <a:rPr sz="3450" spc="-110" dirty="0">
                <a:solidFill>
                  <a:srgbClr val="031C3D"/>
                </a:solidFill>
                <a:latin typeface="Trebuchet MS"/>
                <a:cs typeface="Trebuchet MS"/>
              </a:rPr>
              <a:t>Law</a:t>
            </a:r>
            <a:r>
              <a:rPr sz="3450" spc="-254" dirty="0">
                <a:solidFill>
                  <a:srgbClr val="031C3D"/>
                </a:solidFill>
                <a:latin typeface="Trebuchet MS"/>
                <a:cs typeface="Trebuchet MS"/>
              </a:rPr>
              <a:t> </a:t>
            </a:r>
            <a:r>
              <a:rPr sz="3450" spc="-25" dirty="0">
                <a:solidFill>
                  <a:srgbClr val="08213F"/>
                </a:solidFill>
                <a:latin typeface="Trebuchet MS"/>
                <a:cs typeface="Trebuchet MS"/>
              </a:rPr>
              <a:t>of</a:t>
            </a:r>
            <a:endParaRPr sz="3450" dirty="0">
              <a:latin typeface="Trebuchet MS"/>
              <a:cs typeface="Trebuchet MS"/>
            </a:endParaRPr>
          </a:p>
          <a:p>
            <a:pPr marL="41910">
              <a:lnSpc>
                <a:spcPts val="3875"/>
              </a:lnSpc>
            </a:pPr>
            <a:r>
              <a:rPr sz="3600" spc="-10" dirty="0">
                <a:solidFill>
                  <a:srgbClr val="03264F"/>
                </a:solidFill>
                <a:latin typeface="Trebuchet MS"/>
                <a:cs typeface="Trebuchet MS"/>
              </a:rPr>
              <a:t>Motion</a:t>
            </a:r>
            <a:endParaRPr sz="3600" dirty="0">
              <a:latin typeface="Trebuchet MS"/>
              <a:cs typeface="Trebuchet MS"/>
            </a:endParaRPr>
          </a:p>
          <a:p>
            <a:pPr marL="19685" marR="5080" indent="-7620">
              <a:lnSpc>
                <a:spcPts val="3050"/>
              </a:lnSpc>
              <a:spcBef>
                <a:spcPts val="790"/>
              </a:spcBef>
              <a:tabLst>
                <a:tab pos="5158740" algn="l"/>
              </a:tabLst>
            </a:pPr>
            <a:r>
              <a:rPr sz="2850" spc="-70" dirty="0">
                <a:latin typeface="Cambria"/>
                <a:cs typeface="Cambria"/>
              </a:rPr>
              <a:t>Forms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35" dirty="0">
                <a:latin typeface="Cambria"/>
                <a:cs typeface="Cambria"/>
              </a:rPr>
              <a:t>the</a:t>
            </a:r>
            <a:r>
              <a:rPr sz="2850" spc="-90" dirty="0">
                <a:latin typeface="Cambria"/>
                <a:cs typeface="Cambria"/>
              </a:rPr>
              <a:t> </a:t>
            </a:r>
            <a:r>
              <a:rPr sz="2850" spc="-75" dirty="0">
                <a:latin typeface="Cambria"/>
                <a:cs typeface="Cambria"/>
              </a:rPr>
              <a:t>basis</a:t>
            </a:r>
            <a:r>
              <a:rPr sz="2850" spc="-80" dirty="0">
                <a:latin typeface="Cambria"/>
                <a:cs typeface="Cambria"/>
              </a:rPr>
              <a:t> </a:t>
            </a:r>
            <a:r>
              <a:rPr sz="2850" spc="-40" dirty="0">
                <a:latin typeface="Cambria"/>
                <a:cs typeface="Cambria"/>
              </a:rPr>
              <a:t>for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calculating</a:t>
            </a:r>
            <a:r>
              <a:rPr sz="2850" dirty="0">
                <a:latin typeface="Cambria"/>
                <a:cs typeface="Cambria"/>
              </a:rPr>
              <a:t>	</a:t>
            </a:r>
            <a:r>
              <a:rPr sz="2850" spc="-220" dirty="0">
                <a:solidFill>
                  <a:srgbClr val="03162F"/>
                </a:solidFill>
                <a:latin typeface="Cambria"/>
                <a:cs typeface="Cambria"/>
              </a:rPr>
              <a:t>e </a:t>
            </a:r>
            <a:r>
              <a:rPr sz="2850" spc="-65" dirty="0">
                <a:latin typeface="Cambria"/>
                <a:cs typeface="Cambria"/>
              </a:rPr>
              <a:t>acceleration</a:t>
            </a:r>
            <a:r>
              <a:rPr sz="2850" spc="-50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from</a:t>
            </a:r>
            <a:r>
              <a:rPr sz="2850" spc="-55" dirty="0">
                <a:latin typeface="Cambria"/>
                <a:cs typeface="Cambria"/>
              </a:rPr>
              <a:t> the</a:t>
            </a:r>
            <a:r>
              <a:rPr sz="2850" spc="-105" dirty="0">
                <a:latin typeface="Cambria"/>
                <a:cs typeface="Cambria"/>
              </a:rPr>
              <a:t> </a:t>
            </a:r>
            <a:r>
              <a:rPr sz="2850" spc="-25" dirty="0">
                <a:latin typeface="Cambria"/>
                <a:cs typeface="Cambria"/>
              </a:rPr>
              <a:t>net</a:t>
            </a:r>
            <a:endParaRPr sz="2850" dirty="0">
              <a:latin typeface="Cambria"/>
              <a:cs typeface="Cambria"/>
            </a:endParaRPr>
          </a:p>
          <a:p>
            <a:pPr marL="19685">
              <a:lnSpc>
                <a:spcPts val="3110"/>
              </a:lnSpc>
            </a:pPr>
            <a:r>
              <a:rPr sz="2850" spc="-40" dirty="0">
                <a:latin typeface="Cambria"/>
                <a:cs typeface="Cambria"/>
              </a:rPr>
              <a:t>forces</a:t>
            </a:r>
            <a:r>
              <a:rPr sz="2850" spc="-120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acting</a:t>
            </a:r>
            <a:r>
              <a:rPr sz="2850" spc="-60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on</a:t>
            </a:r>
            <a:r>
              <a:rPr sz="2850" spc="-150" dirty="0">
                <a:latin typeface="Cambria"/>
                <a:cs typeface="Cambria"/>
              </a:rPr>
              <a:t> </a:t>
            </a:r>
            <a:r>
              <a:rPr sz="2850" spc="-55" dirty="0">
                <a:latin typeface="Cambria"/>
                <a:cs typeface="Cambria"/>
              </a:rPr>
              <a:t>the</a:t>
            </a:r>
            <a:r>
              <a:rPr sz="2850" spc="-10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rocket.</a:t>
            </a:r>
            <a:endParaRPr sz="2850" dirty="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2463" y="6072243"/>
            <a:ext cx="4638675" cy="26682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685"/>
              </a:spcBef>
            </a:pPr>
            <a:r>
              <a:rPr sz="3250" dirty="0">
                <a:solidFill>
                  <a:srgbClr val="0C2644"/>
                </a:solidFill>
                <a:latin typeface="Cambria"/>
                <a:cs typeface="Cambria"/>
              </a:rPr>
              <a:t>Fluid</a:t>
            </a:r>
            <a:r>
              <a:rPr sz="3250" spc="-85" dirty="0">
                <a:solidFill>
                  <a:srgbClr val="0C2644"/>
                </a:solidFill>
                <a:latin typeface="Cambria"/>
                <a:cs typeface="Cambria"/>
              </a:rPr>
              <a:t> </a:t>
            </a:r>
            <a:r>
              <a:rPr sz="3250" spc="50" dirty="0">
                <a:solidFill>
                  <a:srgbClr val="072346"/>
                </a:solidFill>
                <a:latin typeface="Cambria"/>
                <a:cs typeface="Cambria"/>
              </a:rPr>
              <a:t>Dynamics</a:t>
            </a:r>
            <a:endParaRPr sz="3250">
              <a:latin typeface="Cambria"/>
              <a:cs typeface="Cambria"/>
            </a:endParaRPr>
          </a:p>
          <a:p>
            <a:pPr marL="12700" marR="5080" indent="17145">
              <a:lnSpc>
                <a:spcPts val="3100"/>
              </a:lnSpc>
              <a:spcBef>
                <a:spcPts val="869"/>
              </a:spcBef>
            </a:pPr>
            <a:r>
              <a:rPr sz="2850" spc="-90" dirty="0">
                <a:latin typeface="Cambria"/>
                <a:cs typeface="Cambria"/>
              </a:rPr>
              <a:t>Applied</a:t>
            </a:r>
            <a:r>
              <a:rPr sz="2850" spc="-65" dirty="0">
                <a:latin typeface="Cambria"/>
                <a:cs typeface="Cambria"/>
              </a:rPr>
              <a:t> </a:t>
            </a:r>
            <a:r>
              <a:rPr sz="2850" spc="-80" dirty="0">
                <a:latin typeface="Cambria"/>
                <a:cs typeface="Cambria"/>
              </a:rPr>
              <a:t>to</a:t>
            </a:r>
            <a:r>
              <a:rPr sz="2850" spc="-150" dirty="0">
                <a:latin typeface="Cambria"/>
                <a:cs typeface="Cambria"/>
              </a:rPr>
              <a:t> </a:t>
            </a:r>
            <a:r>
              <a:rPr sz="2850" spc="-60" dirty="0">
                <a:latin typeface="Cambria"/>
                <a:cs typeface="Cambria"/>
              </a:rPr>
              <a:t>model</a:t>
            </a:r>
            <a:r>
              <a:rPr sz="2850" spc="-30" dirty="0">
                <a:latin typeface="Cambria"/>
                <a:cs typeface="Cambria"/>
              </a:rPr>
              <a:t> </a:t>
            </a:r>
            <a:r>
              <a:rPr sz="2850" spc="-25" dirty="0">
                <a:latin typeface="Cambria"/>
                <a:cs typeface="Cambria"/>
              </a:rPr>
              <a:t>the </a:t>
            </a:r>
            <a:r>
              <a:rPr sz="2850" spc="-10" dirty="0">
                <a:latin typeface="Cambria"/>
                <a:cs typeface="Cambria"/>
              </a:rPr>
              <a:t>aerodynamic</a:t>
            </a:r>
            <a:r>
              <a:rPr sz="2850" spc="7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drag</a:t>
            </a:r>
            <a:r>
              <a:rPr sz="2850" spc="-15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force, </a:t>
            </a:r>
            <a:r>
              <a:rPr sz="2850" spc="-95" dirty="0">
                <a:latin typeface="Cambria"/>
                <a:cs typeface="Cambria"/>
              </a:rPr>
              <a:t>which</a:t>
            </a:r>
            <a:r>
              <a:rPr sz="2850" spc="-60" dirty="0">
                <a:latin typeface="Cambria"/>
                <a:cs typeface="Cambria"/>
              </a:rPr>
              <a:t> </a:t>
            </a:r>
            <a:r>
              <a:rPr sz="2850" spc="-95" dirty="0">
                <a:latin typeface="Cambria"/>
                <a:cs typeface="Cambria"/>
              </a:rPr>
              <a:t>opposes</a:t>
            </a:r>
            <a:r>
              <a:rPr sz="2850" spc="-60" dirty="0">
                <a:latin typeface="Cambria"/>
                <a:cs typeface="Cambria"/>
              </a:rPr>
              <a:t> </a:t>
            </a:r>
            <a:r>
              <a:rPr sz="2850" spc="-55" dirty="0">
                <a:latin typeface="Cambria"/>
                <a:cs typeface="Cambria"/>
              </a:rPr>
              <a:t>the</a:t>
            </a:r>
            <a:r>
              <a:rPr sz="2850" spc="-4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rocket's </a:t>
            </a:r>
            <a:r>
              <a:rPr sz="2850" spc="-70" dirty="0">
                <a:latin typeface="Cambria"/>
                <a:cs typeface="Cambria"/>
              </a:rPr>
              <a:t>motion</a:t>
            </a:r>
            <a:r>
              <a:rPr sz="2850" spc="-90" dirty="0">
                <a:latin typeface="Cambria"/>
                <a:cs typeface="Cambria"/>
              </a:rPr>
              <a:t> </a:t>
            </a:r>
            <a:r>
              <a:rPr sz="2850" spc="-30" dirty="0">
                <a:latin typeface="Cambria"/>
                <a:cs typeface="Cambria"/>
              </a:rPr>
              <a:t>and</a:t>
            </a:r>
            <a:r>
              <a:rPr sz="2850" spc="-125" dirty="0">
                <a:latin typeface="Cambria"/>
                <a:cs typeface="Cambria"/>
              </a:rPr>
              <a:t> </a:t>
            </a:r>
            <a:r>
              <a:rPr sz="2850" spc="-30" dirty="0">
                <a:latin typeface="Cambria"/>
                <a:cs typeface="Cambria"/>
              </a:rPr>
              <a:t>is</a:t>
            </a:r>
            <a:r>
              <a:rPr sz="2850" spc="-125" dirty="0">
                <a:latin typeface="Cambria"/>
                <a:cs typeface="Cambria"/>
              </a:rPr>
              <a:t> </a:t>
            </a:r>
            <a:r>
              <a:rPr sz="2850" spc="-75" dirty="0">
                <a:latin typeface="Cambria"/>
                <a:cs typeface="Cambria"/>
              </a:rPr>
              <a:t>dependent</a:t>
            </a:r>
            <a:r>
              <a:rPr sz="2850" spc="130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on</a:t>
            </a:r>
            <a:r>
              <a:rPr sz="2850" spc="-110" dirty="0">
                <a:latin typeface="Cambria"/>
                <a:cs typeface="Cambria"/>
              </a:rPr>
              <a:t> </a:t>
            </a:r>
            <a:r>
              <a:rPr sz="2850" spc="-30" dirty="0">
                <a:latin typeface="Cambria"/>
                <a:cs typeface="Cambria"/>
              </a:rPr>
              <a:t>air </a:t>
            </a:r>
            <a:r>
              <a:rPr sz="2850" dirty="0">
                <a:latin typeface="Cambria"/>
                <a:cs typeface="Cambria"/>
              </a:rPr>
              <a:t>density</a:t>
            </a:r>
            <a:r>
              <a:rPr sz="2850" spc="-65" dirty="0">
                <a:latin typeface="Cambria"/>
                <a:cs typeface="Cambria"/>
              </a:rPr>
              <a:t> </a:t>
            </a:r>
            <a:r>
              <a:rPr sz="2850" spc="-35" dirty="0">
                <a:latin typeface="Cambria"/>
                <a:cs typeface="Cambria"/>
              </a:rPr>
              <a:t>and</a:t>
            </a:r>
            <a:r>
              <a:rPr sz="2850" spc="-12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velocity.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56705" y="4173008"/>
            <a:ext cx="77597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55" dirty="0">
                <a:solidFill>
                  <a:srgbClr val="131313"/>
                </a:solidFill>
                <a:latin typeface="Cambria"/>
                <a:cs typeface="Cambria"/>
              </a:rPr>
              <a:t>F=ma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79005" y="2415116"/>
            <a:ext cx="4702175" cy="30295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8415" marR="5080" indent="12065">
              <a:lnSpc>
                <a:spcPts val="3400"/>
              </a:lnSpc>
              <a:spcBef>
                <a:spcPts val="710"/>
              </a:spcBef>
            </a:pPr>
            <a:r>
              <a:rPr sz="3300" spc="-20" dirty="0">
                <a:solidFill>
                  <a:srgbClr val="0C2442"/>
                </a:solidFill>
                <a:latin typeface="Arial MT"/>
                <a:cs typeface="Arial MT"/>
              </a:rPr>
              <a:t>Thermodynamics</a:t>
            </a:r>
            <a:r>
              <a:rPr sz="3300" spc="-110" dirty="0">
                <a:solidFill>
                  <a:srgbClr val="0C2442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52444"/>
                </a:solidFill>
                <a:latin typeface="Arial MT"/>
                <a:cs typeface="Arial MT"/>
              </a:rPr>
              <a:t>of</a:t>
            </a:r>
            <a:r>
              <a:rPr sz="3300" spc="-100" dirty="0">
                <a:solidFill>
                  <a:srgbClr val="052444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2444"/>
                </a:solidFill>
                <a:latin typeface="Arial MT"/>
                <a:cs typeface="Arial MT"/>
              </a:rPr>
              <a:t>Ideal </a:t>
            </a:r>
            <a:r>
              <a:rPr sz="3300" spc="-10" dirty="0">
                <a:solidFill>
                  <a:srgbClr val="072142"/>
                </a:solidFill>
                <a:latin typeface="Arial MT"/>
                <a:cs typeface="Arial MT"/>
              </a:rPr>
              <a:t>Gases</a:t>
            </a:r>
            <a:endParaRPr sz="3300">
              <a:latin typeface="Arial MT"/>
              <a:cs typeface="Arial MT"/>
            </a:endParaRPr>
          </a:p>
          <a:p>
            <a:pPr marL="22225" marR="83820" indent="-10160">
              <a:lnSpc>
                <a:spcPct val="92300"/>
              </a:lnSpc>
              <a:spcBef>
                <a:spcPts val="685"/>
              </a:spcBef>
            </a:pPr>
            <a:r>
              <a:rPr sz="2850" spc="-45" dirty="0">
                <a:latin typeface="Cambria"/>
                <a:cs typeface="Cambria"/>
              </a:rPr>
              <a:t>Used</a:t>
            </a:r>
            <a:r>
              <a:rPr sz="2850" spc="-114" dirty="0">
                <a:latin typeface="Cambria"/>
                <a:cs typeface="Cambria"/>
              </a:rPr>
              <a:t> </a:t>
            </a:r>
            <a:r>
              <a:rPr sz="2850" spc="-145" dirty="0">
                <a:latin typeface="Cambria"/>
                <a:cs typeface="Cambria"/>
              </a:rPr>
              <a:t>to</a:t>
            </a:r>
            <a:r>
              <a:rPr sz="2850" spc="-10" dirty="0">
                <a:latin typeface="Cambria"/>
                <a:cs typeface="Cambria"/>
              </a:rPr>
              <a:t> </a:t>
            </a:r>
            <a:r>
              <a:rPr sz="2850" spc="-70" dirty="0">
                <a:latin typeface="Cambria"/>
                <a:cs typeface="Cambria"/>
              </a:rPr>
              <a:t>accurately</a:t>
            </a:r>
            <a:r>
              <a:rPr sz="2850" spc="-50" dirty="0">
                <a:latin typeface="Cambria"/>
                <a:cs typeface="Cambria"/>
              </a:rPr>
              <a:t> calculate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2850" spc="-25" dirty="0">
                <a:latin typeface="Cambria"/>
                <a:cs typeface="Cambria"/>
              </a:rPr>
              <a:t>air </a:t>
            </a:r>
            <a:r>
              <a:rPr sz="2750" spc="-40" dirty="0">
                <a:latin typeface="Cambria"/>
                <a:cs typeface="Cambria"/>
              </a:rPr>
              <a:t>density</a:t>
            </a:r>
            <a:r>
              <a:rPr sz="2750" spc="-120" dirty="0">
                <a:latin typeface="Cambria"/>
                <a:cs typeface="Cambria"/>
              </a:rPr>
              <a:t> </a:t>
            </a:r>
            <a:r>
              <a:rPr sz="2750" spc="-75" dirty="0">
                <a:latin typeface="Cambria"/>
                <a:cs typeface="Cambria"/>
              </a:rPr>
              <a:t>(p </a:t>
            </a:r>
            <a:r>
              <a:rPr sz="2750" spc="-40" dirty="0">
                <a:latin typeface="Cambria"/>
                <a:cs typeface="Cambria"/>
              </a:rPr>
              <a:t>=</a:t>
            </a:r>
            <a:r>
              <a:rPr sz="2750" spc="-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</a:t>
            </a:r>
            <a:r>
              <a:rPr sz="2750" spc="-40" dirty="0">
                <a:latin typeface="Cambria"/>
                <a:cs typeface="Cambria"/>
              </a:rPr>
              <a:t> </a:t>
            </a:r>
            <a:r>
              <a:rPr sz="2750" spc="-365" dirty="0">
                <a:latin typeface="Cambria"/>
                <a:cs typeface="Cambria"/>
              </a:rPr>
              <a:t>/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spc="-185" dirty="0">
                <a:latin typeface="Cambria"/>
                <a:cs typeface="Cambria"/>
              </a:rPr>
              <a:t>R-</a:t>
            </a:r>
            <a:r>
              <a:rPr sz="2750" spc="-110" dirty="0">
                <a:latin typeface="Cambria"/>
                <a:cs typeface="Cambria"/>
              </a:rPr>
              <a:t>T)</a:t>
            </a:r>
            <a:r>
              <a:rPr sz="2750" spc="45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from </a:t>
            </a:r>
            <a:r>
              <a:rPr sz="2750" spc="-30" dirty="0">
                <a:latin typeface="Cambria"/>
                <a:cs typeface="Cambria"/>
              </a:rPr>
              <a:t>pressure</a:t>
            </a:r>
            <a:r>
              <a:rPr sz="2750" spc="-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and</a:t>
            </a:r>
            <a:r>
              <a:rPr sz="2750" spc="-10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temperature, </a:t>
            </a:r>
            <a:r>
              <a:rPr sz="2850" spc="-65" dirty="0">
                <a:latin typeface="Cambria"/>
                <a:cs typeface="Cambria"/>
              </a:rPr>
              <a:t>which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spc="-30" dirty="0">
                <a:latin typeface="Cambria"/>
                <a:cs typeface="Cambria"/>
              </a:rPr>
              <a:t>is</a:t>
            </a:r>
            <a:r>
              <a:rPr sz="2850" spc="-125" dirty="0">
                <a:latin typeface="Cambria"/>
                <a:cs typeface="Cambria"/>
              </a:rPr>
              <a:t> </a:t>
            </a:r>
            <a:r>
              <a:rPr sz="2850" spc="-40" dirty="0">
                <a:latin typeface="Cambria"/>
                <a:cs typeface="Cambria"/>
              </a:rPr>
              <a:t>critical</a:t>
            </a:r>
            <a:r>
              <a:rPr sz="2850" spc="-10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for</a:t>
            </a:r>
            <a:r>
              <a:rPr sz="2850" spc="-65" dirty="0">
                <a:latin typeface="Cambria"/>
                <a:cs typeface="Cambria"/>
              </a:rPr>
              <a:t> </a:t>
            </a:r>
            <a:r>
              <a:rPr sz="2850" spc="-70" dirty="0">
                <a:latin typeface="Cambria"/>
                <a:cs typeface="Cambria"/>
              </a:rPr>
              <a:t>the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20" dirty="0">
                <a:latin typeface="Cambria"/>
                <a:cs typeface="Cambria"/>
              </a:rPr>
              <a:t>drag </a:t>
            </a:r>
            <a:r>
              <a:rPr sz="2850" spc="-10" dirty="0">
                <a:latin typeface="Cambria"/>
                <a:cs typeface="Cambria"/>
              </a:rPr>
              <a:t>calculation.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76361" y="6118577"/>
            <a:ext cx="4842510" cy="2647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860">
              <a:lnSpc>
                <a:spcPts val="3745"/>
              </a:lnSpc>
              <a:spcBef>
                <a:spcPts val="120"/>
              </a:spcBef>
            </a:pPr>
            <a:r>
              <a:rPr sz="3450" spc="-114" dirty="0">
                <a:solidFill>
                  <a:srgbClr val="012148"/>
                </a:solidFill>
                <a:latin typeface="Arial MT"/>
                <a:cs typeface="Arial MT"/>
              </a:rPr>
              <a:t>Newton's</a:t>
            </a:r>
            <a:r>
              <a:rPr sz="3450" spc="-145" dirty="0">
                <a:solidFill>
                  <a:srgbClr val="012148"/>
                </a:solidFill>
                <a:latin typeface="Arial MT"/>
                <a:cs typeface="Arial MT"/>
              </a:rPr>
              <a:t> </a:t>
            </a:r>
            <a:r>
              <a:rPr sz="3450" spc="-175" dirty="0">
                <a:solidFill>
                  <a:srgbClr val="031A3D"/>
                </a:solidFill>
                <a:latin typeface="Arial MT"/>
                <a:cs typeface="Arial MT"/>
              </a:rPr>
              <a:t>Law</a:t>
            </a:r>
            <a:r>
              <a:rPr sz="3450" spc="-45" dirty="0">
                <a:solidFill>
                  <a:srgbClr val="031A3D"/>
                </a:solidFill>
                <a:latin typeface="Arial MT"/>
                <a:cs typeface="Arial MT"/>
              </a:rPr>
              <a:t> </a:t>
            </a:r>
            <a:r>
              <a:rPr sz="3450" spc="-80" dirty="0">
                <a:solidFill>
                  <a:srgbClr val="051C3B"/>
                </a:solidFill>
                <a:latin typeface="Arial MT"/>
                <a:cs typeface="Arial MT"/>
              </a:rPr>
              <a:t>of</a:t>
            </a:r>
            <a:r>
              <a:rPr sz="3450" spc="-135" dirty="0">
                <a:solidFill>
                  <a:srgbClr val="051C3B"/>
                </a:solidFill>
                <a:latin typeface="Arial MT"/>
                <a:cs typeface="Arial MT"/>
              </a:rPr>
              <a:t> </a:t>
            </a:r>
            <a:r>
              <a:rPr sz="3450" spc="-80" dirty="0">
                <a:solidFill>
                  <a:srgbClr val="051F3F"/>
                </a:solidFill>
                <a:latin typeface="Arial MT"/>
                <a:cs typeface="Arial MT"/>
              </a:rPr>
              <a:t>Universal</a:t>
            </a:r>
            <a:endParaRPr sz="3450">
              <a:latin typeface="Arial MT"/>
              <a:cs typeface="Arial MT"/>
            </a:endParaRPr>
          </a:p>
          <a:p>
            <a:pPr marL="19685">
              <a:lnSpc>
                <a:spcPts val="3865"/>
              </a:lnSpc>
            </a:pPr>
            <a:r>
              <a:rPr sz="3550" spc="-40" dirty="0">
                <a:solidFill>
                  <a:srgbClr val="051F41"/>
                </a:solidFill>
                <a:latin typeface="Arial MT"/>
                <a:cs typeface="Arial MT"/>
              </a:rPr>
              <a:t>Gravitation</a:t>
            </a:r>
            <a:endParaRPr sz="3550">
              <a:latin typeface="Arial MT"/>
              <a:cs typeface="Arial MT"/>
            </a:endParaRPr>
          </a:p>
          <a:p>
            <a:pPr marL="12700" marR="779145" indent="9525">
              <a:lnSpc>
                <a:spcPct val="90600"/>
              </a:lnSpc>
              <a:spcBef>
                <a:spcPts val="610"/>
              </a:spcBef>
            </a:pPr>
            <a:r>
              <a:rPr sz="2850" spc="-75" dirty="0">
                <a:latin typeface="Cambria"/>
                <a:cs typeface="Cambria"/>
              </a:rPr>
              <a:t>Implemented</a:t>
            </a:r>
            <a:r>
              <a:rPr sz="2850" spc="10" dirty="0">
                <a:latin typeface="Cambria"/>
                <a:cs typeface="Cambria"/>
              </a:rPr>
              <a:t> </a:t>
            </a:r>
            <a:r>
              <a:rPr sz="2850" spc="-50" dirty="0">
                <a:latin typeface="Cambria"/>
                <a:cs typeface="Cambria"/>
              </a:rPr>
              <a:t>to</a:t>
            </a:r>
            <a:r>
              <a:rPr sz="2850" spc="-110" dirty="0">
                <a:latin typeface="Cambria"/>
                <a:cs typeface="Cambria"/>
              </a:rPr>
              <a:t> </a:t>
            </a:r>
            <a:r>
              <a:rPr sz="2850" spc="-85" dirty="0">
                <a:latin typeface="Cambria"/>
                <a:cs typeface="Cambria"/>
              </a:rPr>
              <a:t>model</a:t>
            </a:r>
            <a:r>
              <a:rPr sz="2850" spc="-55" dirty="0">
                <a:latin typeface="Cambria"/>
                <a:cs typeface="Cambria"/>
              </a:rPr>
              <a:t> </a:t>
            </a:r>
            <a:r>
              <a:rPr sz="2850" spc="-25" dirty="0">
                <a:latin typeface="Cambria"/>
                <a:cs typeface="Cambria"/>
              </a:rPr>
              <a:t>the </a:t>
            </a:r>
            <a:r>
              <a:rPr sz="2850" dirty="0">
                <a:latin typeface="Cambria"/>
                <a:cs typeface="Cambria"/>
              </a:rPr>
              <a:t>decrease</a:t>
            </a:r>
            <a:r>
              <a:rPr sz="2850" spc="4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in</a:t>
            </a:r>
            <a:r>
              <a:rPr sz="2850" spc="-14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gravitational </a:t>
            </a:r>
            <a:r>
              <a:rPr sz="2850" spc="-20" dirty="0">
                <a:latin typeface="Cambria"/>
                <a:cs typeface="Cambria"/>
              </a:rPr>
              <a:t>acceleration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2850" spc="-30" dirty="0">
                <a:latin typeface="Cambria"/>
                <a:cs typeface="Cambria"/>
              </a:rPr>
              <a:t>as</a:t>
            </a:r>
            <a:r>
              <a:rPr sz="2850" spc="-130" dirty="0">
                <a:latin typeface="Cambria"/>
                <a:cs typeface="Cambria"/>
              </a:rPr>
              <a:t> </a:t>
            </a:r>
            <a:r>
              <a:rPr sz="2850" spc="-55" dirty="0">
                <a:latin typeface="Cambria"/>
                <a:cs typeface="Cambria"/>
              </a:rPr>
              <a:t>the</a:t>
            </a:r>
            <a:r>
              <a:rPr sz="2850" spc="-100" dirty="0">
                <a:latin typeface="Cambria"/>
                <a:cs typeface="Cambria"/>
              </a:rPr>
              <a:t> </a:t>
            </a:r>
            <a:r>
              <a:rPr sz="2850" spc="-75" dirty="0">
                <a:latin typeface="Cambria"/>
                <a:cs typeface="Cambria"/>
              </a:rPr>
              <a:t>rocket's </a:t>
            </a:r>
            <a:r>
              <a:rPr sz="2850" spc="-60" dirty="0">
                <a:latin typeface="Cambria"/>
                <a:cs typeface="Cambria"/>
              </a:rPr>
              <a:t>altitude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increases.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CFF9D6-959D-3469-6432-672F25E2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79" y="619124"/>
            <a:ext cx="15841980" cy="630942"/>
          </a:xfrm>
        </p:spPr>
        <p:txBody>
          <a:bodyPr/>
          <a:lstStyle/>
          <a:p>
            <a:pPr algn="ctr"/>
            <a:r>
              <a:rPr lang="tr-TR" dirty="0" err="1"/>
              <a:t>Height&amp;Range</a:t>
            </a:r>
            <a:r>
              <a:rPr lang="tr-TR" dirty="0"/>
              <a:t> </a:t>
            </a:r>
            <a:r>
              <a:rPr lang="tr-TR" dirty="0" err="1"/>
              <a:t>Grapghics</a:t>
            </a:r>
            <a:endParaRPr lang="tr-TR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2199A99D-88A4-068F-79A2-5A9DE4452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00" y="4876800"/>
            <a:ext cx="6019800" cy="481584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77A4D505-ED5E-02A2-A885-913959AA9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0" y="1524000"/>
            <a:ext cx="4829540" cy="388620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4B7CD8E5-34F6-2F9F-9CFC-B39E4A059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4200" y="1524000"/>
            <a:ext cx="4567294" cy="36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6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5552" y="8294235"/>
            <a:ext cx="3073400" cy="381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5097" y="875241"/>
            <a:ext cx="676338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spc="-250" dirty="0">
                <a:solidFill>
                  <a:srgbClr val="032646"/>
                </a:solidFill>
              </a:rPr>
              <a:t>The</a:t>
            </a:r>
            <a:r>
              <a:rPr sz="5200" spc="-390" dirty="0">
                <a:solidFill>
                  <a:srgbClr val="032646"/>
                </a:solidFill>
              </a:rPr>
              <a:t> </a:t>
            </a:r>
            <a:r>
              <a:rPr sz="5200" spc="-145" dirty="0">
                <a:solidFill>
                  <a:srgbClr val="072846"/>
                </a:solidFill>
              </a:rPr>
              <a:t>Equations</a:t>
            </a:r>
            <a:r>
              <a:rPr sz="5200" spc="-130" dirty="0">
                <a:solidFill>
                  <a:srgbClr val="072846"/>
                </a:solidFill>
              </a:rPr>
              <a:t> </a:t>
            </a:r>
            <a:r>
              <a:rPr sz="5200" spc="-75" dirty="0">
                <a:solidFill>
                  <a:srgbClr val="031F3D"/>
                </a:solidFill>
              </a:rPr>
              <a:t>of</a:t>
            </a:r>
            <a:r>
              <a:rPr sz="5200" spc="-370" dirty="0">
                <a:solidFill>
                  <a:srgbClr val="031F3D"/>
                </a:solidFill>
              </a:rPr>
              <a:t> </a:t>
            </a:r>
            <a:r>
              <a:rPr sz="5200" spc="-30" dirty="0">
                <a:solidFill>
                  <a:srgbClr val="012342"/>
                </a:solidFill>
              </a:rPr>
              <a:t>Motion</a:t>
            </a:r>
            <a:endParaRPr sz="5200"/>
          </a:p>
        </p:txBody>
      </p:sp>
      <p:sp>
        <p:nvSpPr>
          <p:cNvPr id="18" name="object 18"/>
          <p:cNvSpPr txBox="1"/>
          <p:nvPr/>
        </p:nvSpPr>
        <p:spPr>
          <a:xfrm>
            <a:off x="15707030" y="9448326"/>
            <a:ext cx="123189" cy="222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631761" y="2357268"/>
                <a:ext cx="7473950" cy="3570465"/>
              </a:xfrm>
              <a:prstGeom prst="rect">
                <a:avLst/>
              </a:prstGeom>
            </p:spPr>
            <p:txBody>
              <a:bodyPr vert="horz" wrap="square" lIns="0" tIns="42545" rIns="0" bIns="0" rtlCol="0">
                <a:spAutoFit/>
              </a:bodyPr>
              <a:lstStyle/>
              <a:p>
                <a:pPr marL="347980">
                  <a:lnSpc>
                    <a:spcPct val="100000"/>
                  </a:lnSpc>
                  <a:spcBef>
                    <a:spcPts val="335"/>
                  </a:spcBef>
                </a:pPr>
                <a:r>
                  <a:rPr sz="3550" dirty="0">
                    <a:latin typeface="Arial MT"/>
                    <a:cs typeface="Arial MT"/>
                  </a:rPr>
                  <a:t>Thrust</a:t>
                </a:r>
                <a:r>
                  <a:rPr sz="3550" spc="-235" dirty="0">
                    <a:latin typeface="Arial MT"/>
                    <a:cs typeface="Arial MT"/>
                  </a:rPr>
                  <a:t> </a:t>
                </a:r>
                <a:r>
                  <a:rPr sz="3550" spc="-85" dirty="0">
                    <a:latin typeface="Arial MT"/>
                    <a:cs typeface="Arial MT"/>
                  </a:rPr>
                  <a:t>Force</a:t>
                </a:r>
                <a:r>
                  <a:rPr sz="3550" spc="-160" dirty="0">
                    <a:latin typeface="Arial MT"/>
                    <a:cs typeface="Arial MT"/>
                  </a:rPr>
                  <a:t> </a:t>
                </a:r>
                <a:r>
                  <a:rPr sz="3550" spc="-20" dirty="0">
                    <a:latin typeface="Arial MT"/>
                    <a:cs typeface="Arial MT"/>
                  </a:rPr>
                  <a:t>(FT)</a:t>
                </a:r>
                <a:endParaRPr sz="3550" dirty="0">
                  <a:latin typeface="Arial MT"/>
                  <a:cs typeface="Arial MT"/>
                </a:endParaRPr>
              </a:p>
              <a:p>
                <a:pPr marL="343535" marR="17780" indent="7620">
                  <a:lnSpc>
                    <a:spcPts val="3200"/>
                  </a:lnSpc>
                  <a:spcBef>
                    <a:spcPts val="930"/>
                  </a:spcBef>
                </a:pPr>
                <a:r>
                  <a:rPr sz="3250" spc="-85" dirty="0">
                    <a:latin typeface="Times New Roman"/>
                    <a:cs typeface="Times New Roman"/>
                  </a:rPr>
                  <a:t>Propulsion</a:t>
                </a:r>
                <a:r>
                  <a:rPr sz="3250" spc="-120" dirty="0">
                    <a:latin typeface="Times New Roman"/>
                    <a:cs typeface="Times New Roman"/>
                  </a:rPr>
                  <a:t> </a:t>
                </a:r>
                <a:r>
                  <a:rPr sz="3250" spc="-35" dirty="0">
                    <a:latin typeface="Times New Roman"/>
                    <a:cs typeface="Times New Roman"/>
                  </a:rPr>
                  <a:t>generated</a:t>
                </a:r>
                <a:r>
                  <a:rPr sz="3250" spc="-20" dirty="0">
                    <a:latin typeface="Times New Roman"/>
                    <a:cs typeface="Times New Roman"/>
                  </a:rPr>
                  <a:t> </a:t>
                </a:r>
                <a:r>
                  <a:rPr sz="3250" spc="-220" dirty="0">
                    <a:latin typeface="Times New Roman"/>
                    <a:cs typeface="Times New Roman"/>
                  </a:rPr>
                  <a:t>by</a:t>
                </a:r>
                <a:r>
                  <a:rPr sz="3250" spc="-100" dirty="0">
                    <a:latin typeface="Times New Roman"/>
                    <a:cs typeface="Times New Roman"/>
                  </a:rPr>
                  <a:t> </a:t>
                </a:r>
                <a:r>
                  <a:rPr sz="3250" dirty="0">
                    <a:latin typeface="Times New Roman"/>
                    <a:cs typeface="Times New Roman"/>
                  </a:rPr>
                  <a:t>the</a:t>
                </a:r>
                <a:r>
                  <a:rPr sz="3250" spc="-160" dirty="0">
                    <a:latin typeface="Times New Roman"/>
                    <a:cs typeface="Times New Roman"/>
                  </a:rPr>
                  <a:t> </a:t>
                </a:r>
                <a:r>
                  <a:rPr sz="3250" spc="-10" dirty="0">
                    <a:latin typeface="Times New Roman"/>
                    <a:cs typeface="Times New Roman"/>
                  </a:rPr>
                  <a:t>engine, </a:t>
                </a:r>
                <a:r>
                  <a:rPr sz="3250" spc="-80" dirty="0">
                    <a:latin typeface="Times New Roman"/>
                    <a:cs typeface="Times New Roman"/>
                  </a:rPr>
                  <a:t>accounting</a:t>
                </a:r>
                <a:r>
                  <a:rPr sz="3250" spc="-125" dirty="0">
                    <a:latin typeface="Times New Roman"/>
                    <a:cs typeface="Times New Roman"/>
                  </a:rPr>
                  <a:t> </a:t>
                </a:r>
                <a:r>
                  <a:rPr sz="3250" dirty="0">
                    <a:latin typeface="Times New Roman"/>
                    <a:cs typeface="Times New Roman"/>
                  </a:rPr>
                  <a:t>for</a:t>
                </a:r>
                <a:r>
                  <a:rPr sz="3250" spc="-204" dirty="0">
                    <a:latin typeface="Times New Roman"/>
                    <a:cs typeface="Times New Roman"/>
                  </a:rPr>
                  <a:t> </a:t>
                </a:r>
                <a:r>
                  <a:rPr sz="3250" spc="-20" dirty="0">
                    <a:latin typeface="Times New Roman"/>
                    <a:cs typeface="Times New Roman"/>
                  </a:rPr>
                  <a:t>both</a:t>
                </a:r>
                <a:r>
                  <a:rPr sz="3250" spc="-145" dirty="0">
                    <a:latin typeface="Times New Roman"/>
                    <a:cs typeface="Times New Roman"/>
                  </a:rPr>
                  <a:t> </a:t>
                </a:r>
                <a:r>
                  <a:rPr sz="3250" spc="-60" dirty="0">
                    <a:latin typeface="Times New Roman"/>
                    <a:cs typeface="Times New Roman"/>
                  </a:rPr>
                  <a:t>momentum</a:t>
                </a:r>
                <a:r>
                  <a:rPr sz="3250" spc="-25" dirty="0">
                    <a:latin typeface="Times New Roman"/>
                    <a:cs typeface="Times New Roman"/>
                  </a:rPr>
                  <a:t> </a:t>
                </a:r>
                <a:r>
                  <a:rPr sz="3250" dirty="0">
                    <a:latin typeface="Times New Roman"/>
                    <a:cs typeface="Times New Roman"/>
                  </a:rPr>
                  <a:t>and</a:t>
                </a:r>
                <a:r>
                  <a:rPr sz="3250" spc="-100" dirty="0">
                    <a:latin typeface="Times New Roman"/>
                    <a:cs typeface="Times New Roman"/>
                  </a:rPr>
                  <a:t> </a:t>
                </a:r>
                <a:r>
                  <a:rPr sz="3250" spc="-45" dirty="0">
                    <a:latin typeface="Times New Roman"/>
                    <a:cs typeface="Times New Roman"/>
                  </a:rPr>
                  <a:t>pressure </a:t>
                </a:r>
                <a:r>
                  <a:rPr sz="3250" spc="-80" dirty="0">
                    <a:latin typeface="Times New Roman"/>
                    <a:cs typeface="Times New Roman"/>
                  </a:rPr>
                  <a:t>differential</a:t>
                </a:r>
                <a:r>
                  <a:rPr sz="3250" spc="-105" dirty="0">
                    <a:latin typeface="Times New Roman"/>
                    <a:cs typeface="Times New Roman"/>
                  </a:rPr>
                  <a:t> </a:t>
                </a:r>
                <a:r>
                  <a:rPr sz="3250" dirty="0">
                    <a:latin typeface="Times New Roman"/>
                    <a:cs typeface="Times New Roman"/>
                  </a:rPr>
                  <a:t>at</a:t>
                </a:r>
                <a:r>
                  <a:rPr sz="3250" spc="-204" dirty="0">
                    <a:latin typeface="Times New Roman"/>
                    <a:cs typeface="Times New Roman"/>
                  </a:rPr>
                  <a:t> </a:t>
                </a:r>
                <a:r>
                  <a:rPr sz="3250" dirty="0">
                    <a:latin typeface="Times New Roman"/>
                    <a:cs typeface="Times New Roman"/>
                  </a:rPr>
                  <a:t>the</a:t>
                </a:r>
                <a:r>
                  <a:rPr sz="3250" spc="-110" dirty="0">
                    <a:latin typeface="Times New Roman"/>
                    <a:cs typeface="Times New Roman"/>
                  </a:rPr>
                  <a:t> nozzle</a:t>
                </a:r>
                <a:r>
                  <a:rPr sz="3250" spc="-30" dirty="0">
                    <a:latin typeface="Times New Roman"/>
                    <a:cs typeface="Times New Roman"/>
                  </a:rPr>
                  <a:t> </a:t>
                </a:r>
                <a:r>
                  <a:rPr sz="3250" spc="-10" dirty="0" err="1">
                    <a:latin typeface="Times New Roman"/>
                    <a:cs typeface="Times New Roman"/>
                  </a:rPr>
                  <a:t>exi</a:t>
                </a:r>
                <a:r>
                  <a:rPr lang="tr-TR" sz="3250" spc="-10" dirty="0">
                    <a:latin typeface="Times New Roman"/>
                    <a:cs typeface="Times New Roman"/>
                  </a:rPr>
                  <a:t>t.</a:t>
                </a:r>
              </a:p>
              <a:p>
                <a:pPr>
                  <a:lnSpc>
                    <a:spcPct val="100000"/>
                  </a:lnSpc>
                  <a:spcBef>
                    <a:spcPts val="72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325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𝐹</m:t>
                          </m:r>
                        </m:e>
                        <m:sub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𝑡</m:t>
                          </m:r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h</m:t>
                          </m:r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𝑟𝑢𝑠𝑡</m:t>
                          </m:r>
                        </m:sub>
                      </m:sSub>
                      <m:r>
                        <a:rPr lang="tr-TR" sz="3250" i="1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accPr>
                        <m:e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𝑉</m:t>
                          </m:r>
                        </m:e>
                        <m:sub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𝑒</m:t>
                          </m:r>
                        </m:sub>
                      </m:sSub>
                      <m:r>
                        <a:rPr lang="tr-TR" sz="3250" i="1">
                          <a:latin typeface="Cambria Math" panose="02040503050406030204" pitchFamily="18" charset="0"/>
                          <a:cs typeface="Times New Roman"/>
                        </a:rPr>
                        <m:t>+</m:t>
                      </m:r>
                      <m:d>
                        <m:dPr>
                          <m:ctrlP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3250" i="1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tr-TR" sz="3250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tr-TR" sz="3250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𝑒</m:t>
                              </m:r>
                            </m:sub>
                          </m:sSub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tr-TR" sz="3250" i="1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tr-TR" sz="3250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tr-TR" sz="3250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𝑙𝑜𝑐𝑎𝑙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𝐴</m:t>
                          </m:r>
                        </m:e>
                        <m:sub>
                          <m:r>
                            <a:rPr lang="tr-TR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tr-TR" sz="325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72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𝑉</m:t>
                          </m:r>
                        </m:e>
                        <m:sub>
                          <m: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𝑒</m:t>
                          </m:r>
                        </m:sub>
                      </m:sSub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𝐼</m:t>
                          </m:r>
                        </m:e>
                        <m:sub>
                          <m: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𝑠</m:t>
                          </m:r>
                          <m:r>
                            <m:rPr>
                              <m:sty m:val="p"/>
                            </m:rP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p</m:t>
                          </m:r>
                        </m:sub>
                      </m:sSub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∗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𝑔</m:t>
                      </m:r>
                    </m:oMath>
                  </m:oMathPara>
                </a14:m>
                <a:endParaRPr lang="tr-TR" sz="3250" b="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725"/>
                  </a:spcBef>
                </a:pPr>
                <a:endParaRPr lang="tr-TR" sz="325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1" y="2357268"/>
                <a:ext cx="7473950" cy="3570465"/>
              </a:xfrm>
              <a:prstGeom prst="rect">
                <a:avLst/>
              </a:prstGeom>
              <a:blipFill>
                <a:blip r:embed="rId3"/>
                <a:stretch>
                  <a:fillRect t="-2735" r="-416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9233047" y="2357268"/>
                <a:ext cx="7610391" cy="3282309"/>
              </a:xfrm>
              <a:prstGeom prst="rect">
                <a:avLst/>
              </a:prstGeom>
            </p:spPr>
            <p:txBody>
              <a:bodyPr vert="horz" wrap="square" lIns="0" tIns="4254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335"/>
                  </a:spcBef>
                </a:pPr>
                <a:r>
                  <a:rPr lang="tr-TR" sz="3550" spc="-55" dirty="0">
                    <a:latin typeface="Arial MT"/>
                    <a:cs typeface="Arial MT"/>
                  </a:rPr>
                  <a:t>Aerodynamic</a:t>
                </a:r>
                <a:r>
                  <a:rPr lang="tr-TR" sz="3550" spc="-125" dirty="0">
                    <a:latin typeface="Arial MT"/>
                    <a:cs typeface="Arial MT"/>
                  </a:rPr>
                  <a:t> </a:t>
                </a:r>
                <a:r>
                  <a:rPr lang="tr-TR" sz="3550" spc="-85" dirty="0">
                    <a:latin typeface="Arial MT"/>
                    <a:cs typeface="Arial MT"/>
                  </a:rPr>
                  <a:t>Drag</a:t>
                </a:r>
                <a:r>
                  <a:rPr lang="tr-TR" sz="3550" spc="-175" dirty="0">
                    <a:latin typeface="Arial MT"/>
                    <a:cs typeface="Arial MT"/>
                  </a:rPr>
                  <a:t> </a:t>
                </a:r>
                <a:r>
                  <a:rPr lang="tr-TR" sz="3550" spc="-20" dirty="0">
                    <a:latin typeface="Arial MT"/>
                    <a:cs typeface="Arial MT"/>
                  </a:rPr>
                  <a:t>(FD)</a:t>
                </a:r>
                <a:endParaRPr lang="tr-TR" sz="3550" dirty="0">
                  <a:latin typeface="Arial MT"/>
                  <a:cs typeface="Arial MT"/>
                </a:endParaRPr>
              </a:p>
              <a:p>
                <a:pPr marL="21590" marR="5080" indent="-9525">
                  <a:lnSpc>
                    <a:spcPts val="3200"/>
                  </a:lnSpc>
                  <a:spcBef>
                    <a:spcPts val="930"/>
                  </a:spcBef>
                </a:pPr>
                <a:r>
                  <a:rPr lang="tr-TR" sz="3250" spc="-65" dirty="0">
                    <a:latin typeface="Times New Roman"/>
                    <a:cs typeface="Times New Roman"/>
                  </a:rPr>
                  <a:t>The</a:t>
                </a:r>
                <a:r>
                  <a:rPr lang="tr-TR" sz="3250" spc="-110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85" dirty="0">
                    <a:latin typeface="Times New Roman"/>
                    <a:cs typeface="Times New Roman"/>
                  </a:rPr>
                  <a:t>resistive</a:t>
                </a:r>
                <a:r>
                  <a:rPr lang="tr-TR" sz="3250" spc="-20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85" dirty="0">
                    <a:latin typeface="Times New Roman"/>
                    <a:cs typeface="Times New Roman"/>
                  </a:rPr>
                  <a:t>force</a:t>
                </a:r>
                <a:r>
                  <a:rPr lang="tr-TR" sz="3250" spc="-120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60" dirty="0">
                    <a:latin typeface="Times New Roman"/>
                    <a:cs typeface="Times New Roman"/>
                  </a:rPr>
                  <a:t>from</a:t>
                </a:r>
                <a:r>
                  <a:rPr lang="tr-TR" sz="3250" spc="-135" dirty="0">
                    <a:latin typeface="Times New Roman"/>
                    <a:cs typeface="Times New Roman"/>
                  </a:rPr>
                  <a:t> </a:t>
                </a:r>
                <a:r>
                  <a:rPr lang="tr-TR" sz="3250" dirty="0">
                    <a:latin typeface="Times New Roman"/>
                    <a:cs typeface="Times New Roman"/>
                  </a:rPr>
                  <a:t>the</a:t>
                </a:r>
                <a:r>
                  <a:rPr lang="tr-TR" sz="3250" spc="-204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10" dirty="0">
                    <a:latin typeface="Times New Roman"/>
                    <a:cs typeface="Times New Roman"/>
                  </a:rPr>
                  <a:t>atmosphere, </a:t>
                </a:r>
                <a:r>
                  <a:rPr lang="tr-TR" sz="3250" spc="-40" dirty="0">
                    <a:latin typeface="Times New Roman"/>
                    <a:cs typeface="Times New Roman"/>
                  </a:rPr>
                  <a:t>proportional</a:t>
                </a:r>
                <a:r>
                  <a:rPr lang="tr-TR" sz="3250" spc="-16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35" dirty="0">
                    <a:latin typeface="Times New Roman"/>
                    <a:cs typeface="Times New Roman"/>
                  </a:rPr>
                  <a:t>to</a:t>
                </a:r>
                <a:r>
                  <a:rPr lang="tr-TR" sz="3250" spc="-18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30" dirty="0">
                    <a:latin typeface="Times New Roman"/>
                    <a:cs typeface="Times New Roman"/>
                  </a:rPr>
                  <a:t>air</a:t>
                </a:r>
                <a:r>
                  <a:rPr lang="tr-TR" sz="3250" spc="-17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45" dirty="0">
                    <a:latin typeface="Times New Roman"/>
                    <a:cs typeface="Times New Roman"/>
                  </a:rPr>
                  <a:t>density</a:t>
                </a:r>
                <a:r>
                  <a:rPr lang="tr-TR" sz="3250" spc="-13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20" dirty="0">
                    <a:latin typeface="Times New Roman"/>
                    <a:cs typeface="Times New Roman"/>
                  </a:rPr>
                  <a:t>and</a:t>
                </a:r>
                <a:r>
                  <a:rPr lang="tr-TR" sz="3250" spc="-14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20" dirty="0">
                    <a:latin typeface="Times New Roman"/>
                    <a:cs typeface="Times New Roman"/>
                  </a:rPr>
                  <a:t>the</a:t>
                </a:r>
                <a:r>
                  <a:rPr lang="tr-TR" sz="3250" spc="-18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25" dirty="0">
                    <a:latin typeface="Times New Roman"/>
                    <a:cs typeface="Times New Roman"/>
                  </a:rPr>
                  <a:t>square</a:t>
                </a:r>
                <a:r>
                  <a:rPr lang="tr-TR" sz="3250" spc="-110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25" dirty="0">
                    <a:latin typeface="Times New Roman"/>
                    <a:cs typeface="Times New Roman"/>
                  </a:rPr>
                  <a:t>of </a:t>
                </a:r>
                <a:r>
                  <a:rPr lang="tr-TR" sz="3250" spc="-45" dirty="0">
                    <a:latin typeface="Times New Roman"/>
                    <a:cs typeface="Times New Roman"/>
                  </a:rPr>
                  <a:t>velocity.</a:t>
                </a:r>
              </a:p>
              <a:p>
                <a:pPr marL="21590" marR="5080" indent="-9525">
                  <a:lnSpc>
                    <a:spcPts val="3200"/>
                  </a:lnSpc>
                  <a:spcBef>
                    <a:spcPts val="93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5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𝐹</m:t>
                          </m:r>
                        </m:e>
                        <m:sub>
                          <m: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𝑑</m:t>
                          </m:r>
                        </m:sub>
                      </m:sSub>
                      <m:r>
                        <a:rPr lang="ar-AE" sz="3250" i="1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ar-AE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tr-TR" sz="325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ar-AE" sz="3250" i="1">
                          <a:latin typeface="Cambria Math" panose="02040503050406030204" pitchFamily="18" charset="0"/>
                          <a:cs typeface="Times New Roman"/>
                        </a:rPr>
                        <m:t>𝜌</m:t>
                      </m:r>
                      <m:sSub>
                        <m:sSubPr>
                          <m:ctrlP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𝐶</m:t>
                          </m:r>
                        </m:e>
                        <m:sub>
                          <m: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𝑑</m:t>
                          </m:r>
                        </m:sub>
                      </m:sSub>
                      <m:r>
                        <a:rPr lang="ar-AE" sz="3250" i="1">
                          <a:latin typeface="Cambria Math" panose="02040503050406030204" pitchFamily="18" charset="0"/>
                          <a:cs typeface="Times New Roman"/>
                        </a:rPr>
                        <m:t>𝐴</m:t>
                      </m:r>
                      <m:sSup>
                        <m:sSupPr>
                          <m:ctrlP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  <m:t>𝑣</m:t>
                          </m:r>
                        </m:e>
                        <m:sup>
                          <m:r>
                            <a:rPr lang="ar-AE" sz="3250" i="1">
                              <a:latin typeface="Cambria Math" panose="02040503050406030204" pitchFamily="18" charset="0"/>
                              <a:cs typeface="Times New Roman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tr-TR" sz="3250" dirty="0">
                  <a:latin typeface="Times New Roman"/>
                  <a:cs typeface="Times New Roman"/>
                </a:endParaRPr>
              </a:p>
              <a:p>
                <a:pPr marL="21590" marR="5080" indent="-9525">
                  <a:lnSpc>
                    <a:spcPts val="3200"/>
                  </a:lnSpc>
                  <a:spcBef>
                    <a:spcPts val="930"/>
                  </a:spcBef>
                </a:pPr>
                <a:endParaRPr lang="tr-TR" sz="3250" i="1" dirty="0">
                  <a:latin typeface="Cambria Math" panose="02040503050406030204" pitchFamily="18" charset="0"/>
                  <a:cs typeface="Times New Roman"/>
                </a:endParaRPr>
              </a:p>
              <a:p>
                <a:pPr marL="21590" marR="5080" indent="-9525">
                  <a:lnSpc>
                    <a:spcPts val="3200"/>
                  </a:lnSpc>
                  <a:spcBef>
                    <a:spcPts val="93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50" i="1" smtClean="0">
                          <a:latin typeface="Cambria Math" panose="02040503050406030204" pitchFamily="18" charset="0"/>
                          <a:cs typeface="Times New Roman"/>
                        </a:rPr>
                        <m:t>𝜌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𝑃</m:t>
                      </m:r>
                      <m:r>
                        <m:rPr>
                          <m:lit/>
                        </m:rP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/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(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𝑅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∗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𝑇</m:t>
                      </m:r>
                      <m:r>
                        <a:rPr lang="tr-TR" sz="3250" b="0" i="1" smtClean="0">
                          <a:latin typeface="Cambria Math" panose="02040503050406030204" pitchFamily="18" charset="0"/>
                          <a:cs typeface="Times New Roman"/>
                        </a:rPr>
                        <m:t>)</m:t>
                      </m:r>
                    </m:oMath>
                  </m:oMathPara>
                </a14:m>
                <a:endParaRPr sz="325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047" y="2357268"/>
                <a:ext cx="7610391" cy="3282309"/>
              </a:xfrm>
              <a:prstGeom prst="rect">
                <a:avLst/>
              </a:prstGeom>
              <a:blipFill>
                <a:blip r:embed="rId4"/>
                <a:stretch>
                  <a:fillRect l="-3285" t="-297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>
              <a:xfrm>
                <a:off x="1041400" y="5762836"/>
                <a:ext cx="6141085" cy="3360535"/>
              </a:xfrm>
              <a:prstGeom prst="rect">
                <a:avLst/>
              </a:prstGeom>
            </p:spPr>
            <p:txBody>
              <a:bodyPr vert="horz" wrap="square" lIns="0" tIns="69215" rIns="0" bIns="0" rtlCol="0">
                <a:spAutoFit/>
              </a:bodyPr>
              <a:lstStyle/>
              <a:p>
                <a:pPr marL="20320">
                  <a:lnSpc>
                    <a:spcPct val="100000"/>
                  </a:lnSpc>
                  <a:spcBef>
                    <a:spcPts val="545"/>
                  </a:spcBef>
                </a:pPr>
                <a:r>
                  <a:rPr lang="tr-TR" sz="3300" dirty="0">
                    <a:latin typeface="Arial MT"/>
                    <a:cs typeface="Arial MT"/>
                  </a:rPr>
                  <a:t>Variable</a:t>
                </a:r>
                <a:r>
                  <a:rPr lang="tr-TR" sz="3300" spc="160" dirty="0">
                    <a:latin typeface="Arial MT"/>
                    <a:cs typeface="Arial MT"/>
                  </a:rPr>
                  <a:t> </a:t>
                </a:r>
                <a:r>
                  <a:rPr lang="tr-TR" sz="3300" spc="70" dirty="0">
                    <a:latin typeface="Arial MT"/>
                    <a:cs typeface="Arial MT"/>
                  </a:rPr>
                  <a:t>Gravity</a:t>
                </a:r>
                <a:r>
                  <a:rPr lang="tr-TR" sz="3300" spc="200" dirty="0">
                    <a:latin typeface="Arial MT"/>
                    <a:cs typeface="Arial MT"/>
                  </a:rPr>
                  <a:t> </a:t>
                </a:r>
                <a:r>
                  <a:rPr lang="tr-TR" sz="3300" spc="50" dirty="0">
                    <a:latin typeface="Arial MT"/>
                    <a:cs typeface="Arial MT"/>
                  </a:rPr>
                  <a:t>(gh)</a:t>
                </a:r>
                <a:endParaRPr lang="tr-TR" sz="3300" dirty="0">
                  <a:latin typeface="Arial MT"/>
                  <a:cs typeface="Arial MT"/>
                </a:endParaRPr>
              </a:p>
              <a:p>
                <a:pPr marL="12700">
                  <a:lnSpc>
                    <a:spcPts val="3329"/>
                  </a:lnSpc>
                  <a:spcBef>
                    <a:spcPts val="390"/>
                  </a:spcBef>
                </a:pPr>
                <a:r>
                  <a:rPr lang="tr-TR" sz="3050" spc="-55" dirty="0">
                    <a:latin typeface="Cambria"/>
                    <a:cs typeface="Cambria"/>
                  </a:rPr>
                  <a:t>Gravitational</a:t>
                </a:r>
                <a:r>
                  <a:rPr lang="tr-TR" sz="3050" spc="-30" dirty="0">
                    <a:latin typeface="Cambria"/>
                    <a:cs typeface="Cambria"/>
                  </a:rPr>
                  <a:t> </a:t>
                </a:r>
                <a:r>
                  <a:rPr lang="tr-TR" sz="3050" spc="-50" dirty="0">
                    <a:latin typeface="Cambria"/>
                    <a:cs typeface="Cambria"/>
                  </a:rPr>
                  <a:t>acceleration</a:t>
                </a:r>
                <a:r>
                  <a:rPr lang="tr-TR" sz="3050" spc="35" dirty="0">
                    <a:latin typeface="Cambria"/>
                    <a:cs typeface="Cambria"/>
                  </a:rPr>
                  <a:t> </a:t>
                </a:r>
                <a:r>
                  <a:rPr lang="tr-TR" sz="3050" spc="-65" dirty="0">
                    <a:latin typeface="Cambria"/>
                    <a:cs typeface="Cambria"/>
                  </a:rPr>
                  <a:t>adjusted</a:t>
                </a:r>
                <a:r>
                  <a:rPr lang="tr-TR" sz="3050" spc="-100" dirty="0">
                    <a:latin typeface="Cambria"/>
                    <a:cs typeface="Cambria"/>
                  </a:rPr>
                  <a:t> </a:t>
                </a:r>
                <a:r>
                  <a:rPr lang="tr-TR" sz="3050" spc="-25" dirty="0">
                    <a:latin typeface="Cambria"/>
                    <a:cs typeface="Cambria"/>
                  </a:rPr>
                  <a:t>for</a:t>
                </a:r>
                <a:endParaRPr lang="tr-TR" sz="3050" dirty="0">
                  <a:latin typeface="Cambria"/>
                  <a:cs typeface="Cambria"/>
                </a:endParaRPr>
              </a:p>
              <a:p>
                <a:pPr marL="20320">
                  <a:lnSpc>
                    <a:spcPts val="3570"/>
                  </a:lnSpc>
                </a:pPr>
                <a:r>
                  <a:rPr lang="tr-TR" sz="3250" spc="-25" dirty="0">
                    <a:latin typeface="Times New Roman"/>
                    <a:cs typeface="Times New Roman"/>
                  </a:rPr>
                  <a:t>altitude</a:t>
                </a:r>
                <a:r>
                  <a:rPr lang="tr-TR" sz="3250" spc="-135" dirty="0">
                    <a:latin typeface="Times New Roman"/>
                    <a:cs typeface="Times New Roman"/>
                  </a:rPr>
                  <a:t> </a:t>
                </a:r>
                <a:r>
                  <a:rPr lang="tr-TR" sz="3250" spc="-20" dirty="0">
                    <a:latin typeface="Times New Roman"/>
                    <a:cs typeface="Times New Roman"/>
                  </a:rPr>
                  <a:t>(h).</a:t>
                </a:r>
              </a:p>
              <a:p>
                <a:pPr marL="20320">
                  <a:lnSpc>
                    <a:spcPts val="3570"/>
                  </a:lnSpc>
                </a:pPr>
                <a:endParaRPr lang="tr-TR" sz="3250" spc="-20" dirty="0">
                  <a:latin typeface="Times New Roman"/>
                  <a:cs typeface="Times New Roman"/>
                </a:endParaRPr>
              </a:p>
              <a:p>
                <a:pPr marL="20320">
                  <a:lnSpc>
                    <a:spcPts val="3570"/>
                  </a:lnSpc>
                </a:pPr>
                <a:r>
                  <a:rPr lang="tr-TR" sz="3250" dirty="0">
                    <a:cs typeface="Times New Roman"/>
                  </a:rPr>
                  <a:t>	g</a:t>
                </a:r>
                <a:r>
                  <a:rPr lang="tr-TR" sz="3250" b="0" dirty="0">
                    <a:cs typeface="Times New Roman"/>
                  </a:rPr>
                  <a:t>(0)=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tr-TR" sz="325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r>
                          <a:rPr lang="tr-TR" sz="325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𝐺</m:t>
                        </m:r>
                        <m:r>
                          <a:rPr lang="tr-TR" sz="325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∗</m:t>
                        </m:r>
                        <m:sSub>
                          <m:sSubPr>
                            <m:ctrlPr>
                              <a:rPr lang="tr-TR" sz="325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tr-TR" sz="325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tr-TR" sz="325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tr-TR" sz="325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arth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tr-TR" sz="3250" b="0" i="1" smtClean="0">
                        <a:latin typeface="Cambria Math" panose="02040503050406030204" pitchFamily="18" charset="0"/>
                        <a:cs typeface="Times New Roman"/>
                      </a:rPr>
                      <m:t>/</m:t>
                    </m:r>
                    <m:sSup>
                      <m:sSupPr>
                        <m:ctrlPr>
                          <a:rPr lang="tr-TR" sz="325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tr-TR" sz="325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𝑟</m:t>
                        </m:r>
                      </m:e>
                      <m:sup>
                        <m:r>
                          <a:rPr lang="tr-TR" sz="325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endParaRPr lang="tr-TR" sz="3250" b="0" i="1" dirty="0">
                  <a:latin typeface="Cambria Math" panose="02040503050406030204" pitchFamily="18" charset="0"/>
                  <a:cs typeface="Times New Roman"/>
                </a:endParaRPr>
              </a:p>
              <a:p>
                <a:pPr marL="20320">
                  <a:lnSpc>
                    <a:spcPts val="3570"/>
                  </a:lnSpc>
                </a:pPr>
                <a:r>
                  <a:rPr lang="tr-TR" sz="3250" i="1" dirty="0">
                    <a:latin typeface="Cambria Math" panose="02040503050406030204" pitchFamily="18" charset="0"/>
                    <a:cs typeface="Times New Roman"/>
                  </a:rPr>
                  <a:t> </a:t>
                </a:r>
              </a:p>
              <a:p>
                <a:pPr marL="20320">
                  <a:lnSpc>
                    <a:spcPts val="3570"/>
                  </a:lnSpc>
                </a:pPr>
                <a:endParaRPr lang="ar-AE" sz="325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" y="5762836"/>
                <a:ext cx="6141085" cy="3360535"/>
              </a:xfrm>
              <a:prstGeom prst="rect">
                <a:avLst/>
              </a:prstGeom>
              <a:blipFill>
                <a:blip r:embed="rId5"/>
                <a:stretch>
                  <a:fillRect l="-3873" t="-1812" r="-327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9234853" y="6086678"/>
                <a:ext cx="6525895" cy="2105769"/>
              </a:xfrm>
              <a:prstGeom prst="rect">
                <a:avLst/>
              </a:prstGeom>
            </p:spPr>
            <p:txBody>
              <a:bodyPr vert="horz" wrap="square" lIns="0" tIns="53340" rIns="0" bIns="0" rtlCol="0">
                <a:spAutoFit/>
              </a:bodyPr>
              <a:lstStyle/>
              <a:p>
                <a:pPr marL="17145">
                  <a:lnSpc>
                    <a:spcPct val="100000"/>
                  </a:lnSpc>
                  <a:spcBef>
                    <a:spcPts val="420"/>
                  </a:spcBef>
                </a:pPr>
                <a:r>
                  <a:rPr lang="tr-TR" sz="3400" dirty="0">
                    <a:latin typeface="Arial MT"/>
                    <a:cs typeface="Arial MT"/>
                  </a:rPr>
                  <a:t>Kinematic</a:t>
                </a:r>
                <a:r>
                  <a:rPr lang="tr-TR" sz="3400" spc="390" dirty="0">
                    <a:latin typeface="Arial MT"/>
                    <a:cs typeface="Arial MT"/>
                  </a:rPr>
                  <a:t> </a:t>
                </a:r>
                <a:r>
                  <a:rPr lang="tr-TR" sz="3400" spc="-10" dirty="0">
                    <a:latin typeface="Arial MT"/>
                    <a:cs typeface="Arial MT"/>
                  </a:rPr>
                  <a:t>Updates</a:t>
                </a:r>
                <a:endParaRPr lang="tr-TR" sz="3400" dirty="0">
                  <a:latin typeface="Arial MT"/>
                  <a:cs typeface="Arial MT"/>
                </a:endParaRPr>
              </a:p>
              <a:p>
                <a:pPr marL="15875" marR="5080" indent="-3810">
                  <a:lnSpc>
                    <a:spcPts val="3200"/>
                  </a:lnSpc>
                  <a:spcBef>
                    <a:spcPts val="860"/>
                  </a:spcBef>
                </a:pPr>
                <a:r>
                  <a:rPr lang="tr-TR" sz="3100" spc="-100" dirty="0">
                    <a:latin typeface="Cambria"/>
                    <a:cs typeface="Cambria"/>
                  </a:rPr>
                  <a:t>Position</a:t>
                </a:r>
                <a:r>
                  <a:rPr lang="tr-TR" sz="3100" spc="-75" dirty="0">
                    <a:latin typeface="Cambria"/>
                    <a:cs typeface="Cambria"/>
                  </a:rPr>
                  <a:t> </a:t>
                </a:r>
                <a:r>
                  <a:rPr lang="tr-TR" sz="3100" spc="-65" dirty="0">
                    <a:latin typeface="Cambria"/>
                    <a:cs typeface="Cambria"/>
                  </a:rPr>
                  <a:t>and</a:t>
                </a:r>
                <a:r>
                  <a:rPr lang="tr-TR" sz="3100" spc="-75" dirty="0">
                    <a:latin typeface="Cambria"/>
                    <a:cs typeface="Cambria"/>
                  </a:rPr>
                  <a:t> </a:t>
                </a:r>
                <a:r>
                  <a:rPr lang="tr-TR" sz="3100" spc="-95" dirty="0">
                    <a:latin typeface="Cambria"/>
                    <a:cs typeface="Cambria"/>
                  </a:rPr>
                  <a:t>velocity</a:t>
                </a:r>
                <a:r>
                  <a:rPr lang="tr-TR" sz="3100" spc="-75" dirty="0">
                    <a:latin typeface="Cambria"/>
                    <a:cs typeface="Cambria"/>
                  </a:rPr>
                  <a:t> are</a:t>
                </a:r>
                <a:r>
                  <a:rPr lang="tr-TR" sz="3100" spc="-90" dirty="0">
                    <a:latin typeface="Cambria"/>
                    <a:cs typeface="Cambria"/>
                  </a:rPr>
                  <a:t> </a:t>
                </a:r>
                <a:r>
                  <a:rPr lang="tr-TR" sz="3100" spc="-120" dirty="0">
                    <a:latin typeface="Cambria"/>
                    <a:cs typeface="Cambria"/>
                  </a:rPr>
                  <a:t>updated</a:t>
                </a:r>
                <a:r>
                  <a:rPr lang="tr-TR" sz="3100" spc="75" dirty="0">
                    <a:latin typeface="Cambria"/>
                    <a:cs typeface="Cambria"/>
                  </a:rPr>
                  <a:t> </a:t>
                </a:r>
                <a:r>
                  <a:rPr lang="tr-TR" sz="3100" spc="-120" dirty="0">
                    <a:latin typeface="Cambria"/>
                    <a:cs typeface="Cambria"/>
                  </a:rPr>
                  <a:t>at</a:t>
                </a:r>
                <a:r>
                  <a:rPr lang="tr-TR" sz="3100" spc="-70" dirty="0">
                    <a:latin typeface="Cambria"/>
                    <a:cs typeface="Cambria"/>
                  </a:rPr>
                  <a:t> </a:t>
                </a:r>
                <a:r>
                  <a:rPr lang="tr-TR" sz="3100" spc="-20" dirty="0">
                    <a:latin typeface="Cambria"/>
                    <a:cs typeface="Cambria"/>
                  </a:rPr>
                  <a:t>each </a:t>
                </a:r>
                <a:r>
                  <a:rPr lang="tr-TR" sz="3100" spc="-55" dirty="0">
                    <a:latin typeface="Cambria"/>
                    <a:cs typeface="Cambria"/>
                  </a:rPr>
                  <a:t>time</a:t>
                </a:r>
                <a:r>
                  <a:rPr lang="tr-TR" sz="3100" spc="-105" dirty="0">
                    <a:latin typeface="Cambria"/>
                    <a:cs typeface="Cambria"/>
                  </a:rPr>
                  <a:t> </a:t>
                </a:r>
                <a:r>
                  <a:rPr lang="tr-TR" sz="3100" spc="-125" dirty="0">
                    <a:latin typeface="Cambria"/>
                    <a:cs typeface="Cambria"/>
                  </a:rPr>
                  <a:t>step</a:t>
                </a:r>
                <a:r>
                  <a:rPr lang="tr-TR" sz="3100" spc="-50" dirty="0">
                    <a:latin typeface="Cambria"/>
                    <a:cs typeface="Cambria"/>
                  </a:rPr>
                  <a:t> </a:t>
                </a:r>
                <a:r>
                  <a:rPr lang="tr-TR" sz="3100" spc="-70" dirty="0">
                    <a:latin typeface="Cambria"/>
                    <a:cs typeface="Cambria"/>
                  </a:rPr>
                  <a:t>using</a:t>
                </a:r>
                <a:r>
                  <a:rPr lang="tr-TR" sz="3100" spc="-85" dirty="0">
                    <a:latin typeface="Cambria"/>
                    <a:cs typeface="Cambria"/>
                  </a:rPr>
                  <a:t> </a:t>
                </a:r>
                <a:r>
                  <a:rPr lang="tr-TR" sz="3100" spc="-65" dirty="0">
                    <a:latin typeface="Cambria"/>
                    <a:cs typeface="Cambria"/>
                  </a:rPr>
                  <a:t>numerical</a:t>
                </a:r>
                <a:r>
                  <a:rPr lang="tr-TR" sz="3100" spc="-15" dirty="0">
                    <a:latin typeface="Cambria"/>
                    <a:cs typeface="Cambria"/>
                  </a:rPr>
                  <a:t> </a:t>
                </a:r>
                <a:r>
                  <a:rPr lang="tr-TR" sz="3100" spc="-10" dirty="0" err="1">
                    <a:latin typeface="Cambria"/>
                    <a:cs typeface="Cambria"/>
                  </a:rPr>
                  <a:t>integration</a:t>
                </a:r>
                <a:r>
                  <a:rPr lang="tr-TR" sz="3100" spc="-10" dirty="0">
                    <a:latin typeface="Cambria"/>
                    <a:cs typeface="Cambria"/>
                  </a:rPr>
                  <a:t>.</a:t>
                </a:r>
              </a:p>
              <a:p>
                <a:pPr marL="15875" marR="5080" indent="-3810">
                  <a:lnSpc>
                    <a:spcPts val="3200"/>
                  </a:lnSpc>
                  <a:spcBef>
                    <a:spcPts val="86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𝑣</m:t>
                        </m:r>
                      </m:e>
                      <m:sub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𝑖</m:t>
                        </m:r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+</m:t>
                        </m:r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1</m:t>
                        </m:r>
                      </m:sub>
                    </m:sSub>
                    <m:r>
                      <a:rPr lang="nn-NO" sz="3100" i="1" spc="-10">
                        <a:latin typeface="Cambria Math" panose="02040503050406030204" pitchFamily="18" charset="0"/>
                        <a:cs typeface="Cambria"/>
                      </a:rPr>
                      <m:t> = </m:t>
                    </m:r>
                    <m:sSub>
                      <m:sSubPr>
                        <m:ctrlP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𝑣</m:t>
                        </m:r>
                      </m:e>
                      <m:sub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𝑖</m:t>
                        </m:r>
                      </m:sub>
                    </m:sSub>
                    <m:r>
                      <a:rPr lang="nn-NO" sz="3100" i="1" spc="-10">
                        <a:latin typeface="Cambria Math" panose="02040503050406030204" pitchFamily="18" charset="0"/>
                        <a:cs typeface="Cambria"/>
                      </a:rPr>
                      <m:t> + (</m:t>
                    </m:r>
                    <m:f>
                      <m:fPr>
                        <m:ctrlP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n-NO" sz="3100" i="1" spc="-10">
                                <a:latin typeface="Cambria Math" panose="02040503050406030204" pitchFamily="18" charset="0"/>
                                <a:cs typeface="Cambria"/>
                              </a:rPr>
                            </m:ctrlPr>
                          </m:sSubPr>
                          <m:e>
                            <m:r>
                              <a:rPr lang="nn-NO" sz="3100" i="1" spc="-10">
                                <a:latin typeface="Cambria Math" panose="02040503050406030204" pitchFamily="18" charset="0"/>
                                <a:cs typeface="Cambria"/>
                              </a:rPr>
                              <m:t>𝐹</m:t>
                            </m:r>
                          </m:e>
                          <m:sub>
                            <m:r>
                              <a:rPr lang="nn-NO" sz="3100" i="1" spc="-10">
                                <a:latin typeface="Cambria Math" panose="02040503050406030204" pitchFamily="18" charset="0"/>
                                <a:cs typeface="Cambria"/>
                              </a:rPr>
                              <m:t>𝑛𝑒𝑡</m:t>
                            </m:r>
                          </m:sub>
                        </m:sSub>
                      </m:num>
                      <m:den>
                        <m:r>
                          <a:rPr lang="nn-NO" sz="3100" i="1" spc="-10">
                            <a:latin typeface="Cambria Math" panose="02040503050406030204" pitchFamily="18" charset="0"/>
                            <a:cs typeface="Cambria"/>
                          </a:rPr>
                          <m:t>𝑚</m:t>
                        </m:r>
                      </m:den>
                    </m:f>
                    <m:r>
                      <a:rPr lang="nn-NO" sz="3100" i="1" spc="-10">
                        <a:latin typeface="Cambria Math" panose="02040503050406030204" pitchFamily="18" charset="0"/>
                        <a:cs typeface="Cambria"/>
                      </a:rPr>
                      <m:t>) </m:t>
                    </m:r>
                    <m:r>
                      <a:rPr lang="nn-NO" sz="3100" i="1" spc="-10">
                        <a:latin typeface="Cambria Math" panose="02040503050406030204" pitchFamily="18" charset="0"/>
                        <a:cs typeface="Cambria"/>
                      </a:rPr>
                      <m:t>𝑑𝑡</m:t>
                    </m:r>
                  </m:oMath>
                </a14:m>
                <a:r>
                  <a:rPr lang="tr-TR" sz="3100" spc="-10" dirty="0">
                    <a:latin typeface="Cambria"/>
                    <a:cs typeface="Cambria"/>
                  </a:rPr>
                  <a:t> </a:t>
                </a: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853" y="6086678"/>
                <a:ext cx="6525895" cy="2105769"/>
              </a:xfrm>
              <a:prstGeom prst="rect">
                <a:avLst/>
              </a:prstGeom>
              <a:blipFill>
                <a:blip r:embed="rId6"/>
                <a:stretch>
                  <a:fillRect l="-3738" t="-3757" r="-420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2300" y="5537200"/>
            <a:ext cx="3721100" cy="133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1400" y="3238500"/>
            <a:ext cx="5334000" cy="4191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322300" y="4279900"/>
            <a:ext cx="3225800" cy="3441700"/>
            <a:chOff x="13322300" y="4279900"/>
            <a:chExt cx="3225800" cy="34417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90700" y="5029200"/>
              <a:ext cx="1435100" cy="2425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68400" y="4279900"/>
              <a:ext cx="1905000" cy="1054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49300" y="5334000"/>
              <a:ext cx="2844800" cy="571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22300" y="5943600"/>
              <a:ext cx="3225800" cy="1041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58900" y="6985000"/>
              <a:ext cx="2133600" cy="7366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63223" y="637469"/>
            <a:ext cx="10301605" cy="142494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9050" marR="5080" indent="-6985">
              <a:lnSpc>
                <a:spcPts val="5100"/>
              </a:lnSpc>
              <a:spcBef>
                <a:spcPts val="950"/>
              </a:spcBef>
            </a:pPr>
            <a:r>
              <a:rPr sz="4900" spc="-10" dirty="0">
                <a:solidFill>
                  <a:srgbClr val="051F34"/>
                </a:solidFill>
              </a:rPr>
              <a:t>The</a:t>
            </a:r>
            <a:r>
              <a:rPr sz="4900" spc="-390" dirty="0">
                <a:solidFill>
                  <a:srgbClr val="051F34"/>
                </a:solidFill>
              </a:rPr>
              <a:t> </a:t>
            </a:r>
            <a:r>
              <a:rPr sz="4900" spc="70" dirty="0">
                <a:solidFill>
                  <a:srgbClr val="05263F"/>
                </a:solidFill>
              </a:rPr>
              <a:t>Method:</a:t>
            </a:r>
            <a:r>
              <a:rPr sz="4900" spc="-355" dirty="0">
                <a:solidFill>
                  <a:srgbClr val="05263F"/>
                </a:solidFill>
              </a:rPr>
              <a:t> </a:t>
            </a:r>
            <a:r>
              <a:rPr sz="4900" spc="80" dirty="0">
                <a:solidFill>
                  <a:srgbClr val="08233F"/>
                </a:solidFill>
              </a:rPr>
              <a:t>Introducing</a:t>
            </a:r>
            <a:r>
              <a:rPr sz="4900" spc="-229" dirty="0">
                <a:solidFill>
                  <a:srgbClr val="08233F"/>
                </a:solidFill>
              </a:rPr>
              <a:t> </a:t>
            </a:r>
            <a:r>
              <a:rPr sz="4900" spc="55" dirty="0">
                <a:solidFill>
                  <a:srgbClr val="051D34"/>
                </a:solidFill>
              </a:rPr>
              <a:t>Uncertainty </a:t>
            </a:r>
            <a:r>
              <a:rPr sz="4900" dirty="0">
                <a:solidFill>
                  <a:srgbClr val="072441"/>
                </a:solidFill>
              </a:rPr>
              <a:t>via</a:t>
            </a:r>
            <a:r>
              <a:rPr sz="4900" spc="-345" dirty="0">
                <a:solidFill>
                  <a:srgbClr val="072441"/>
                </a:solidFill>
              </a:rPr>
              <a:t> </a:t>
            </a:r>
            <a:r>
              <a:rPr sz="4900" spc="50" dirty="0">
                <a:solidFill>
                  <a:srgbClr val="031D36"/>
                </a:solidFill>
              </a:rPr>
              <a:t>Monte</a:t>
            </a:r>
            <a:r>
              <a:rPr sz="4900" spc="-155" dirty="0">
                <a:solidFill>
                  <a:srgbClr val="031D36"/>
                </a:solidFill>
              </a:rPr>
              <a:t> </a:t>
            </a:r>
            <a:r>
              <a:rPr sz="4900" spc="-25" dirty="0">
                <a:solidFill>
                  <a:srgbClr val="0E2B48"/>
                </a:solidFill>
              </a:rPr>
              <a:t>Carlo</a:t>
            </a:r>
            <a:r>
              <a:rPr sz="4900" spc="-210" dirty="0">
                <a:solidFill>
                  <a:srgbClr val="0E2B48"/>
                </a:solidFill>
              </a:rPr>
              <a:t> </a:t>
            </a:r>
            <a:r>
              <a:rPr sz="4900" spc="-10" dirty="0">
                <a:solidFill>
                  <a:srgbClr val="0A263B"/>
                </a:solidFill>
              </a:rPr>
              <a:t>Simulation</a:t>
            </a:r>
            <a:endParaRPr sz="4900"/>
          </a:p>
        </p:txBody>
      </p:sp>
      <p:sp>
        <p:nvSpPr>
          <p:cNvPr id="17" name="object 17"/>
          <p:cNvSpPr txBox="1"/>
          <p:nvPr/>
        </p:nvSpPr>
        <p:spPr>
          <a:xfrm>
            <a:off x="15707030" y="9448326"/>
            <a:ext cx="123189" cy="222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2044" y="2512836"/>
            <a:ext cx="7362825" cy="66192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69240" marR="5080" indent="-257175">
              <a:lnSpc>
                <a:spcPct val="87600"/>
              </a:lnSpc>
              <a:spcBef>
                <a:spcPts val="595"/>
              </a:spcBef>
              <a:buChar char="•"/>
              <a:tabLst>
                <a:tab pos="269240" algn="l"/>
                <a:tab pos="281305" algn="l"/>
              </a:tabLst>
            </a:pPr>
            <a:r>
              <a:rPr sz="3250" dirty="0">
                <a:latin typeface="Cambria"/>
                <a:cs typeface="Cambria"/>
              </a:rPr>
              <a:t>	</a:t>
            </a:r>
            <a:r>
              <a:rPr sz="3250" spc="-150" dirty="0">
                <a:latin typeface="Cambria"/>
                <a:cs typeface="Cambria"/>
              </a:rPr>
              <a:t>A</a:t>
            </a:r>
            <a:r>
              <a:rPr sz="3250" spc="-285" dirty="0">
                <a:latin typeface="Cambria"/>
                <a:cs typeface="Cambria"/>
              </a:rPr>
              <a:t> </a:t>
            </a:r>
            <a:r>
              <a:rPr sz="3250" spc="-170" dirty="0">
                <a:latin typeface="Cambria"/>
                <a:cs typeface="Cambria"/>
              </a:rPr>
              <a:t>Monte</a:t>
            </a:r>
            <a:r>
              <a:rPr sz="3250" spc="-120" dirty="0">
                <a:latin typeface="Cambria"/>
                <a:cs typeface="Cambria"/>
              </a:rPr>
              <a:t> </a:t>
            </a:r>
            <a:r>
              <a:rPr sz="3250" spc="-85" dirty="0">
                <a:latin typeface="Cambria"/>
                <a:cs typeface="Cambria"/>
              </a:rPr>
              <a:t>Carlo</a:t>
            </a:r>
            <a:r>
              <a:rPr sz="3250" spc="-225" dirty="0">
                <a:latin typeface="Cambria"/>
                <a:cs typeface="Cambria"/>
              </a:rPr>
              <a:t> </a:t>
            </a:r>
            <a:r>
              <a:rPr sz="3250" spc="-114" dirty="0">
                <a:latin typeface="Cambria"/>
                <a:cs typeface="Cambria"/>
              </a:rPr>
              <a:t>Simulation</a:t>
            </a:r>
            <a:r>
              <a:rPr sz="3250" spc="50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is</a:t>
            </a:r>
            <a:r>
              <a:rPr sz="3250" spc="-140" dirty="0">
                <a:latin typeface="Cambria"/>
                <a:cs typeface="Cambria"/>
              </a:rPr>
              <a:t> </a:t>
            </a:r>
            <a:r>
              <a:rPr sz="3250" spc="-135" dirty="0">
                <a:latin typeface="Cambria"/>
                <a:cs typeface="Cambria"/>
              </a:rPr>
              <a:t>a</a:t>
            </a:r>
            <a:r>
              <a:rPr sz="3250" spc="-225" dirty="0">
                <a:latin typeface="Cambria"/>
                <a:cs typeface="Cambria"/>
              </a:rPr>
              <a:t> </a:t>
            </a:r>
            <a:r>
              <a:rPr sz="3250" spc="-175" dirty="0">
                <a:latin typeface="Cambria"/>
                <a:cs typeface="Cambria"/>
              </a:rPr>
              <a:t>computational </a:t>
            </a:r>
            <a:r>
              <a:rPr sz="3250" spc="-180" dirty="0">
                <a:latin typeface="Cambria"/>
                <a:cs typeface="Cambria"/>
              </a:rPr>
              <a:t>algorithm</a:t>
            </a:r>
            <a:r>
              <a:rPr sz="3250" spc="110" dirty="0">
                <a:latin typeface="Cambria"/>
                <a:cs typeface="Cambria"/>
              </a:rPr>
              <a:t> </a:t>
            </a:r>
            <a:r>
              <a:rPr sz="3250" spc="-200" dirty="0">
                <a:latin typeface="Cambria"/>
                <a:cs typeface="Cambria"/>
              </a:rPr>
              <a:t>that</a:t>
            </a:r>
            <a:r>
              <a:rPr sz="3250" spc="10" dirty="0">
                <a:latin typeface="Cambria"/>
                <a:cs typeface="Cambria"/>
              </a:rPr>
              <a:t> </a:t>
            </a:r>
            <a:r>
              <a:rPr sz="3250" spc="-165" dirty="0">
                <a:latin typeface="Cambria"/>
                <a:cs typeface="Cambria"/>
              </a:rPr>
              <a:t>relies</a:t>
            </a:r>
            <a:r>
              <a:rPr sz="3250" spc="-30" dirty="0">
                <a:latin typeface="Cambria"/>
                <a:cs typeface="Cambria"/>
              </a:rPr>
              <a:t> </a:t>
            </a:r>
            <a:r>
              <a:rPr sz="3250" spc="-185" dirty="0">
                <a:latin typeface="Cambria"/>
                <a:cs typeface="Cambria"/>
              </a:rPr>
              <a:t>on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215" dirty="0">
                <a:latin typeface="Cambria"/>
                <a:cs typeface="Cambria"/>
              </a:rPr>
              <a:t>repeated</a:t>
            </a:r>
            <a:r>
              <a:rPr sz="3250" spc="-20" dirty="0">
                <a:latin typeface="Cambria"/>
                <a:cs typeface="Cambria"/>
              </a:rPr>
              <a:t> </a:t>
            </a:r>
            <a:r>
              <a:rPr sz="3250" spc="-45" dirty="0">
                <a:latin typeface="Cambria"/>
                <a:cs typeface="Cambria"/>
              </a:rPr>
              <a:t>random </a:t>
            </a:r>
            <a:r>
              <a:rPr sz="3200" spc="-160" dirty="0">
                <a:latin typeface="Cambria"/>
                <a:cs typeface="Cambria"/>
              </a:rPr>
              <a:t>sampling</a:t>
            </a:r>
            <a:r>
              <a:rPr sz="3200" spc="125" dirty="0">
                <a:latin typeface="Cambria"/>
                <a:cs typeface="Cambria"/>
              </a:rPr>
              <a:t> </a:t>
            </a:r>
            <a:r>
              <a:rPr sz="3200" spc="-190" dirty="0">
                <a:latin typeface="Cambria"/>
                <a:cs typeface="Cambria"/>
              </a:rPr>
              <a:t>to</a:t>
            </a:r>
            <a:r>
              <a:rPr sz="3200" spc="-55" dirty="0">
                <a:latin typeface="Cambria"/>
                <a:cs typeface="Cambria"/>
              </a:rPr>
              <a:t> </a:t>
            </a:r>
            <a:r>
              <a:rPr sz="3200" spc="-175" dirty="0">
                <a:latin typeface="Cambria"/>
                <a:cs typeface="Cambria"/>
              </a:rPr>
              <a:t>obtain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numerical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results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and </a:t>
            </a:r>
            <a:r>
              <a:rPr sz="3200" spc="-180" dirty="0">
                <a:latin typeface="Cambria"/>
                <a:cs typeface="Cambria"/>
              </a:rPr>
              <a:t>understand</a:t>
            </a:r>
            <a:r>
              <a:rPr sz="3200" spc="145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the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175" dirty="0">
                <a:latin typeface="Cambria"/>
                <a:cs typeface="Cambria"/>
              </a:rPr>
              <a:t>impact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45" dirty="0">
                <a:latin typeface="Cambria"/>
                <a:cs typeface="Cambria"/>
              </a:rPr>
              <a:t>of</a:t>
            </a:r>
            <a:r>
              <a:rPr sz="3200" spc="-165" dirty="0">
                <a:latin typeface="Cambria"/>
                <a:cs typeface="Cambria"/>
              </a:rPr>
              <a:t> </a:t>
            </a:r>
            <a:r>
              <a:rPr sz="3200" spc="-65" dirty="0">
                <a:latin typeface="Cambria"/>
                <a:cs typeface="Cambria"/>
              </a:rPr>
              <a:t>uncertainty.</a:t>
            </a:r>
            <a:endParaRPr sz="3200">
              <a:latin typeface="Cambria"/>
              <a:cs typeface="Cambria"/>
            </a:endParaRPr>
          </a:p>
          <a:p>
            <a:pPr marL="267970" marR="342265" indent="-255904">
              <a:lnSpc>
                <a:spcPts val="3400"/>
              </a:lnSpc>
              <a:spcBef>
                <a:spcPts val="1490"/>
              </a:spcBef>
              <a:buChar char="•"/>
              <a:tabLst>
                <a:tab pos="267970" algn="l"/>
                <a:tab pos="271145" algn="l"/>
              </a:tabLst>
            </a:pPr>
            <a:r>
              <a:rPr sz="3250" dirty="0">
                <a:latin typeface="Cambria"/>
                <a:cs typeface="Cambria"/>
              </a:rPr>
              <a:t>	</a:t>
            </a:r>
            <a:r>
              <a:rPr sz="3250" spc="-190" dirty="0">
                <a:latin typeface="Cambria"/>
                <a:cs typeface="Cambria"/>
              </a:rPr>
              <a:t>Instead</a:t>
            </a:r>
            <a:r>
              <a:rPr sz="3250" spc="-15" dirty="0">
                <a:latin typeface="Cambria"/>
                <a:cs typeface="Cambria"/>
              </a:rPr>
              <a:t> </a:t>
            </a:r>
            <a:r>
              <a:rPr sz="3250" spc="-30" dirty="0">
                <a:latin typeface="Cambria"/>
                <a:cs typeface="Cambria"/>
              </a:rPr>
              <a:t>of</a:t>
            </a:r>
            <a:r>
              <a:rPr sz="3250" spc="-85" dirty="0">
                <a:latin typeface="Cambria"/>
                <a:cs typeface="Cambria"/>
              </a:rPr>
              <a:t> </a:t>
            </a:r>
            <a:r>
              <a:rPr sz="3250" spc="-135" dirty="0">
                <a:latin typeface="Cambria"/>
                <a:cs typeface="Cambria"/>
              </a:rPr>
              <a:t>a</a:t>
            </a:r>
            <a:r>
              <a:rPr sz="3250" spc="-90" dirty="0">
                <a:latin typeface="Cambria"/>
                <a:cs typeface="Cambria"/>
              </a:rPr>
              <a:t> </a:t>
            </a:r>
            <a:r>
              <a:rPr sz="3250" spc="-155" dirty="0">
                <a:latin typeface="Cambria"/>
                <a:cs typeface="Cambria"/>
              </a:rPr>
              <a:t>single</a:t>
            </a:r>
            <a:r>
              <a:rPr sz="3250" spc="10" dirty="0">
                <a:latin typeface="Cambria"/>
                <a:cs typeface="Cambria"/>
              </a:rPr>
              <a:t> </a:t>
            </a:r>
            <a:r>
              <a:rPr sz="3250" spc="-195" dirty="0">
                <a:latin typeface="Cambria"/>
                <a:cs typeface="Cambria"/>
              </a:rPr>
              <a:t>run</a:t>
            </a:r>
            <a:r>
              <a:rPr sz="3250" spc="-50" dirty="0">
                <a:latin typeface="Cambria"/>
                <a:cs typeface="Cambria"/>
              </a:rPr>
              <a:t> </a:t>
            </a:r>
            <a:r>
              <a:rPr sz="3250" spc="-215" dirty="0">
                <a:latin typeface="Cambria"/>
                <a:cs typeface="Cambria"/>
              </a:rPr>
              <a:t>with</a:t>
            </a:r>
            <a:r>
              <a:rPr sz="3250" spc="5" dirty="0">
                <a:latin typeface="Cambria"/>
                <a:cs typeface="Cambria"/>
              </a:rPr>
              <a:t> </a:t>
            </a:r>
            <a:r>
              <a:rPr sz="3250" spc="-70" dirty="0">
                <a:latin typeface="Cambria"/>
                <a:cs typeface="Cambria"/>
              </a:rPr>
              <a:t>average </a:t>
            </a:r>
            <a:r>
              <a:rPr sz="3250" spc="-135" dirty="0">
                <a:latin typeface="Cambria"/>
                <a:cs typeface="Cambria"/>
              </a:rPr>
              <a:t>conditions,</a:t>
            </a:r>
            <a:r>
              <a:rPr sz="3250" spc="75" dirty="0">
                <a:latin typeface="Cambria"/>
                <a:cs typeface="Cambria"/>
              </a:rPr>
              <a:t> </a:t>
            </a:r>
            <a:r>
              <a:rPr sz="3250" spc="-335" dirty="0">
                <a:latin typeface="Cambria"/>
                <a:cs typeface="Cambria"/>
              </a:rPr>
              <a:t>we</a:t>
            </a:r>
            <a:r>
              <a:rPr sz="3250" spc="-45" dirty="0">
                <a:latin typeface="Cambria"/>
                <a:cs typeface="Cambria"/>
              </a:rPr>
              <a:t> </a:t>
            </a:r>
            <a:r>
              <a:rPr sz="3250" spc="-204" dirty="0">
                <a:latin typeface="Cambria"/>
                <a:cs typeface="Cambria"/>
              </a:rPr>
              <a:t>perform</a:t>
            </a:r>
            <a:r>
              <a:rPr sz="3250" spc="30" dirty="0">
                <a:latin typeface="Cambria"/>
                <a:cs typeface="Cambria"/>
              </a:rPr>
              <a:t> </a:t>
            </a:r>
            <a:r>
              <a:rPr sz="3250" spc="-200" dirty="0">
                <a:latin typeface="Cambria"/>
                <a:cs typeface="Cambria"/>
              </a:rPr>
              <a:t>2,000</a:t>
            </a:r>
            <a:r>
              <a:rPr sz="3250" spc="-190" dirty="0">
                <a:latin typeface="Cambria"/>
                <a:cs typeface="Cambria"/>
              </a:rPr>
              <a:t> </a:t>
            </a:r>
            <a:r>
              <a:rPr sz="3250" spc="-135" dirty="0">
                <a:latin typeface="Cambria"/>
                <a:cs typeface="Cambria"/>
              </a:rPr>
              <a:t>independent </a:t>
            </a:r>
            <a:r>
              <a:rPr sz="3250" spc="-80" dirty="0">
                <a:latin typeface="Cambria"/>
                <a:cs typeface="Cambria"/>
              </a:rPr>
              <a:t>flight</a:t>
            </a:r>
            <a:r>
              <a:rPr sz="3250" spc="-60" dirty="0">
                <a:latin typeface="Cambria"/>
                <a:cs typeface="Cambria"/>
              </a:rPr>
              <a:t> </a:t>
            </a:r>
            <a:r>
              <a:rPr sz="3250" spc="-35" dirty="0">
                <a:latin typeface="Cambria"/>
                <a:cs typeface="Cambria"/>
              </a:rPr>
              <a:t>iterations.</a:t>
            </a:r>
            <a:endParaRPr sz="3250">
              <a:latin typeface="Cambria"/>
              <a:cs typeface="Cambria"/>
            </a:endParaRPr>
          </a:p>
          <a:p>
            <a:pPr marL="258445" marR="1059180" indent="-245745">
              <a:lnSpc>
                <a:spcPct val="87000"/>
              </a:lnSpc>
              <a:spcBef>
                <a:spcPts val="1370"/>
              </a:spcBef>
              <a:buChar char="•"/>
              <a:tabLst>
                <a:tab pos="268605" algn="l"/>
              </a:tabLst>
            </a:pPr>
            <a:r>
              <a:rPr sz="3200" spc="-114" dirty="0">
                <a:latin typeface="Cambria"/>
                <a:cs typeface="Cambria"/>
              </a:rPr>
              <a:t>Each</a:t>
            </a:r>
            <a:r>
              <a:rPr sz="3200" spc="-6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iteration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uses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spc="-110" dirty="0">
                <a:latin typeface="Cambria"/>
                <a:cs typeface="Cambria"/>
              </a:rPr>
              <a:t>a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35" dirty="0">
                <a:latin typeface="Cambria"/>
                <a:cs typeface="Cambria"/>
              </a:rPr>
              <a:t>slightly</a:t>
            </a:r>
            <a:r>
              <a:rPr sz="3200" spc="100" dirty="0">
                <a:latin typeface="Cambria"/>
                <a:cs typeface="Cambria"/>
              </a:rPr>
              <a:t> </a:t>
            </a:r>
            <a:r>
              <a:rPr sz="3200" spc="-100" dirty="0">
                <a:latin typeface="Cambria"/>
                <a:cs typeface="Cambria"/>
              </a:rPr>
              <a:t>different, 	</a:t>
            </a:r>
            <a:r>
              <a:rPr sz="3250" spc="-200" dirty="0">
                <a:latin typeface="Cambria"/>
                <a:cs typeface="Cambria"/>
              </a:rPr>
              <a:t>randomly</a:t>
            </a:r>
            <a:r>
              <a:rPr sz="3250" spc="114" dirty="0">
                <a:latin typeface="Cambria"/>
                <a:cs typeface="Cambria"/>
              </a:rPr>
              <a:t> </a:t>
            </a:r>
            <a:r>
              <a:rPr sz="3250" spc="-190" dirty="0">
                <a:latin typeface="Cambria"/>
                <a:cs typeface="Cambria"/>
              </a:rPr>
              <a:t>generated</a:t>
            </a:r>
            <a:r>
              <a:rPr sz="3250" spc="20" dirty="0">
                <a:latin typeface="Cambria"/>
                <a:cs typeface="Cambria"/>
              </a:rPr>
              <a:t> </a:t>
            </a:r>
            <a:r>
              <a:rPr sz="3250" spc="-229" dirty="0">
                <a:latin typeface="Cambria"/>
                <a:cs typeface="Cambria"/>
              </a:rPr>
              <a:t>set</a:t>
            </a:r>
            <a:r>
              <a:rPr sz="3250" spc="25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of</a:t>
            </a:r>
            <a:r>
              <a:rPr sz="3250" spc="-114" dirty="0">
                <a:latin typeface="Cambria"/>
                <a:cs typeface="Cambria"/>
              </a:rPr>
              <a:t> </a:t>
            </a:r>
            <a:r>
              <a:rPr sz="3250" spc="-10" dirty="0">
                <a:latin typeface="Cambria"/>
                <a:cs typeface="Cambria"/>
              </a:rPr>
              <a:t>initial 	</a:t>
            </a:r>
            <a:r>
              <a:rPr sz="3100" spc="-90" dirty="0">
                <a:latin typeface="Cambria"/>
                <a:cs typeface="Cambria"/>
              </a:rPr>
              <a:t>atmospheric</a:t>
            </a:r>
            <a:r>
              <a:rPr sz="3100" spc="-6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conditions.</a:t>
            </a:r>
            <a:endParaRPr sz="3100">
              <a:latin typeface="Cambria"/>
              <a:cs typeface="Cambria"/>
            </a:endParaRPr>
          </a:p>
          <a:p>
            <a:pPr marL="269240" marR="297815" indent="-257175">
              <a:lnSpc>
                <a:spcPct val="85500"/>
              </a:lnSpc>
              <a:spcBef>
                <a:spcPts val="1495"/>
              </a:spcBef>
              <a:buChar char="•"/>
              <a:tabLst>
                <a:tab pos="275590" algn="l"/>
              </a:tabLst>
            </a:pPr>
            <a:r>
              <a:rPr sz="3250" spc="-160" dirty="0">
                <a:latin typeface="Cambria"/>
                <a:cs typeface="Cambria"/>
              </a:rPr>
              <a:t>This</a:t>
            </a:r>
            <a:r>
              <a:rPr sz="3250" spc="-60" dirty="0">
                <a:latin typeface="Cambria"/>
                <a:cs typeface="Cambria"/>
              </a:rPr>
              <a:t> </a:t>
            </a:r>
            <a:r>
              <a:rPr sz="3250" spc="-170" dirty="0">
                <a:latin typeface="Cambria"/>
                <a:cs typeface="Cambria"/>
              </a:rPr>
              <a:t>process</a:t>
            </a:r>
            <a:r>
              <a:rPr sz="3250" spc="40" dirty="0">
                <a:latin typeface="Cambria"/>
                <a:cs typeface="Cambria"/>
              </a:rPr>
              <a:t> </a:t>
            </a:r>
            <a:r>
              <a:rPr sz="3250" spc="-195" dirty="0">
                <a:latin typeface="Cambria"/>
                <a:cs typeface="Cambria"/>
              </a:rPr>
              <a:t>allows</a:t>
            </a:r>
            <a:r>
              <a:rPr sz="3250" spc="60" dirty="0">
                <a:latin typeface="Cambria"/>
                <a:cs typeface="Cambria"/>
              </a:rPr>
              <a:t> </a:t>
            </a:r>
            <a:r>
              <a:rPr sz="3250" spc="-170" dirty="0">
                <a:latin typeface="Cambria"/>
                <a:cs typeface="Cambria"/>
              </a:rPr>
              <a:t>us</a:t>
            </a:r>
            <a:r>
              <a:rPr sz="3250" spc="-140" dirty="0">
                <a:latin typeface="Cambria"/>
                <a:cs typeface="Cambria"/>
              </a:rPr>
              <a:t> </a:t>
            </a:r>
            <a:r>
              <a:rPr sz="3250" spc="-150" dirty="0">
                <a:latin typeface="Cambria"/>
                <a:cs typeface="Cambria"/>
              </a:rPr>
              <a:t>to</a:t>
            </a:r>
            <a:r>
              <a:rPr sz="3250" spc="-80" dirty="0">
                <a:latin typeface="Cambria"/>
                <a:cs typeface="Cambria"/>
              </a:rPr>
              <a:t> </a:t>
            </a:r>
            <a:r>
              <a:rPr sz="3250" spc="-170" dirty="0">
                <a:latin typeface="Cambria"/>
                <a:cs typeface="Cambria"/>
              </a:rPr>
              <a:t>build</a:t>
            </a:r>
            <a:r>
              <a:rPr sz="3250" spc="-5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a</a:t>
            </a:r>
            <a:r>
              <a:rPr sz="3250" spc="-225" dirty="0">
                <a:latin typeface="Cambria"/>
                <a:cs typeface="Cambria"/>
              </a:rPr>
              <a:t> </a:t>
            </a:r>
            <a:r>
              <a:rPr sz="3250" spc="-60" dirty="0">
                <a:latin typeface="Cambria"/>
                <a:cs typeface="Cambria"/>
              </a:rPr>
              <a:t>statistical 	</a:t>
            </a:r>
            <a:r>
              <a:rPr sz="3250" spc="-165" dirty="0">
                <a:latin typeface="Cambria"/>
                <a:cs typeface="Cambria"/>
              </a:rPr>
              <a:t>distribution</a:t>
            </a:r>
            <a:r>
              <a:rPr sz="3250" spc="25" dirty="0">
                <a:latin typeface="Cambria"/>
                <a:cs typeface="Cambria"/>
              </a:rPr>
              <a:t> </a:t>
            </a:r>
            <a:r>
              <a:rPr sz="3250" spc="-30" dirty="0">
                <a:latin typeface="Cambria"/>
                <a:cs typeface="Cambria"/>
              </a:rPr>
              <a:t>of</a:t>
            </a:r>
            <a:r>
              <a:rPr sz="3250" spc="-150" dirty="0">
                <a:latin typeface="Cambria"/>
                <a:cs typeface="Cambria"/>
              </a:rPr>
              <a:t> </a:t>
            </a:r>
            <a:r>
              <a:rPr sz="3250" spc="-105" dirty="0">
                <a:latin typeface="Cambria"/>
                <a:cs typeface="Cambria"/>
              </a:rPr>
              <a:t>all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165" dirty="0">
                <a:latin typeface="Cambria"/>
                <a:cs typeface="Cambria"/>
              </a:rPr>
              <a:t>possible</a:t>
            </a:r>
            <a:r>
              <a:rPr sz="3250" spc="-15" dirty="0">
                <a:latin typeface="Cambria"/>
                <a:cs typeface="Cambria"/>
              </a:rPr>
              <a:t> </a:t>
            </a:r>
            <a:r>
              <a:rPr sz="3250" spc="-45" dirty="0">
                <a:latin typeface="Cambria"/>
                <a:cs typeface="Cambria"/>
              </a:rPr>
              <a:t>outcomes, 	</a:t>
            </a:r>
            <a:r>
              <a:rPr sz="3250" spc="-160" dirty="0">
                <a:latin typeface="Cambria"/>
                <a:cs typeface="Cambria"/>
              </a:rPr>
              <a:t>transforming</a:t>
            </a:r>
            <a:r>
              <a:rPr sz="3250" spc="60" dirty="0">
                <a:latin typeface="Cambria"/>
                <a:cs typeface="Cambria"/>
              </a:rPr>
              <a:t> </a:t>
            </a:r>
            <a:r>
              <a:rPr sz="3250" spc="-135" dirty="0">
                <a:latin typeface="Cambria"/>
                <a:cs typeface="Cambria"/>
              </a:rPr>
              <a:t>a</a:t>
            </a:r>
            <a:r>
              <a:rPr sz="3250" spc="-204" dirty="0">
                <a:latin typeface="Cambria"/>
                <a:cs typeface="Cambria"/>
              </a:rPr>
              <a:t> </a:t>
            </a:r>
            <a:r>
              <a:rPr sz="3250" spc="-130" dirty="0">
                <a:latin typeface="Cambria"/>
                <a:cs typeface="Cambria"/>
              </a:rPr>
              <a:t>single</a:t>
            </a:r>
            <a:r>
              <a:rPr sz="3250" spc="-35" dirty="0">
                <a:latin typeface="Cambria"/>
                <a:cs typeface="Cambria"/>
              </a:rPr>
              <a:t> </a:t>
            </a:r>
            <a:r>
              <a:rPr sz="3250" spc="-160" dirty="0">
                <a:latin typeface="Cambria"/>
                <a:cs typeface="Cambria"/>
              </a:rPr>
              <a:t>point</a:t>
            </a:r>
            <a:r>
              <a:rPr sz="3250" spc="90" dirty="0">
                <a:latin typeface="Cambria"/>
                <a:cs typeface="Cambria"/>
              </a:rPr>
              <a:t> </a:t>
            </a:r>
            <a:r>
              <a:rPr sz="3250" spc="-170" dirty="0">
                <a:latin typeface="Cambria"/>
                <a:cs typeface="Cambria"/>
              </a:rPr>
              <a:t>prediction</a:t>
            </a:r>
            <a:r>
              <a:rPr sz="3250" spc="-15" dirty="0">
                <a:latin typeface="Cambria"/>
                <a:cs typeface="Cambria"/>
              </a:rPr>
              <a:t> </a:t>
            </a:r>
            <a:r>
              <a:rPr sz="3250" spc="-50" dirty="0">
                <a:latin typeface="Cambria"/>
                <a:cs typeface="Cambria"/>
              </a:rPr>
              <a:t>into 	</a:t>
            </a:r>
            <a:r>
              <a:rPr sz="3250" spc="-130" dirty="0">
                <a:latin typeface="Cambria"/>
                <a:cs typeface="Cambria"/>
              </a:rPr>
              <a:t>a</a:t>
            </a:r>
            <a:r>
              <a:rPr sz="3250" spc="-175" dirty="0">
                <a:latin typeface="Cambria"/>
                <a:cs typeface="Cambria"/>
              </a:rPr>
              <a:t> </a:t>
            </a:r>
            <a:r>
              <a:rPr sz="3250" spc="-145" dirty="0">
                <a:latin typeface="Cambria"/>
                <a:cs typeface="Cambria"/>
              </a:rPr>
              <a:t>probabilistic</a:t>
            </a:r>
            <a:r>
              <a:rPr sz="3250" spc="45" dirty="0">
                <a:latin typeface="Cambria"/>
                <a:cs typeface="Cambria"/>
              </a:rPr>
              <a:t> </a:t>
            </a:r>
            <a:r>
              <a:rPr sz="3250" spc="-50" dirty="0">
                <a:latin typeface="Cambria"/>
                <a:cs typeface="Cambria"/>
              </a:rPr>
              <a:t>landscape.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45421" y="2474030"/>
            <a:ext cx="78613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70" dirty="0">
                <a:latin typeface="Cambria"/>
                <a:cs typeface="Cambria"/>
              </a:rPr>
              <a:t>Initial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28237" y="2810580"/>
            <a:ext cx="139509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05" dirty="0">
                <a:latin typeface="Cambria"/>
                <a:cs typeface="Cambria"/>
              </a:rPr>
              <a:t>Conditions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61678" y="2810580"/>
            <a:ext cx="235585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05" dirty="0">
                <a:latin typeface="Cambria"/>
                <a:cs typeface="Cambria"/>
              </a:rPr>
              <a:t>Deterministic</a:t>
            </a:r>
            <a:r>
              <a:rPr sz="2550" spc="105" dirty="0">
                <a:latin typeface="Cambria"/>
                <a:cs typeface="Cambria"/>
              </a:rPr>
              <a:t> </a:t>
            </a:r>
            <a:r>
              <a:rPr sz="2550" spc="-70" dirty="0">
                <a:latin typeface="Cambria"/>
                <a:cs typeface="Cambria"/>
              </a:rPr>
              <a:t>Run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40866" y="7584369"/>
            <a:ext cx="1605915" cy="742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715"/>
              </a:lnSpc>
              <a:spcBef>
                <a:spcPts val="130"/>
              </a:spcBef>
            </a:pPr>
            <a:r>
              <a:rPr sz="2400" dirty="0">
                <a:latin typeface="Cambria"/>
                <a:cs typeface="Cambria"/>
              </a:rPr>
              <a:t>Monte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Carlo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ts val="2895"/>
              </a:lnSpc>
            </a:pPr>
            <a:r>
              <a:rPr sz="2550" spc="-20" dirty="0">
                <a:latin typeface="Cambria"/>
                <a:cs typeface="Cambria"/>
              </a:rPr>
              <a:t>Runs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18501" y="8332610"/>
            <a:ext cx="1599565" cy="77089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77800" marR="5080" indent="-165735">
              <a:lnSpc>
                <a:spcPts val="2700"/>
              </a:lnSpc>
              <a:spcBef>
                <a:spcPts val="575"/>
              </a:spcBef>
            </a:pPr>
            <a:r>
              <a:rPr sz="2600" spc="-140" dirty="0">
                <a:latin typeface="Cambria"/>
                <a:cs typeface="Cambria"/>
              </a:rPr>
              <a:t>Probabilistic </a:t>
            </a:r>
            <a:r>
              <a:rPr sz="2600" spc="-40" dirty="0">
                <a:latin typeface="Cambria"/>
                <a:cs typeface="Cambria"/>
              </a:rPr>
              <a:t>Outcomes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4900" y="2095500"/>
            <a:ext cx="3848100" cy="262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50" spc="165" dirty="0">
                <a:solidFill>
                  <a:srgbClr val="031F3D"/>
                </a:solidFill>
              </a:rPr>
              <a:t>Implementing</a:t>
            </a:r>
            <a:r>
              <a:rPr sz="4350" spc="225" dirty="0">
                <a:solidFill>
                  <a:srgbClr val="031F3D"/>
                </a:solidFill>
              </a:rPr>
              <a:t> </a:t>
            </a:r>
            <a:r>
              <a:rPr sz="4350" spc="65" dirty="0">
                <a:solidFill>
                  <a:srgbClr val="052342"/>
                </a:solidFill>
              </a:rPr>
              <a:t>Randomness:</a:t>
            </a:r>
            <a:r>
              <a:rPr sz="4350" spc="300" dirty="0">
                <a:solidFill>
                  <a:srgbClr val="052342"/>
                </a:solidFill>
              </a:rPr>
              <a:t> </a:t>
            </a:r>
            <a:r>
              <a:rPr sz="4350" spc="160" dirty="0">
                <a:solidFill>
                  <a:srgbClr val="031F3D"/>
                </a:solidFill>
              </a:rPr>
              <a:t>Stochastic</a:t>
            </a:r>
            <a:r>
              <a:rPr sz="4350" spc="330" dirty="0">
                <a:solidFill>
                  <a:srgbClr val="031F3D"/>
                </a:solidFill>
              </a:rPr>
              <a:t> </a:t>
            </a:r>
            <a:r>
              <a:rPr sz="4350" dirty="0">
                <a:solidFill>
                  <a:srgbClr val="032649"/>
                </a:solidFill>
              </a:rPr>
              <a:t>&amp;</a:t>
            </a:r>
            <a:r>
              <a:rPr sz="4350" spc="-395" dirty="0">
                <a:solidFill>
                  <a:srgbClr val="032649"/>
                </a:solidFill>
              </a:rPr>
              <a:t> </a:t>
            </a:r>
            <a:r>
              <a:rPr sz="4350" spc="145" dirty="0">
                <a:solidFill>
                  <a:srgbClr val="052649"/>
                </a:solidFill>
              </a:rPr>
              <a:t>Dynamic</a:t>
            </a:r>
            <a:r>
              <a:rPr sz="4350" spc="95" dirty="0">
                <a:solidFill>
                  <a:srgbClr val="052649"/>
                </a:solidFill>
              </a:rPr>
              <a:t> </a:t>
            </a:r>
            <a:r>
              <a:rPr sz="4350" spc="90" dirty="0">
                <a:solidFill>
                  <a:srgbClr val="011F3F"/>
                </a:solidFill>
              </a:rPr>
              <a:t>Variables</a:t>
            </a:r>
            <a:endParaRPr sz="4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033521" y="1839006"/>
                <a:ext cx="10839450" cy="5432256"/>
              </a:xfrm>
              <a:prstGeom prst="rect">
                <a:avLst/>
              </a:prstGeom>
            </p:spPr>
            <p:txBody>
              <a:bodyPr vert="horz" wrap="square" lIns="0" tIns="2286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tr-TR" sz="3300" dirty="0">
                    <a:solidFill>
                      <a:srgbClr val="0C2A44"/>
                    </a:solidFill>
                    <a:latin typeface="Arial MT"/>
                    <a:cs typeface="Arial MT"/>
                  </a:rPr>
                  <a:t>Random</a:t>
                </a:r>
                <a:r>
                  <a:rPr lang="tr-TR" sz="3300" spc="229" dirty="0">
                    <a:solidFill>
                      <a:srgbClr val="0C2A44"/>
                    </a:solidFill>
                    <a:latin typeface="Arial MT"/>
                    <a:cs typeface="Arial MT"/>
                  </a:rPr>
                  <a:t> </a:t>
                </a:r>
                <a:r>
                  <a:rPr lang="tr-TR" sz="3300" dirty="0">
                    <a:solidFill>
                      <a:srgbClr val="072A4F"/>
                    </a:solidFill>
                    <a:latin typeface="Arial MT"/>
                    <a:cs typeface="Arial MT"/>
                  </a:rPr>
                  <a:t>Variable</a:t>
                </a:r>
                <a:r>
                  <a:rPr lang="tr-TR" sz="3300" spc="235" dirty="0">
                    <a:solidFill>
                      <a:srgbClr val="072A4F"/>
                    </a:solidFill>
                    <a:latin typeface="Arial MT"/>
                    <a:cs typeface="Arial MT"/>
                  </a:rPr>
                  <a:t> </a:t>
                </a:r>
                <a:r>
                  <a:rPr lang="tr-TR" sz="3300" spc="50" dirty="0">
                    <a:solidFill>
                      <a:srgbClr val="072A4F"/>
                    </a:solidFill>
                    <a:latin typeface="Arial MT"/>
                    <a:cs typeface="Arial MT"/>
                  </a:rPr>
                  <a:t>Assignment</a:t>
                </a:r>
                <a:endParaRPr lang="tr-TR" sz="3300" dirty="0">
                  <a:latin typeface="Arial MT"/>
                  <a:cs typeface="Arial MT"/>
                </a:endParaRPr>
              </a:p>
              <a:p>
                <a:pPr marL="44450" marR="30480" indent="1905">
                  <a:lnSpc>
                    <a:spcPts val="3550"/>
                  </a:lnSpc>
                  <a:spcBef>
                    <a:spcPts val="1750"/>
                  </a:spcBef>
                </a:pPr>
                <a:r>
                  <a:rPr lang="tr-TR" sz="3050" spc="-290" dirty="0">
                    <a:latin typeface="Times New Roman"/>
                    <a:cs typeface="Times New Roman"/>
                  </a:rPr>
                  <a:t>To</a:t>
                </a:r>
                <a:r>
                  <a:rPr lang="tr-TR" sz="3050" spc="-140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50" dirty="0">
                    <a:latin typeface="Times New Roman"/>
                    <a:cs typeface="Times New Roman"/>
                  </a:rPr>
                  <a:t>simulate</a:t>
                </a:r>
                <a:r>
                  <a:rPr lang="tr-TR" sz="3050" spc="-55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95" dirty="0">
                    <a:latin typeface="Times New Roman"/>
                    <a:cs typeface="Times New Roman"/>
                  </a:rPr>
                  <a:t>real-</a:t>
                </a:r>
                <a:r>
                  <a:rPr lang="tr-TR" sz="3050" spc="-90" dirty="0">
                    <a:latin typeface="Times New Roman"/>
                    <a:cs typeface="Times New Roman"/>
                  </a:rPr>
                  <a:t>world</a:t>
                </a:r>
                <a:r>
                  <a:rPr lang="tr-TR" sz="3050" spc="-40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50" dirty="0">
                    <a:latin typeface="Times New Roman"/>
                    <a:cs typeface="Times New Roman"/>
                  </a:rPr>
                  <a:t>atmospheric</a:t>
                </a:r>
                <a:r>
                  <a:rPr lang="tr-TR" sz="3050" spc="-65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95" dirty="0">
                    <a:latin typeface="Times New Roman"/>
                    <a:cs typeface="Times New Roman"/>
                  </a:rPr>
                  <a:t>variability,</a:t>
                </a:r>
                <a:r>
                  <a:rPr lang="tr-TR" sz="3050" spc="-30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70" dirty="0">
                    <a:latin typeface="Times New Roman"/>
                    <a:cs typeface="Times New Roman"/>
                  </a:rPr>
                  <a:t>initial</a:t>
                </a:r>
                <a:r>
                  <a:rPr lang="tr-TR" sz="3050" spc="-120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50" dirty="0">
                    <a:latin typeface="Times New Roman"/>
                    <a:cs typeface="Times New Roman"/>
                  </a:rPr>
                  <a:t>conditions </a:t>
                </a:r>
                <a:r>
                  <a:rPr lang="tr-TR" sz="3050" dirty="0">
                    <a:latin typeface="Times New Roman"/>
                    <a:cs typeface="Times New Roman"/>
                  </a:rPr>
                  <a:t>are</a:t>
                </a:r>
                <a:r>
                  <a:rPr lang="tr-TR" sz="3050" spc="-150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80" dirty="0">
                    <a:latin typeface="Times New Roman"/>
                    <a:cs typeface="Times New Roman"/>
                  </a:rPr>
                  <a:t>assigned</a:t>
                </a:r>
                <a:r>
                  <a:rPr lang="tr-TR" sz="3050" spc="-20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75" dirty="0">
                    <a:latin typeface="Times New Roman"/>
                    <a:cs typeface="Times New Roman"/>
                  </a:rPr>
                  <a:t>from</a:t>
                </a:r>
                <a:r>
                  <a:rPr lang="tr-TR" sz="3050" spc="-95" dirty="0">
                    <a:latin typeface="Times New Roman"/>
                    <a:cs typeface="Times New Roman"/>
                  </a:rPr>
                  <a:t> </a:t>
                </a:r>
                <a:r>
                  <a:rPr lang="tr-TR" sz="3050" dirty="0">
                    <a:latin typeface="Times New Roman"/>
                    <a:cs typeface="Times New Roman"/>
                  </a:rPr>
                  <a:t>a</a:t>
                </a:r>
                <a:r>
                  <a:rPr lang="tr-TR" sz="3050" spc="-65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80" dirty="0">
                    <a:latin typeface="Times New Roman"/>
                    <a:cs typeface="Times New Roman"/>
                  </a:rPr>
                  <a:t>Normal</a:t>
                </a:r>
                <a:r>
                  <a:rPr lang="tr-TR" sz="3050" spc="-55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90" dirty="0">
                    <a:latin typeface="Times New Roman"/>
                    <a:cs typeface="Times New Roman"/>
                  </a:rPr>
                  <a:t>(Gaussian)</a:t>
                </a:r>
                <a:r>
                  <a:rPr lang="tr-TR" sz="3050" spc="-65" dirty="0">
                    <a:latin typeface="Times New Roman"/>
                    <a:cs typeface="Times New Roman"/>
                  </a:rPr>
                  <a:t> </a:t>
                </a:r>
                <a:r>
                  <a:rPr lang="tr-TR" sz="3050" spc="-10" dirty="0">
                    <a:latin typeface="Times New Roman"/>
                    <a:cs typeface="Times New Roman"/>
                  </a:rPr>
                  <a:t>Distribution:</a:t>
                </a:r>
                <a:endParaRPr lang="tr-TR" sz="3050" dirty="0">
                  <a:latin typeface="Times New Roman"/>
                  <a:cs typeface="Times New Roman"/>
                </a:endParaRPr>
              </a:p>
              <a:p>
                <a:pPr marL="520065" indent="-284480">
                  <a:lnSpc>
                    <a:spcPct val="100000"/>
                  </a:lnSpc>
                  <a:spcBef>
                    <a:spcPts val="1290"/>
                  </a:spcBef>
                  <a:buChar char="•"/>
                  <a:tabLst>
                    <a:tab pos="520065" algn="l"/>
                    <a:tab pos="5695315" algn="l"/>
                    <a:tab pos="6833234" algn="l"/>
                  </a:tabLst>
                </a:pPr>
                <a:r>
                  <a:rPr lang="tr-TR" sz="2750" dirty="0">
                    <a:latin typeface="Cambria"/>
                    <a:cs typeface="Cambria"/>
                  </a:rPr>
                  <a:t>Initial</a:t>
                </a:r>
                <a:r>
                  <a:rPr lang="tr-TR" sz="2750" spc="-85" dirty="0">
                    <a:latin typeface="Cambria"/>
                    <a:cs typeface="Cambria"/>
                  </a:rPr>
                  <a:t> </a:t>
                </a:r>
                <a:r>
                  <a:rPr lang="tr-TR" sz="2750" spc="-55" dirty="0">
                    <a:latin typeface="Cambria"/>
                    <a:cs typeface="Cambria"/>
                  </a:rPr>
                  <a:t>Temperature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750" i="1" spc="-55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tr-TR" sz="2750" i="1" spc="-55">
                            <a:latin typeface="Cambria Math" panose="02040503050406030204" pitchFamily="18" charset="0"/>
                            <a:cs typeface="Cambria"/>
                          </a:rPr>
                          <m:t>𝑇</m:t>
                        </m:r>
                      </m:e>
                      <m:sub>
                        <m:r>
                          <a:rPr lang="tr-TR" sz="2750" i="1" spc="-55">
                            <a:latin typeface="Cambria Math" panose="02040503050406030204" pitchFamily="18" charset="0"/>
                            <a:cs typeface="Cambria"/>
                          </a:rPr>
                          <m:t>0</m:t>
                        </m:r>
                      </m:sub>
                    </m:sSub>
                    <m:r>
                      <a:rPr lang="tr-TR" sz="2750" i="1" spc="-55">
                        <a:latin typeface="Cambria Math" panose="02040503050406030204" pitchFamily="18" charset="0"/>
                        <a:cs typeface="Cambria"/>
                      </a:rPr>
                      <m:t> = </m:t>
                    </m:r>
                    <m:sSub>
                      <m:sSubPr>
                        <m:ctrlPr>
                          <a:rPr lang="tr-TR" sz="2750" i="1" spc="-55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tr-TR" sz="2750" i="1" spc="-55">
                            <a:latin typeface="Cambria Math" panose="02040503050406030204" pitchFamily="18" charset="0"/>
                            <a:cs typeface="Cambria"/>
                          </a:rPr>
                          <m:t>𝑇</m:t>
                        </m:r>
                      </m:e>
                      <m:sub>
                        <m:r>
                          <a:rPr lang="tr-TR" sz="2750" i="1" spc="-55">
                            <a:latin typeface="Cambria Math" panose="02040503050406030204" pitchFamily="18" charset="0"/>
                            <a:cs typeface="Cambria"/>
                          </a:rPr>
                          <m:t>𝑚𝑒𝑎𝑛</m:t>
                        </m:r>
                      </m:sub>
                    </m:sSub>
                    <m:r>
                      <a:rPr lang="tr-TR" sz="2750" i="1" spc="-55">
                        <a:latin typeface="Cambria Math" panose="02040503050406030204" pitchFamily="18" charset="0"/>
                        <a:cs typeface="Cambria"/>
                      </a:rPr>
                      <m:t> + </m:t>
                    </m:r>
                    <m:sSub>
                      <m:sSubPr>
                        <m:ctrlPr>
                          <a:rPr lang="ar-AE" sz="2750" i="1" spc="-55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ar-AE" sz="2750" i="1" spc="-55">
                            <a:latin typeface="Cambria Math" panose="02040503050406030204" pitchFamily="18" charset="0"/>
                            <a:cs typeface="Cambria"/>
                          </a:rPr>
                          <m:t>𝑇</m:t>
                        </m:r>
                      </m:e>
                      <m:sub>
                        <m:r>
                          <a:rPr lang="ar-AE" sz="2750" i="1" spc="-55">
                            <a:latin typeface="Cambria Math" panose="02040503050406030204" pitchFamily="18" charset="0"/>
                            <a:cs typeface="Cambria"/>
                          </a:rPr>
                          <m:t>𝑠𝑡𝑑</m:t>
                        </m:r>
                      </m:sub>
                    </m:sSub>
                    <m:r>
                      <a:rPr lang="ar-AE" sz="2750" i="1" spc="-55">
                        <a:latin typeface="Cambria Math" panose="02040503050406030204" pitchFamily="18" charset="0"/>
                        <a:cs typeface="Cambria"/>
                      </a:rPr>
                      <m:t> ∗ </m:t>
                    </m:r>
                    <m:r>
                      <a:rPr lang="ar-AE" sz="2750" i="1" spc="-55">
                        <a:latin typeface="Cambria Math" panose="02040503050406030204" pitchFamily="18" charset="0"/>
                        <a:cs typeface="Cambria"/>
                      </a:rPr>
                      <m:t>𝑟𝑎𝑛𝑑𝑛</m:t>
                    </m:r>
                  </m:oMath>
                </a14:m>
                <a:endParaRPr lang="tr-TR" sz="2750" spc="-55" dirty="0">
                  <a:latin typeface="Cambria"/>
                  <a:cs typeface="Cambria"/>
                </a:endParaRPr>
              </a:p>
              <a:p>
                <a:pPr marL="235585">
                  <a:lnSpc>
                    <a:spcPct val="100000"/>
                  </a:lnSpc>
                  <a:spcBef>
                    <a:spcPts val="1290"/>
                  </a:spcBef>
                  <a:tabLst>
                    <a:tab pos="520065" algn="l"/>
                    <a:tab pos="5695315" algn="l"/>
                    <a:tab pos="6833234" algn="l"/>
                  </a:tabLst>
                </a:pPr>
                <a:endParaRPr lang="tr-TR" sz="2750" spc="-55" dirty="0">
                  <a:latin typeface="Cambria"/>
                  <a:cs typeface="Cambria"/>
                </a:endParaRPr>
              </a:p>
              <a:p>
                <a:pPr marL="520065" indent="-284480">
                  <a:lnSpc>
                    <a:spcPct val="100000"/>
                  </a:lnSpc>
                  <a:spcBef>
                    <a:spcPts val="1290"/>
                  </a:spcBef>
                  <a:buChar char="•"/>
                  <a:tabLst>
                    <a:tab pos="520065" algn="l"/>
                    <a:tab pos="5695315" algn="l"/>
                    <a:tab pos="6833234" algn="l"/>
                  </a:tabLst>
                </a:pPr>
                <a:endParaRPr lang="ar-AE" sz="2750" spc="-55" dirty="0">
                  <a:latin typeface="Cambria"/>
                  <a:cs typeface="Cambria"/>
                </a:endParaRPr>
              </a:p>
              <a:p>
                <a:pPr marL="520065" indent="-284480">
                  <a:lnSpc>
                    <a:spcPct val="100000"/>
                  </a:lnSpc>
                  <a:spcBef>
                    <a:spcPts val="1290"/>
                  </a:spcBef>
                  <a:buChar char="•"/>
                  <a:tabLst>
                    <a:tab pos="520065" algn="l"/>
                    <a:tab pos="5695315" algn="l"/>
                    <a:tab pos="6833234" algn="l"/>
                  </a:tabLst>
                </a:pPr>
                <a:endParaRPr lang="ar-AE" sz="2750" spc="-55" dirty="0">
                  <a:latin typeface="Cambria"/>
                  <a:cs typeface="Cambria"/>
                </a:endParaRPr>
              </a:p>
              <a:p>
                <a:pPr marL="520065" indent="-284480">
                  <a:lnSpc>
                    <a:spcPct val="100000"/>
                  </a:lnSpc>
                  <a:spcBef>
                    <a:spcPts val="1290"/>
                  </a:spcBef>
                  <a:buChar char="•"/>
                  <a:tabLst>
                    <a:tab pos="520065" algn="l"/>
                    <a:tab pos="5695315" algn="l"/>
                    <a:tab pos="6833234" algn="l"/>
                  </a:tabLst>
                </a:pPr>
                <a:endParaRPr lang="ar-AE" sz="2750" spc="-55" dirty="0">
                  <a:latin typeface="Cambria"/>
                  <a:cs typeface="Cambria"/>
                </a:endParaRPr>
              </a:p>
              <a:p>
                <a:pPr marL="235585">
                  <a:lnSpc>
                    <a:spcPct val="100000"/>
                  </a:lnSpc>
                  <a:spcBef>
                    <a:spcPts val="1290"/>
                  </a:spcBef>
                  <a:tabLst>
                    <a:tab pos="520065" algn="l"/>
                    <a:tab pos="5695315" algn="l"/>
                    <a:tab pos="6833234" algn="l"/>
                  </a:tabLst>
                </a:pPr>
                <a:endParaRPr sz="2750" dirty="0">
                  <a:latin typeface="Cambria"/>
                  <a:cs typeface="Cambri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521" y="1839006"/>
                <a:ext cx="10839450" cy="5432256"/>
              </a:xfrm>
              <a:prstGeom prst="rect">
                <a:avLst/>
              </a:prstGeom>
              <a:blipFill>
                <a:blip r:embed="rId3"/>
                <a:stretch>
                  <a:fillRect l="-202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1498600" y="4432157"/>
                <a:ext cx="7543800" cy="1311256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25"/>
                  </a:spcBef>
                  <a:tabLst>
                    <a:tab pos="332740" algn="l"/>
                    <a:tab pos="4157979" algn="l"/>
                    <a:tab pos="4912995" algn="l"/>
                    <a:tab pos="6050915" algn="l"/>
                  </a:tabLst>
                </a:pPr>
                <a:r>
                  <a:rPr lang="tr-TR" sz="2750" dirty="0">
                    <a:latin typeface="Cambria"/>
                    <a:cs typeface="Cambria"/>
                  </a:rPr>
                  <a:t>Initial</a:t>
                </a:r>
                <a:r>
                  <a:rPr lang="tr-TR" sz="2750" spc="-80" dirty="0">
                    <a:latin typeface="Cambria"/>
                    <a:cs typeface="Cambria"/>
                  </a:rPr>
                  <a:t> </a:t>
                </a:r>
                <a:r>
                  <a:rPr lang="tr-TR" sz="2750" spc="-45" dirty="0">
                    <a:latin typeface="Cambria"/>
                    <a:cs typeface="Cambria"/>
                  </a:rPr>
                  <a:t>Pressure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  <m:t>𝑃</m:t>
                        </m:r>
                      </m:e>
                      <m:sub>
                        <m: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  <m:t>0</m:t>
                        </m:r>
                      </m:sub>
                    </m:sSub>
                    <m:r>
                      <a:rPr lang="ar-AE" sz="2750" i="1" spc="-45">
                        <a:latin typeface="Cambria Math" panose="02040503050406030204" pitchFamily="18" charset="0"/>
                        <a:cs typeface="Cambria"/>
                      </a:rPr>
                      <m:t> = </m:t>
                    </m:r>
                    <m:sSub>
                      <m:sSubPr>
                        <m:ctrlP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  <m:t>𝑃</m:t>
                        </m:r>
                      </m:e>
                      <m:sub>
                        <m: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  <m:t>𝑚𝑒𝑎𝑛</m:t>
                        </m:r>
                      </m:sub>
                    </m:sSub>
                    <m:r>
                      <a:rPr lang="ar-AE" sz="2750" i="1" spc="-45">
                        <a:latin typeface="Cambria Math" panose="02040503050406030204" pitchFamily="18" charset="0"/>
                        <a:cs typeface="Cambria"/>
                      </a:rPr>
                      <m:t> + </m:t>
                    </m:r>
                    <m:sSub>
                      <m:sSubPr>
                        <m:ctrlP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</m:ctrlPr>
                      </m:sSubPr>
                      <m:e>
                        <m: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  <m:t>𝑃</m:t>
                        </m:r>
                      </m:e>
                      <m:sub>
                        <m:r>
                          <a:rPr lang="ar-AE" sz="2750" i="1" spc="-45">
                            <a:latin typeface="Cambria Math" panose="02040503050406030204" pitchFamily="18" charset="0"/>
                            <a:cs typeface="Cambria"/>
                          </a:rPr>
                          <m:t>𝑠𝑡𝑑</m:t>
                        </m:r>
                      </m:sub>
                    </m:sSub>
                    <m:r>
                      <a:rPr lang="ar-AE" sz="2750" i="1" spc="-45">
                        <a:latin typeface="Cambria Math" panose="02040503050406030204" pitchFamily="18" charset="0"/>
                        <a:cs typeface="Cambria"/>
                      </a:rPr>
                      <m:t>∗ </m:t>
                    </m:r>
                    <m:r>
                      <a:rPr lang="ar-AE" sz="2750" i="1" spc="-45">
                        <a:latin typeface="Cambria Math" panose="02040503050406030204" pitchFamily="18" charset="0"/>
                        <a:cs typeface="Cambria"/>
                      </a:rPr>
                      <m:t>𝑟𝑎𝑛𝑑𝑛</m:t>
                    </m:r>
                  </m:oMath>
                </a14:m>
                <a:r>
                  <a:rPr lang="tr-TR" sz="2750" spc="-45" dirty="0">
                    <a:latin typeface="Cambria"/>
                    <a:cs typeface="Cambria"/>
                  </a:rPr>
                  <a:t> </a:t>
                </a:r>
                <a:endParaRPr lang="ar-AE" sz="2750" spc="-45" dirty="0">
                  <a:latin typeface="Cambria"/>
                  <a:cs typeface="Cambria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125"/>
                  </a:spcBef>
                  <a:tabLst>
                    <a:tab pos="332740" algn="l"/>
                    <a:tab pos="4157979" algn="l"/>
                    <a:tab pos="4912995" algn="l"/>
                    <a:tab pos="6050915" algn="l"/>
                  </a:tabLst>
                </a:pPr>
                <a:endParaRPr lang="ar-AE" sz="2750" spc="-45" dirty="0">
                  <a:latin typeface="Cambria"/>
                  <a:cs typeface="Cambria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125"/>
                  </a:spcBef>
                  <a:tabLst>
                    <a:tab pos="332740" algn="l"/>
                    <a:tab pos="4157979" algn="l"/>
                    <a:tab pos="4912995" algn="l"/>
                    <a:tab pos="6050915" algn="l"/>
                  </a:tabLst>
                </a:pPr>
                <a:r>
                  <a:rPr lang="ar-AE" sz="2750" spc="-45" dirty="0">
                    <a:latin typeface="Cambria"/>
                    <a:cs typeface="Cambria"/>
                  </a:rPr>
                  <a:t> </a:t>
                </a:r>
                <a:endParaRPr sz="2750" dirty="0">
                  <a:latin typeface="Cambria"/>
                  <a:cs typeface="Cambria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4432157"/>
                <a:ext cx="7543800" cy="1311256"/>
              </a:xfrm>
              <a:prstGeom prst="rect">
                <a:avLst/>
              </a:prstGeom>
              <a:blipFill>
                <a:blip r:embed="rId4"/>
                <a:stretch>
                  <a:fillRect l="-2264" t="-6512" b="-1488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1033521" y="5787784"/>
            <a:ext cx="14685010" cy="3609340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70"/>
              </a:spcBef>
            </a:pPr>
            <a:r>
              <a:rPr sz="3300" dirty="0">
                <a:solidFill>
                  <a:srgbClr val="05284B"/>
                </a:solidFill>
                <a:latin typeface="Arial MT"/>
                <a:cs typeface="Arial MT"/>
              </a:rPr>
              <a:t>Key</a:t>
            </a:r>
            <a:r>
              <a:rPr sz="3300" spc="65" dirty="0">
                <a:solidFill>
                  <a:srgbClr val="05284B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72A4B"/>
                </a:solidFill>
                <a:latin typeface="Arial MT"/>
                <a:cs typeface="Arial MT"/>
              </a:rPr>
              <a:t>Dynamic</a:t>
            </a:r>
            <a:r>
              <a:rPr sz="3300" spc="315" dirty="0">
                <a:solidFill>
                  <a:srgbClr val="072A4B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82B4F"/>
                </a:solidFill>
                <a:latin typeface="Arial MT"/>
                <a:cs typeface="Arial MT"/>
              </a:rPr>
              <a:t>Variables</a:t>
            </a:r>
            <a:endParaRPr sz="3300" dirty="0">
              <a:latin typeface="Arial MT"/>
              <a:cs typeface="Arial MT"/>
            </a:endParaRPr>
          </a:p>
          <a:p>
            <a:pPr marL="43815">
              <a:lnSpc>
                <a:spcPct val="100000"/>
              </a:lnSpc>
              <a:spcBef>
                <a:spcPts val="1689"/>
              </a:spcBef>
            </a:pPr>
            <a:r>
              <a:rPr sz="2950" spc="-120" dirty="0">
                <a:latin typeface="Cambria"/>
                <a:cs typeface="Cambria"/>
              </a:rPr>
              <a:t>The</a:t>
            </a:r>
            <a:r>
              <a:rPr sz="2950" spc="-50" dirty="0">
                <a:latin typeface="Cambria"/>
                <a:cs typeface="Cambria"/>
              </a:rPr>
              <a:t> </a:t>
            </a:r>
            <a:r>
              <a:rPr sz="2950" spc="-110" dirty="0">
                <a:latin typeface="Cambria"/>
                <a:cs typeface="Cambria"/>
              </a:rPr>
              <a:t>following</a:t>
            </a:r>
            <a:r>
              <a:rPr sz="2950" spc="-55" dirty="0">
                <a:latin typeface="Cambria"/>
                <a:cs typeface="Cambria"/>
              </a:rPr>
              <a:t> </a:t>
            </a:r>
            <a:r>
              <a:rPr sz="2950" spc="-145" dirty="0">
                <a:latin typeface="Cambria"/>
                <a:cs typeface="Cambria"/>
              </a:rPr>
              <a:t>parameters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-90" dirty="0">
                <a:latin typeface="Cambria"/>
                <a:cs typeface="Cambria"/>
              </a:rPr>
              <a:t>change</a:t>
            </a:r>
            <a:r>
              <a:rPr sz="2950" spc="-75" dirty="0">
                <a:latin typeface="Cambria"/>
                <a:cs typeface="Cambria"/>
              </a:rPr>
              <a:t> </a:t>
            </a:r>
            <a:r>
              <a:rPr sz="2950" spc="-145" dirty="0">
                <a:latin typeface="Cambria"/>
                <a:cs typeface="Cambria"/>
              </a:rPr>
              <a:t>within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-75" dirty="0">
                <a:latin typeface="Cambria"/>
                <a:cs typeface="Cambria"/>
              </a:rPr>
              <a:t>each</a:t>
            </a:r>
            <a:r>
              <a:rPr sz="2950" spc="-60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of</a:t>
            </a:r>
            <a:r>
              <a:rPr sz="2950" spc="-75" dirty="0">
                <a:latin typeface="Cambria"/>
                <a:cs typeface="Cambria"/>
              </a:rPr>
              <a:t> </a:t>
            </a:r>
            <a:r>
              <a:rPr sz="2950" spc="-140" dirty="0">
                <a:latin typeface="Cambria"/>
                <a:cs typeface="Cambria"/>
              </a:rPr>
              <a:t>the</a:t>
            </a:r>
            <a:r>
              <a:rPr sz="2950" spc="-45" dirty="0">
                <a:latin typeface="Cambria"/>
                <a:cs typeface="Cambria"/>
              </a:rPr>
              <a:t> </a:t>
            </a:r>
            <a:r>
              <a:rPr sz="2950" spc="-240" dirty="0">
                <a:latin typeface="Cambria"/>
                <a:cs typeface="Cambria"/>
              </a:rPr>
              <a:t>2,000</a:t>
            </a:r>
            <a:r>
              <a:rPr sz="2950" spc="35" dirty="0">
                <a:latin typeface="Cambria"/>
                <a:cs typeface="Cambria"/>
              </a:rPr>
              <a:t> </a:t>
            </a:r>
            <a:r>
              <a:rPr sz="2950" spc="-114" dirty="0">
                <a:latin typeface="Cambria"/>
                <a:cs typeface="Cambria"/>
              </a:rPr>
              <a:t>simulation</a:t>
            </a:r>
            <a:r>
              <a:rPr sz="2950" spc="135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runs:</a:t>
            </a:r>
            <a:endParaRPr sz="2950" dirty="0">
              <a:latin typeface="Cambria"/>
              <a:cs typeface="Cambria"/>
            </a:endParaRPr>
          </a:p>
          <a:p>
            <a:pPr marL="516255" indent="-284480">
              <a:lnSpc>
                <a:spcPct val="100000"/>
              </a:lnSpc>
              <a:spcBef>
                <a:spcPts val="760"/>
              </a:spcBef>
              <a:buChar char="•"/>
              <a:tabLst>
                <a:tab pos="516255" algn="l"/>
              </a:tabLst>
            </a:pPr>
            <a:r>
              <a:rPr sz="2950" spc="-10" dirty="0">
                <a:latin typeface="Cambria"/>
                <a:cs typeface="Cambria"/>
              </a:rPr>
              <a:t>Initial</a:t>
            </a:r>
            <a:r>
              <a:rPr sz="2950" spc="-155" dirty="0">
                <a:latin typeface="Cambria"/>
                <a:cs typeface="Cambria"/>
              </a:rPr>
              <a:t> </a:t>
            </a:r>
            <a:r>
              <a:rPr sz="2950" spc="-65" dirty="0">
                <a:latin typeface="Cambria"/>
                <a:cs typeface="Cambria"/>
              </a:rPr>
              <a:t>Air</a:t>
            </a:r>
            <a:r>
              <a:rPr sz="2950" spc="-185" dirty="0">
                <a:latin typeface="Cambria"/>
                <a:cs typeface="Cambria"/>
              </a:rPr>
              <a:t> </a:t>
            </a:r>
            <a:r>
              <a:rPr sz="2950" spc="-45" dirty="0">
                <a:latin typeface="Cambria"/>
                <a:cs typeface="Cambria"/>
              </a:rPr>
              <a:t>Density:</a:t>
            </a:r>
            <a:r>
              <a:rPr sz="2950" spc="-25" dirty="0">
                <a:latin typeface="Cambria"/>
                <a:cs typeface="Cambria"/>
              </a:rPr>
              <a:t> </a:t>
            </a:r>
            <a:r>
              <a:rPr sz="2950" spc="-155" dirty="0">
                <a:latin typeface="Cambria"/>
                <a:cs typeface="Cambria"/>
              </a:rPr>
              <a:t>Varies</a:t>
            </a:r>
            <a:r>
              <a:rPr sz="2950" dirty="0">
                <a:latin typeface="Cambria"/>
                <a:cs typeface="Cambria"/>
              </a:rPr>
              <a:t> </a:t>
            </a:r>
            <a:r>
              <a:rPr sz="2950" spc="-70" dirty="0">
                <a:latin typeface="Cambria"/>
                <a:cs typeface="Cambria"/>
              </a:rPr>
              <a:t>at</a:t>
            </a:r>
            <a:r>
              <a:rPr sz="2950" spc="15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the</a:t>
            </a:r>
            <a:r>
              <a:rPr sz="2950" spc="-40" dirty="0">
                <a:latin typeface="Cambria"/>
                <a:cs typeface="Cambria"/>
              </a:rPr>
              <a:t> </a:t>
            </a:r>
            <a:r>
              <a:rPr sz="2950" spc="-140" dirty="0">
                <a:latin typeface="Cambria"/>
                <a:cs typeface="Cambria"/>
              </a:rPr>
              <a:t>start</a:t>
            </a:r>
            <a:r>
              <a:rPr sz="2950" spc="-25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of</a:t>
            </a:r>
            <a:r>
              <a:rPr sz="2950" spc="-40" dirty="0">
                <a:latin typeface="Cambria"/>
                <a:cs typeface="Cambria"/>
              </a:rPr>
              <a:t> </a:t>
            </a:r>
            <a:r>
              <a:rPr sz="2950" spc="-95" dirty="0">
                <a:latin typeface="Cambria"/>
                <a:cs typeface="Cambria"/>
              </a:rPr>
              <a:t>each</a:t>
            </a:r>
            <a:r>
              <a:rPr sz="2950" spc="-65" dirty="0">
                <a:latin typeface="Cambria"/>
                <a:cs typeface="Cambria"/>
              </a:rPr>
              <a:t> </a:t>
            </a:r>
            <a:r>
              <a:rPr sz="2950" spc="-100" dirty="0">
                <a:latin typeface="Cambria"/>
                <a:cs typeface="Cambria"/>
              </a:rPr>
              <a:t>run</a:t>
            </a:r>
            <a:r>
              <a:rPr sz="2950" spc="-114" dirty="0">
                <a:latin typeface="Cambria"/>
                <a:cs typeface="Cambria"/>
              </a:rPr>
              <a:t> </a:t>
            </a:r>
            <a:r>
              <a:rPr sz="2950" spc="-110" dirty="0">
                <a:latin typeface="Cambria"/>
                <a:cs typeface="Cambria"/>
              </a:rPr>
              <a:t>due</a:t>
            </a:r>
            <a:r>
              <a:rPr sz="2950" spc="-50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to</a:t>
            </a:r>
            <a:r>
              <a:rPr sz="2950" spc="-55" dirty="0">
                <a:latin typeface="Cambria"/>
                <a:cs typeface="Cambria"/>
              </a:rPr>
              <a:t> </a:t>
            </a:r>
            <a:r>
              <a:rPr sz="2950" spc="-140" dirty="0">
                <a:latin typeface="Cambria"/>
                <a:cs typeface="Cambria"/>
              </a:rPr>
              <a:t>randomized</a:t>
            </a:r>
            <a:r>
              <a:rPr sz="2950" spc="-10" dirty="0">
                <a:latin typeface="Cambria"/>
                <a:cs typeface="Cambria"/>
              </a:rPr>
              <a:t> </a:t>
            </a:r>
            <a:r>
              <a:rPr sz="2950" spc="-50" dirty="0">
                <a:latin typeface="Cambria"/>
                <a:cs typeface="Cambria"/>
              </a:rPr>
              <a:t>T</a:t>
            </a:r>
            <a:r>
              <a:rPr sz="3075" spc="-75" baseline="-16260" dirty="0">
                <a:latin typeface="Cambria"/>
                <a:cs typeface="Cambria"/>
              </a:rPr>
              <a:t>O</a:t>
            </a:r>
            <a:r>
              <a:rPr sz="3075" spc="-247" baseline="-1626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r</a:t>
            </a:r>
            <a:r>
              <a:rPr sz="1950" spc="-25" dirty="0">
                <a:latin typeface="Cambria"/>
                <a:cs typeface="Cambria"/>
              </a:rPr>
              <a:t>i</a:t>
            </a:r>
            <a:r>
              <a:rPr sz="2950" spc="-25" dirty="0">
                <a:latin typeface="Cambria"/>
                <a:cs typeface="Cambria"/>
              </a:rPr>
              <a:t>nd</a:t>
            </a:r>
            <a:r>
              <a:rPr sz="2950" spc="-375" dirty="0">
                <a:latin typeface="Cambria"/>
                <a:cs typeface="Cambria"/>
              </a:rPr>
              <a:t> </a:t>
            </a:r>
            <a:r>
              <a:rPr sz="2950" spc="-25" dirty="0">
                <a:latin typeface="Cambria"/>
                <a:cs typeface="Cambria"/>
              </a:rPr>
              <a:t>P</a:t>
            </a:r>
            <a:r>
              <a:rPr sz="2775" spc="-37" baseline="-18018" dirty="0">
                <a:latin typeface="Cambria"/>
                <a:cs typeface="Cambria"/>
              </a:rPr>
              <a:t>0</a:t>
            </a:r>
            <a:r>
              <a:rPr sz="2950" spc="-25" dirty="0">
                <a:latin typeface="Cambria"/>
                <a:cs typeface="Cambria"/>
              </a:rPr>
              <a:t>.</a:t>
            </a:r>
            <a:endParaRPr sz="2950" dirty="0">
              <a:latin typeface="Cambria"/>
              <a:cs typeface="Cambria"/>
            </a:endParaRPr>
          </a:p>
          <a:p>
            <a:pPr marL="516255" indent="-284480">
              <a:lnSpc>
                <a:spcPct val="100000"/>
              </a:lnSpc>
              <a:spcBef>
                <a:spcPts val="710"/>
              </a:spcBef>
              <a:buChar char="•"/>
              <a:tabLst>
                <a:tab pos="516255" algn="l"/>
              </a:tabLst>
            </a:pPr>
            <a:r>
              <a:rPr sz="2950" spc="-45" dirty="0">
                <a:latin typeface="Cambria"/>
                <a:cs typeface="Cambria"/>
              </a:rPr>
              <a:t>Instantaneous</a:t>
            </a:r>
            <a:r>
              <a:rPr sz="2950" spc="-120" dirty="0">
                <a:latin typeface="Cambria"/>
                <a:cs typeface="Cambria"/>
              </a:rPr>
              <a:t> </a:t>
            </a:r>
            <a:r>
              <a:rPr sz="2950" spc="-45" dirty="0">
                <a:latin typeface="Cambria"/>
                <a:cs typeface="Cambria"/>
              </a:rPr>
              <a:t>Mass:</a:t>
            </a:r>
            <a:r>
              <a:rPr sz="2950" spc="-114" dirty="0">
                <a:latin typeface="Cambria"/>
                <a:cs typeface="Cambria"/>
              </a:rPr>
              <a:t> </a:t>
            </a:r>
            <a:r>
              <a:rPr sz="2950" spc="-105" dirty="0">
                <a:latin typeface="Cambria"/>
                <a:cs typeface="Cambria"/>
              </a:rPr>
              <a:t>Decreases</a:t>
            </a:r>
            <a:r>
              <a:rPr sz="2950" spc="-55" dirty="0">
                <a:latin typeface="Cambria"/>
                <a:cs typeface="Cambria"/>
              </a:rPr>
              <a:t> </a:t>
            </a:r>
            <a:r>
              <a:rPr sz="2950" spc="-100" dirty="0">
                <a:latin typeface="Cambria"/>
                <a:cs typeface="Cambria"/>
              </a:rPr>
              <a:t>linearly</a:t>
            </a:r>
            <a:r>
              <a:rPr sz="2950" spc="-65" dirty="0">
                <a:latin typeface="Cambria"/>
                <a:cs typeface="Cambria"/>
              </a:rPr>
              <a:t> </a:t>
            </a:r>
            <a:r>
              <a:rPr sz="2950" spc="-95" dirty="0">
                <a:latin typeface="Cambria"/>
                <a:cs typeface="Cambria"/>
              </a:rPr>
              <a:t>as</a:t>
            </a:r>
            <a:r>
              <a:rPr sz="2950" spc="-65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propellant</a:t>
            </a:r>
            <a:r>
              <a:rPr sz="2950" spc="15" dirty="0">
                <a:latin typeface="Cambria"/>
                <a:cs typeface="Cambria"/>
              </a:rPr>
              <a:t> </a:t>
            </a:r>
            <a:r>
              <a:rPr sz="2950" spc="-40" dirty="0">
                <a:latin typeface="Cambria"/>
                <a:cs typeface="Cambria"/>
              </a:rPr>
              <a:t>is</a:t>
            </a:r>
            <a:r>
              <a:rPr sz="2950" spc="-215" dirty="0">
                <a:latin typeface="Cambria"/>
                <a:cs typeface="Cambria"/>
              </a:rPr>
              <a:t> </a:t>
            </a:r>
            <a:r>
              <a:rPr sz="2950" spc="-114" dirty="0">
                <a:latin typeface="Cambria"/>
                <a:cs typeface="Cambria"/>
              </a:rPr>
              <a:t>consumed</a:t>
            </a:r>
            <a:r>
              <a:rPr sz="2950" spc="-45" dirty="0">
                <a:latin typeface="Cambria"/>
                <a:cs typeface="Cambria"/>
              </a:rPr>
              <a:t> </a:t>
            </a:r>
            <a:r>
              <a:rPr sz="2950" spc="-105" dirty="0">
                <a:latin typeface="Cambria"/>
                <a:cs typeface="Cambria"/>
              </a:rPr>
              <a:t>during</a:t>
            </a:r>
            <a:r>
              <a:rPr sz="2950" spc="70" dirty="0">
                <a:latin typeface="Cambria"/>
                <a:cs typeface="Cambria"/>
              </a:rPr>
              <a:t> </a:t>
            </a:r>
            <a:r>
              <a:rPr sz="2950" spc="-135" dirty="0">
                <a:latin typeface="Cambria"/>
                <a:cs typeface="Cambria"/>
              </a:rPr>
              <a:t>the</a:t>
            </a:r>
            <a:r>
              <a:rPr sz="2950" spc="-25" dirty="0">
                <a:latin typeface="Cambria"/>
                <a:cs typeface="Cambria"/>
              </a:rPr>
              <a:t> </a:t>
            </a:r>
            <a:r>
              <a:rPr sz="2950" spc="-150" dirty="0">
                <a:latin typeface="Cambria"/>
                <a:cs typeface="Cambria"/>
              </a:rPr>
              <a:t>1.5s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-100" dirty="0">
                <a:latin typeface="Cambria"/>
                <a:cs typeface="Cambria"/>
              </a:rPr>
              <a:t>engine</a:t>
            </a:r>
            <a:r>
              <a:rPr sz="2950" spc="4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burn.</a:t>
            </a:r>
            <a:endParaRPr sz="2950" dirty="0">
              <a:latin typeface="Cambria"/>
              <a:cs typeface="Cambria"/>
            </a:endParaRPr>
          </a:p>
          <a:p>
            <a:pPr marL="516255" indent="-284480">
              <a:lnSpc>
                <a:spcPct val="100000"/>
              </a:lnSpc>
              <a:spcBef>
                <a:spcPts val="810"/>
              </a:spcBef>
              <a:buChar char="•"/>
              <a:tabLst>
                <a:tab pos="516255" algn="l"/>
              </a:tabLst>
            </a:pPr>
            <a:r>
              <a:rPr sz="2950" spc="-25" dirty="0">
                <a:latin typeface="Cambria"/>
                <a:cs typeface="Cambria"/>
              </a:rPr>
              <a:t>Local</a:t>
            </a:r>
            <a:r>
              <a:rPr sz="2950" spc="-180" dirty="0">
                <a:latin typeface="Cambria"/>
                <a:cs typeface="Cambria"/>
              </a:rPr>
              <a:t> </a:t>
            </a:r>
            <a:r>
              <a:rPr sz="2950" spc="-40" dirty="0">
                <a:latin typeface="Cambria"/>
                <a:cs typeface="Cambria"/>
              </a:rPr>
              <a:t>Gravity:</a:t>
            </a:r>
            <a:r>
              <a:rPr sz="2950" spc="-125" dirty="0">
                <a:latin typeface="Cambria"/>
                <a:cs typeface="Cambria"/>
              </a:rPr>
              <a:t> </a:t>
            </a:r>
            <a:r>
              <a:rPr sz="2950" spc="-120" dirty="0">
                <a:latin typeface="Cambria"/>
                <a:cs typeface="Cambria"/>
              </a:rPr>
              <a:t>Decreases</a:t>
            </a:r>
            <a:r>
              <a:rPr sz="2950" spc="-10" dirty="0">
                <a:latin typeface="Cambria"/>
                <a:cs typeface="Cambria"/>
              </a:rPr>
              <a:t> </a:t>
            </a:r>
            <a:r>
              <a:rPr sz="2950" spc="-45" dirty="0">
                <a:latin typeface="Cambria"/>
                <a:cs typeface="Cambria"/>
              </a:rPr>
              <a:t>as</a:t>
            </a:r>
            <a:r>
              <a:rPr sz="2950" spc="-90" dirty="0">
                <a:latin typeface="Cambria"/>
                <a:cs typeface="Cambria"/>
              </a:rPr>
              <a:t> </a:t>
            </a:r>
            <a:r>
              <a:rPr sz="2950" spc="-120" dirty="0">
                <a:latin typeface="Cambria"/>
                <a:cs typeface="Cambria"/>
              </a:rPr>
              <a:t>the</a:t>
            </a:r>
            <a:r>
              <a:rPr sz="2950" spc="-40" dirty="0">
                <a:latin typeface="Cambria"/>
                <a:cs typeface="Cambria"/>
              </a:rPr>
              <a:t> </a:t>
            </a:r>
            <a:r>
              <a:rPr sz="2950" spc="-135" dirty="0">
                <a:latin typeface="Cambria"/>
                <a:cs typeface="Cambria"/>
              </a:rPr>
              <a:t>rocket</a:t>
            </a:r>
            <a:r>
              <a:rPr sz="2950" spc="45" dirty="0">
                <a:latin typeface="Cambria"/>
                <a:cs typeface="Cambria"/>
              </a:rPr>
              <a:t> </a:t>
            </a:r>
            <a:r>
              <a:rPr sz="2950" spc="-95" dirty="0">
                <a:latin typeface="Cambria"/>
                <a:cs typeface="Cambria"/>
              </a:rPr>
              <a:t>gains</a:t>
            </a:r>
            <a:r>
              <a:rPr sz="2950" spc="-7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altitude.</a:t>
            </a:r>
            <a:endParaRPr sz="2950" dirty="0">
              <a:latin typeface="Cambria"/>
              <a:cs typeface="Cambria"/>
            </a:endParaRPr>
          </a:p>
          <a:p>
            <a:pPr marL="516255" indent="-284480">
              <a:lnSpc>
                <a:spcPct val="100000"/>
              </a:lnSpc>
              <a:spcBef>
                <a:spcPts val="710"/>
              </a:spcBef>
              <a:buChar char="•"/>
              <a:tabLst>
                <a:tab pos="516255" algn="l"/>
              </a:tabLst>
            </a:pPr>
            <a:r>
              <a:rPr sz="2950" spc="-65" dirty="0">
                <a:latin typeface="Cambria"/>
                <a:cs typeface="Cambria"/>
              </a:rPr>
              <a:t>Drag</a:t>
            </a:r>
            <a:r>
              <a:rPr sz="2950" spc="-110" dirty="0">
                <a:latin typeface="Cambria"/>
                <a:cs typeface="Cambria"/>
              </a:rPr>
              <a:t> </a:t>
            </a:r>
            <a:r>
              <a:rPr sz="2950" spc="-70" dirty="0">
                <a:latin typeface="Cambria"/>
                <a:cs typeface="Cambria"/>
              </a:rPr>
              <a:t>Force:</a:t>
            </a:r>
            <a:r>
              <a:rPr sz="2950" spc="-90" dirty="0">
                <a:latin typeface="Cambria"/>
                <a:cs typeface="Cambria"/>
              </a:rPr>
              <a:t> </a:t>
            </a:r>
            <a:r>
              <a:rPr sz="2950" spc="-95" dirty="0">
                <a:latin typeface="Cambria"/>
                <a:cs typeface="Cambria"/>
              </a:rPr>
              <a:t>Changes</a:t>
            </a:r>
            <a:r>
              <a:rPr sz="2950" spc="-65" dirty="0">
                <a:latin typeface="Cambria"/>
                <a:cs typeface="Cambria"/>
              </a:rPr>
              <a:t> </a:t>
            </a:r>
            <a:r>
              <a:rPr sz="2950" spc="-110" dirty="0">
                <a:latin typeface="Cambria"/>
                <a:cs typeface="Cambria"/>
              </a:rPr>
              <a:t>continuously</a:t>
            </a:r>
            <a:r>
              <a:rPr sz="2950" spc="-20" dirty="0">
                <a:latin typeface="Cambria"/>
                <a:cs typeface="Cambria"/>
              </a:rPr>
              <a:t> </a:t>
            </a:r>
            <a:r>
              <a:rPr sz="2950" spc="-120" dirty="0">
                <a:latin typeface="Cambria"/>
                <a:cs typeface="Cambria"/>
              </a:rPr>
              <a:t>as</a:t>
            </a:r>
            <a:r>
              <a:rPr sz="2950" spc="-80" dirty="0">
                <a:latin typeface="Cambria"/>
                <a:cs typeface="Cambria"/>
              </a:rPr>
              <a:t> </a:t>
            </a:r>
            <a:r>
              <a:rPr sz="2950" spc="-105" dirty="0">
                <a:latin typeface="Cambria"/>
                <a:cs typeface="Cambria"/>
              </a:rPr>
              <a:t>the</a:t>
            </a:r>
            <a:r>
              <a:rPr sz="2950" spc="-100" dirty="0">
                <a:latin typeface="Cambria"/>
                <a:cs typeface="Cambria"/>
              </a:rPr>
              <a:t> </a:t>
            </a:r>
            <a:r>
              <a:rPr sz="2950" spc="-145" dirty="0">
                <a:latin typeface="Cambria"/>
                <a:cs typeface="Cambria"/>
              </a:rPr>
              <a:t>rocket's</a:t>
            </a:r>
            <a:r>
              <a:rPr sz="2950" spc="45" dirty="0">
                <a:latin typeface="Cambria"/>
                <a:cs typeface="Cambria"/>
              </a:rPr>
              <a:t> </a:t>
            </a:r>
            <a:r>
              <a:rPr sz="2950" spc="-114" dirty="0">
                <a:latin typeface="Cambria"/>
                <a:cs typeface="Cambria"/>
              </a:rPr>
              <a:t>velocity</a:t>
            </a:r>
            <a:r>
              <a:rPr sz="2950" spc="80" dirty="0">
                <a:latin typeface="Cambria"/>
                <a:cs typeface="Cambria"/>
              </a:rPr>
              <a:t> </a:t>
            </a:r>
            <a:r>
              <a:rPr sz="2950" spc="-120" dirty="0">
                <a:latin typeface="Cambria"/>
                <a:cs typeface="Cambria"/>
              </a:rPr>
              <a:t>and</a:t>
            </a:r>
            <a:r>
              <a:rPr sz="2950" spc="-85" dirty="0">
                <a:latin typeface="Cambria"/>
                <a:cs typeface="Cambria"/>
              </a:rPr>
              <a:t> </a:t>
            </a:r>
            <a:r>
              <a:rPr sz="2950" spc="-105" dirty="0">
                <a:latin typeface="Cambria"/>
                <a:cs typeface="Cambria"/>
              </a:rPr>
              <a:t>the</a:t>
            </a:r>
            <a:r>
              <a:rPr sz="2950" spc="-75" dirty="0">
                <a:latin typeface="Cambria"/>
                <a:cs typeface="Cambria"/>
              </a:rPr>
              <a:t> </a:t>
            </a:r>
            <a:r>
              <a:rPr sz="2950" spc="-65" dirty="0">
                <a:latin typeface="Cambria"/>
                <a:cs typeface="Cambria"/>
              </a:rPr>
              <a:t>local</a:t>
            </a:r>
            <a:r>
              <a:rPr sz="2950" spc="-35" dirty="0">
                <a:latin typeface="Cambria"/>
                <a:cs typeface="Cambria"/>
              </a:rPr>
              <a:t> </a:t>
            </a:r>
            <a:r>
              <a:rPr sz="2950" spc="-120" dirty="0">
                <a:latin typeface="Cambria"/>
                <a:cs typeface="Cambria"/>
              </a:rPr>
              <a:t>air</a:t>
            </a:r>
            <a:r>
              <a:rPr sz="2950" spc="-55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density</a:t>
            </a:r>
            <a:r>
              <a:rPr sz="2950" spc="2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change.</a:t>
            </a:r>
            <a:endParaRPr sz="29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5244D"/>
                </a:solidFill>
              </a:rPr>
              <a:t>Atmospheric</a:t>
            </a:r>
            <a:r>
              <a:rPr spc="-180" dirty="0">
                <a:solidFill>
                  <a:srgbClr val="05244D"/>
                </a:solidFill>
              </a:rPr>
              <a:t> </a:t>
            </a:r>
            <a:r>
              <a:rPr dirty="0">
                <a:solidFill>
                  <a:srgbClr val="082859"/>
                </a:solidFill>
              </a:rPr>
              <a:t>Model</a:t>
            </a:r>
            <a:r>
              <a:rPr spc="-250" dirty="0">
                <a:solidFill>
                  <a:srgbClr val="082859"/>
                </a:solidFill>
              </a:rPr>
              <a:t> </a:t>
            </a:r>
            <a:r>
              <a:rPr spc="-70" dirty="0">
                <a:solidFill>
                  <a:srgbClr val="072654"/>
                </a:solidFill>
              </a:rPr>
              <a:t>Part</a:t>
            </a:r>
            <a:r>
              <a:rPr spc="-350" dirty="0">
                <a:solidFill>
                  <a:srgbClr val="072654"/>
                </a:solidFill>
              </a:rPr>
              <a:t> </a:t>
            </a:r>
            <a:r>
              <a:rPr spc="-110" dirty="0">
                <a:solidFill>
                  <a:srgbClr val="082654"/>
                </a:solidFill>
              </a:rPr>
              <a:t>1:</a:t>
            </a:r>
            <a:r>
              <a:rPr spc="-320" dirty="0">
                <a:solidFill>
                  <a:srgbClr val="082654"/>
                </a:solidFill>
              </a:rPr>
              <a:t> </a:t>
            </a:r>
            <a:r>
              <a:rPr dirty="0">
                <a:solidFill>
                  <a:srgbClr val="012150"/>
                </a:solidFill>
              </a:rPr>
              <a:t>Vertical</a:t>
            </a:r>
            <a:r>
              <a:rPr spc="-65" dirty="0">
                <a:solidFill>
                  <a:srgbClr val="012150"/>
                </a:solidFill>
              </a:rPr>
              <a:t> </a:t>
            </a:r>
            <a:r>
              <a:rPr spc="-45" dirty="0"/>
              <a:t>Temperature</a:t>
            </a:r>
            <a:r>
              <a:rPr spc="-15" dirty="0"/>
              <a:t> </a:t>
            </a:r>
            <a:r>
              <a:rPr spc="-170" dirty="0">
                <a:solidFill>
                  <a:srgbClr val="052454"/>
                </a:solidFill>
              </a:rPr>
              <a:t>&amp;</a:t>
            </a:r>
            <a:r>
              <a:rPr spc="-380" dirty="0">
                <a:solidFill>
                  <a:srgbClr val="052454"/>
                </a:solidFill>
              </a:rPr>
              <a:t> </a:t>
            </a:r>
            <a:r>
              <a:rPr spc="-55" dirty="0">
                <a:solidFill>
                  <a:srgbClr val="082149"/>
                </a:solidFill>
              </a:rPr>
              <a:t>Pressure</a:t>
            </a:r>
            <a:r>
              <a:rPr spc="-185" dirty="0">
                <a:solidFill>
                  <a:srgbClr val="082149"/>
                </a:solidFill>
              </a:rPr>
              <a:t> </a:t>
            </a:r>
            <a:r>
              <a:rPr spc="-10" dirty="0">
                <a:solidFill>
                  <a:srgbClr val="082350"/>
                </a:solidFill>
              </a:rPr>
              <a:t>Profiles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7732" y="1670755"/>
            <a:ext cx="15450819" cy="3653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7355" indent="10795">
              <a:lnSpc>
                <a:spcPts val="4000"/>
              </a:lnSpc>
              <a:spcBef>
                <a:spcPts val="95"/>
              </a:spcBef>
            </a:pPr>
            <a:r>
              <a:rPr sz="3200" spc="-229" dirty="0">
                <a:latin typeface="Cambria"/>
                <a:cs typeface="Cambria"/>
              </a:rPr>
              <a:t>The</a:t>
            </a:r>
            <a:r>
              <a:rPr sz="3200" spc="55" dirty="0">
                <a:latin typeface="Cambria"/>
                <a:cs typeface="Cambria"/>
              </a:rPr>
              <a:t> </a:t>
            </a:r>
            <a:r>
              <a:rPr sz="3200" spc="-180" dirty="0">
                <a:latin typeface="Cambria"/>
                <a:cs typeface="Cambria"/>
              </a:rPr>
              <a:t>simulation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implements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114" dirty="0">
                <a:latin typeface="Cambria"/>
                <a:cs typeface="Cambria"/>
              </a:rPr>
              <a:t>a</a:t>
            </a:r>
            <a:r>
              <a:rPr sz="3200" spc="-160" dirty="0">
                <a:latin typeface="Cambria"/>
                <a:cs typeface="Cambria"/>
              </a:rPr>
              <a:t> physically</a:t>
            </a:r>
            <a:r>
              <a:rPr sz="3200" spc="75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accurate</a:t>
            </a:r>
            <a:r>
              <a:rPr sz="3200" spc="60" dirty="0">
                <a:latin typeface="Cambria"/>
                <a:cs typeface="Cambria"/>
              </a:rPr>
              <a:t> </a:t>
            </a:r>
            <a:r>
              <a:rPr sz="3200" spc="-170" dirty="0">
                <a:latin typeface="Cambria"/>
                <a:cs typeface="Cambria"/>
              </a:rPr>
              <a:t>vertical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profile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30" dirty="0">
                <a:latin typeface="Cambria"/>
                <a:cs typeface="Cambria"/>
              </a:rPr>
              <a:t>of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the</a:t>
            </a:r>
            <a:r>
              <a:rPr sz="3200" spc="-75" dirty="0">
                <a:latin typeface="Cambria"/>
                <a:cs typeface="Cambria"/>
              </a:rPr>
              <a:t> </a:t>
            </a:r>
            <a:r>
              <a:rPr sz="3200" spc="-204" dirty="0">
                <a:latin typeface="Cambria"/>
                <a:cs typeface="Cambria"/>
              </a:rPr>
              <a:t>troposphere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-204" dirty="0">
                <a:latin typeface="Cambria"/>
                <a:cs typeface="Cambria"/>
              </a:rPr>
              <a:t>based</a:t>
            </a:r>
            <a:r>
              <a:rPr sz="3200" spc="-12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on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the </a:t>
            </a:r>
            <a:r>
              <a:rPr sz="3200" spc="-155" dirty="0">
                <a:latin typeface="Cambria"/>
                <a:cs typeface="Cambria"/>
              </a:rPr>
              <a:t>International</a:t>
            </a:r>
            <a:r>
              <a:rPr sz="3200" spc="85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Standard</a:t>
            </a:r>
            <a:r>
              <a:rPr sz="3200" spc="80" dirty="0">
                <a:latin typeface="Cambria"/>
                <a:cs typeface="Cambria"/>
              </a:rPr>
              <a:t> </a:t>
            </a:r>
            <a:r>
              <a:rPr sz="3200" spc="-225" dirty="0">
                <a:latin typeface="Cambria"/>
                <a:cs typeface="Cambria"/>
              </a:rPr>
              <a:t>Atmosphere</a:t>
            </a:r>
            <a:r>
              <a:rPr sz="3200" spc="50" dirty="0">
                <a:latin typeface="Cambria"/>
                <a:cs typeface="Cambria"/>
              </a:rPr>
              <a:t> </a:t>
            </a:r>
            <a:r>
              <a:rPr sz="3200" spc="-225" dirty="0">
                <a:latin typeface="Cambria"/>
                <a:cs typeface="Cambria"/>
              </a:rPr>
              <a:t>(ISA)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model.</a:t>
            </a:r>
            <a:endParaRPr sz="3200" dirty="0">
              <a:latin typeface="Cambria"/>
              <a:cs typeface="Cambria"/>
            </a:endParaRPr>
          </a:p>
          <a:p>
            <a:pPr marL="608330" marR="5080" indent="-283845">
              <a:lnSpc>
                <a:spcPts val="4000"/>
              </a:lnSpc>
              <a:spcBef>
                <a:spcPts val="50"/>
              </a:spcBef>
              <a:buChar char="•"/>
              <a:tabLst>
                <a:tab pos="608330" algn="l"/>
                <a:tab pos="617855" algn="l"/>
                <a:tab pos="4887595" algn="l"/>
                <a:tab pos="6057265" algn="l"/>
              </a:tabLst>
            </a:pPr>
            <a:r>
              <a:rPr sz="3200" dirty="0">
                <a:latin typeface="Cambria"/>
                <a:cs typeface="Cambria"/>
              </a:rPr>
              <a:t>	</a:t>
            </a:r>
            <a:r>
              <a:rPr sz="3200" spc="-145" dirty="0">
                <a:latin typeface="Cambria"/>
                <a:cs typeface="Cambria"/>
              </a:rPr>
              <a:t>Altitude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90" dirty="0">
                <a:latin typeface="Cambria"/>
                <a:cs typeface="Cambria"/>
              </a:rPr>
              <a:t>vs.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175" dirty="0">
                <a:latin typeface="Cambria"/>
                <a:cs typeface="Cambria"/>
              </a:rPr>
              <a:t>Temperature: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229" dirty="0">
                <a:latin typeface="Cambria"/>
                <a:cs typeface="Cambria"/>
              </a:rPr>
              <a:t>Temperature</a:t>
            </a:r>
            <a:r>
              <a:rPr sz="3200" spc="90" dirty="0">
                <a:latin typeface="Cambria"/>
                <a:cs typeface="Cambria"/>
              </a:rPr>
              <a:t> </a:t>
            </a:r>
            <a:r>
              <a:rPr sz="3200" spc="-180" dirty="0">
                <a:latin typeface="Cambria"/>
                <a:cs typeface="Cambria"/>
              </a:rPr>
              <a:t>decreases</a:t>
            </a:r>
            <a:r>
              <a:rPr sz="3200" spc="30" dirty="0">
                <a:latin typeface="Cambria"/>
                <a:cs typeface="Cambria"/>
              </a:rPr>
              <a:t> </a:t>
            </a:r>
            <a:r>
              <a:rPr sz="3200" spc="-155" dirty="0">
                <a:latin typeface="Cambria"/>
                <a:cs typeface="Cambria"/>
              </a:rPr>
              <a:t>linearly</a:t>
            </a:r>
            <a:r>
              <a:rPr sz="3200" spc="15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with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spc="-180" dirty="0">
                <a:latin typeface="Cambria"/>
                <a:cs typeface="Cambria"/>
              </a:rPr>
              <a:t>altitude</a:t>
            </a:r>
            <a:r>
              <a:rPr sz="3200" spc="65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according</a:t>
            </a:r>
            <a:r>
              <a:rPr sz="3200" spc="175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to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spc="-225" dirty="0">
                <a:latin typeface="Cambria"/>
                <a:cs typeface="Cambria"/>
              </a:rPr>
              <a:t>a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75" dirty="0">
                <a:latin typeface="Cambria"/>
                <a:cs typeface="Cambria"/>
              </a:rPr>
              <a:t>standard </a:t>
            </a:r>
            <a:r>
              <a:rPr sz="3200" spc="-180" dirty="0">
                <a:latin typeface="Cambria"/>
                <a:cs typeface="Cambria"/>
              </a:rPr>
              <a:t>lapse</a:t>
            </a:r>
            <a:r>
              <a:rPr sz="3200" spc="40" dirty="0">
                <a:latin typeface="Cambria"/>
                <a:cs typeface="Cambria"/>
              </a:rPr>
              <a:t> </a:t>
            </a:r>
            <a:r>
              <a:rPr sz="3200" spc="-235" dirty="0">
                <a:latin typeface="Cambria"/>
                <a:cs typeface="Cambria"/>
              </a:rPr>
              <a:t>rate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90" dirty="0">
                <a:latin typeface="Cambria"/>
                <a:cs typeface="Cambria"/>
              </a:rPr>
              <a:t>(L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=</a:t>
            </a:r>
            <a:r>
              <a:rPr sz="3200" spc="-225" dirty="0">
                <a:latin typeface="Cambria"/>
                <a:cs typeface="Cambria"/>
              </a:rPr>
              <a:t> </a:t>
            </a:r>
            <a:r>
              <a:rPr sz="3200" spc="-295" dirty="0">
                <a:latin typeface="Cambria"/>
                <a:cs typeface="Cambria"/>
              </a:rPr>
              <a:t>0.0065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380" dirty="0">
                <a:latin typeface="Cambria"/>
                <a:cs typeface="Cambria"/>
              </a:rPr>
              <a:t>K/m)</a:t>
            </a:r>
            <a:r>
              <a:rPr sz="3200" dirty="0">
                <a:latin typeface="Cambria"/>
                <a:cs typeface="Cambria"/>
              </a:rPr>
              <a:t>	</a:t>
            </a:r>
          </a:p>
          <a:p>
            <a:pPr marL="612140" marR="867410" indent="-288290">
              <a:lnSpc>
                <a:spcPts val="4000"/>
              </a:lnSpc>
              <a:buChar char="•"/>
              <a:tabLst>
                <a:tab pos="612140" algn="l"/>
                <a:tab pos="617220" algn="l"/>
              </a:tabLst>
            </a:pPr>
            <a:r>
              <a:rPr sz="3200" dirty="0">
                <a:latin typeface="Cambria"/>
                <a:cs typeface="Cambria"/>
              </a:rPr>
              <a:t>	</a:t>
            </a:r>
            <a:r>
              <a:rPr sz="3200" spc="-145" dirty="0">
                <a:latin typeface="Cambria"/>
                <a:cs typeface="Cambria"/>
              </a:rPr>
              <a:t>Altitude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95" dirty="0">
                <a:latin typeface="Cambria"/>
                <a:cs typeface="Cambria"/>
              </a:rPr>
              <a:t>vs.</a:t>
            </a:r>
            <a:r>
              <a:rPr sz="3200" spc="-185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Pressure: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190" dirty="0">
                <a:latin typeface="Cambria"/>
                <a:cs typeface="Cambria"/>
              </a:rPr>
              <a:t>Atmospheric</a:t>
            </a:r>
            <a:r>
              <a:rPr sz="3200" spc="114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pressure</a:t>
            </a:r>
            <a:r>
              <a:rPr sz="3200" spc="105" dirty="0">
                <a:latin typeface="Cambria"/>
                <a:cs typeface="Cambria"/>
              </a:rPr>
              <a:t> </a:t>
            </a:r>
            <a:r>
              <a:rPr sz="3200" spc="-190" dirty="0">
                <a:latin typeface="Cambria"/>
                <a:cs typeface="Cambria"/>
              </a:rPr>
              <a:t>decreases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exponentially</a:t>
            </a:r>
            <a:r>
              <a:rPr sz="3200" spc="130" dirty="0">
                <a:latin typeface="Cambria"/>
                <a:cs typeface="Cambria"/>
              </a:rPr>
              <a:t> </a:t>
            </a:r>
            <a:r>
              <a:rPr sz="3200" spc="-229" dirty="0">
                <a:latin typeface="Cambria"/>
                <a:cs typeface="Cambria"/>
              </a:rPr>
              <a:t>with</a:t>
            </a:r>
            <a:r>
              <a:rPr sz="3200" spc="20" dirty="0">
                <a:latin typeface="Cambria"/>
                <a:cs typeface="Cambria"/>
              </a:rPr>
              <a:t> </a:t>
            </a:r>
            <a:r>
              <a:rPr sz="3200" spc="-155" dirty="0">
                <a:latin typeface="Cambria"/>
                <a:cs typeface="Cambria"/>
              </a:rPr>
              <a:t>altitude.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This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is </a:t>
            </a:r>
            <a:r>
              <a:rPr sz="3200" spc="-125" dirty="0">
                <a:latin typeface="Cambria"/>
                <a:cs typeface="Cambria"/>
              </a:rPr>
              <a:t>critical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155" dirty="0">
                <a:latin typeface="Cambria"/>
                <a:cs typeface="Cambria"/>
              </a:rPr>
              <a:t>for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140" dirty="0">
                <a:latin typeface="Cambria"/>
                <a:cs typeface="Cambria"/>
              </a:rPr>
              <a:t>calculating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both</a:t>
            </a:r>
            <a:r>
              <a:rPr sz="3200" spc="40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air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density</a:t>
            </a:r>
            <a:r>
              <a:rPr sz="3200" spc="30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and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spc="-170" dirty="0">
                <a:latin typeface="Cambria"/>
                <a:cs typeface="Cambria"/>
              </a:rPr>
              <a:t>the</a:t>
            </a:r>
            <a:r>
              <a:rPr sz="3200" spc="15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pressure</a:t>
            </a:r>
            <a:r>
              <a:rPr sz="3200" spc="120" dirty="0">
                <a:latin typeface="Cambria"/>
                <a:cs typeface="Cambria"/>
              </a:rPr>
              <a:t> </a:t>
            </a:r>
            <a:r>
              <a:rPr sz="3200" spc="-204" dirty="0">
                <a:latin typeface="Cambria"/>
                <a:cs typeface="Cambria"/>
              </a:rPr>
              <a:t>thrust</a:t>
            </a:r>
            <a:r>
              <a:rPr sz="3200" spc="30" dirty="0">
                <a:latin typeface="Cambria"/>
                <a:cs typeface="Cambria"/>
              </a:rPr>
              <a:t> </a:t>
            </a:r>
            <a:r>
              <a:rPr sz="3200" spc="-190" dirty="0">
                <a:latin typeface="Cambria"/>
                <a:cs typeface="Cambria"/>
              </a:rPr>
              <a:t>component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-90" dirty="0">
                <a:latin typeface="Cambria"/>
                <a:cs typeface="Cambria"/>
              </a:rPr>
              <a:t>of</a:t>
            </a:r>
            <a:r>
              <a:rPr sz="3200" spc="-130" dirty="0">
                <a:latin typeface="Cambria"/>
                <a:cs typeface="Cambria"/>
              </a:rPr>
              <a:t> </a:t>
            </a:r>
            <a:r>
              <a:rPr sz="3200" spc="-195" dirty="0">
                <a:latin typeface="Cambria"/>
                <a:cs typeface="Cambria"/>
              </a:rPr>
              <a:t>the</a:t>
            </a:r>
            <a:r>
              <a:rPr sz="3200" spc="2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engine.</a:t>
            </a:r>
            <a:endParaRPr sz="3200" dirty="0">
              <a:latin typeface="Cambria"/>
              <a:cs typeface="Cambria"/>
            </a:endParaRPr>
          </a:p>
          <a:p>
            <a:pPr marL="2515870">
              <a:lnSpc>
                <a:spcPct val="100000"/>
              </a:lnSpc>
              <a:spcBef>
                <a:spcPts val="1700"/>
              </a:spcBef>
              <a:tabLst>
                <a:tab pos="10597515" algn="l"/>
              </a:tabLst>
            </a:pPr>
            <a:r>
              <a:rPr sz="2350" dirty="0">
                <a:latin typeface="Cambria"/>
                <a:cs typeface="Cambria"/>
              </a:rPr>
              <a:t>	</a:t>
            </a:r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537DB20F-2508-4812-3EE4-B13C7F89B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098" y="4876800"/>
            <a:ext cx="5710410" cy="4569389"/>
          </a:xfrm>
          <a:prstGeom prst="rect">
            <a:avLst/>
          </a:prstGeom>
        </p:spPr>
      </p:pic>
      <p:pic>
        <p:nvPicPr>
          <p:cNvPr id="32" name="Resim 31">
            <a:extLst>
              <a:ext uri="{FF2B5EF4-FFF2-40B4-BE49-F238E27FC236}">
                <a16:creationId xmlns:a16="http://schemas.microsoft.com/office/drawing/2014/main" id="{F1026AF3-6CDE-1AF9-DA8A-02663968E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600" y="4900707"/>
            <a:ext cx="5652032" cy="4569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37529" y="829733"/>
            <a:ext cx="6507480" cy="752571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0640" marR="5080" indent="12700">
              <a:lnSpc>
                <a:spcPts val="4750"/>
              </a:lnSpc>
              <a:spcBef>
                <a:spcPts val="465"/>
              </a:spcBef>
            </a:pPr>
            <a:r>
              <a:rPr sz="4150" spc="80" dirty="0">
                <a:solidFill>
                  <a:srgbClr val="032449"/>
                </a:solidFill>
                <a:latin typeface="Arial MT"/>
                <a:cs typeface="Arial MT"/>
              </a:rPr>
              <a:t>Atmospheric</a:t>
            </a:r>
            <a:r>
              <a:rPr sz="4150" spc="204" dirty="0">
                <a:solidFill>
                  <a:srgbClr val="032449"/>
                </a:solidFill>
                <a:latin typeface="Arial MT"/>
                <a:cs typeface="Arial MT"/>
              </a:rPr>
              <a:t> </a:t>
            </a:r>
            <a:r>
              <a:rPr sz="4150" spc="85" dirty="0">
                <a:solidFill>
                  <a:srgbClr val="032650"/>
                </a:solidFill>
                <a:latin typeface="Arial MT"/>
                <a:cs typeface="Arial MT"/>
              </a:rPr>
              <a:t>Model</a:t>
            </a:r>
            <a:r>
              <a:rPr sz="4150" spc="-215" dirty="0">
                <a:solidFill>
                  <a:srgbClr val="032650"/>
                </a:solidFill>
                <a:latin typeface="Arial MT"/>
                <a:cs typeface="Arial MT"/>
              </a:rPr>
              <a:t> </a:t>
            </a:r>
            <a:r>
              <a:rPr sz="4150" dirty="0">
                <a:solidFill>
                  <a:srgbClr val="052649"/>
                </a:solidFill>
                <a:latin typeface="Arial MT"/>
                <a:cs typeface="Arial MT"/>
              </a:rPr>
              <a:t>Part</a:t>
            </a:r>
            <a:r>
              <a:rPr sz="4150" spc="130" dirty="0">
                <a:solidFill>
                  <a:srgbClr val="052649"/>
                </a:solidFill>
                <a:latin typeface="Arial MT"/>
                <a:cs typeface="Arial MT"/>
              </a:rPr>
              <a:t> </a:t>
            </a:r>
            <a:r>
              <a:rPr sz="4150" spc="55" dirty="0">
                <a:solidFill>
                  <a:srgbClr val="002144"/>
                </a:solidFill>
                <a:latin typeface="Arial MT"/>
                <a:cs typeface="Arial MT"/>
              </a:rPr>
              <a:t>2: </a:t>
            </a:r>
            <a:r>
              <a:rPr sz="4150" spc="65" dirty="0">
                <a:solidFill>
                  <a:srgbClr val="052341"/>
                </a:solidFill>
                <a:latin typeface="Arial MT"/>
                <a:cs typeface="Arial MT"/>
              </a:rPr>
              <a:t>Thermodynamic</a:t>
            </a:r>
            <a:r>
              <a:rPr sz="4150" spc="310" dirty="0">
                <a:solidFill>
                  <a:srgbClr val="052341"/>
                </a:solidFill>
                <a:latin typeface="Arial MT"/>
                <a:cs typeface="Arial MT"/>
              </a:rPr>
              <a:t> </a:t>
            </a:r>
            <a:r>
              <a:rPr sz="4150" spc="45" dirty="0">
                <a:solidFill>
                  <a:srgbClr val="082A50"/>
                </a:solidFill>
                <a:latin typeface="Arial MT"/>
                <a:cs typeface="Arial MT"/>
              </a:rPr>
              <a:t>Coupling</a:t>
            </a:r>
            <a:endParaRPr sz="4150" dirty="0">
              <a:latin typeface="Arial MT"/>
              <a:cs typeface="Arial MT"/>
            </a:endParaRPr>
          </a:p>
          <a:p>
            <a:pPr marL="12700" marR="171450" indent="15240">
              <a:lnSpc>
                <a:spcPct val="103200"/>
              </a:lnSpc>
              <a:spcBef>
                <a:spcPts val="3329"/>
              </a:spcBef>
              <a:tabLst>
                <a:tab pos="2842260" algn="l"/>
                <a:tab pos="3477260" algn="l"/>
              </a:tabLst>
            </a:pPr>
            <a:r>
              <a:rPr sz="3100" spc="-30" dirty="0">
                <a:latin typeface="Times New Roman"/>
                <a:cs typeface="Times New Roman"/>
              </a:rPr>
              <a:t>The</a:t>
            </a:r>
            <a:r>
              <a:rPr sz="3100" spc="-114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atmospheric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variables</a:t>
            </a:r>
            <a:r>
              <a:rPr sz="3100" spc="-7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are</a:t>
            </a:r>
            <a:r>
              <a:rPr sz="3100" spc="-145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not </a:t>
            </a:r>
            <a:r>
              <a:rPr sz="3100" dirty="0">
                <a:latin typeface="Times New Roman"/>
                <a:cs typeface="Times New Roman"/>
              </a:rPr>
              <a:t>independent.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spc="-114" dirty="0">
                <a:latin typeface="Times New Roman"/>
                <a:cs typeface="Times New Roman"/>
              </a:rPr>
              <a:t>They</a:t>
            </a:r>
            <a:r>
              <a:rPr sz="3100" spc="-7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are</a:t>
            </a:r>
            <a:r>
              <a:rPr sz="3100" spc="-125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coupled</a:t>
            </a:r>
            <a:r>
              <a:rPr sz="3100" spc="6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through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19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Ideal</a:t>
            </a:r>
            <a:r>
              <a:rPr sz="3100" spc="-135" dirty="0">
                <a:latin typeface="Times New Roman"/>
                <a:cs typeface="Times New Roman"/>
              </a:rPr>
              <a:t> </a:t>
            </a:r>
            <a:r>
              <a:rPr sz="3100" spc="-125" dirty="0">
                <a:latin typeface="Times New Roman"/>
                <a:cs typeface="Times New Roman"/>
              </a:rPr>
              <a:t>Gas</a:t>
            </a:r>
            <a:r>
              <a:rPr sz="3100" spc="-150" dirty="0">
                <a:latin typeface="Times New Roman"/>
                <a:cs typeface="Times New Roman"/>
              </a:rPr>
              <a:t> </a:t>
            </a:r>
            <a:r>
              <a:rPr sz="3100" spc="-90" dirty="0">
                <a:latin typeface="Times New Roman"/>
                <a:cs typeface="Times New Roman"/>
              </a:rPr>
              <a:t>Law,</a:t>
            </a:r>
            <a:r>
              <a:rPr sz="3100" spc="9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ensuring</a:t>
            </a:r>
            <a:r>
              <a:rPr sz="3100" spc="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6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model </a:t>
            </a:r>
            <a:r>
              <a:rPr sz="3100" dirty="0">
                <a:latin typeface="Times New Roman"/>
                <a:cs typeface="Times New Roman"/>
              </a:rPr>
              <a:t>maintains</a:t>
            </a:r>
            <a:r>
              <a:rPr sz="3100" spc="-120" dirty="0">
                <a:latin typeface="Times New Roman"/>
                <a:cs typeface="Times New Roman"/>
              </a:rPr>
              <a:t> </a:t>
            </a:r>
            <a:r>
              <a:rPr sz="3100" spc="-35" dirty="0">
                <a:latin typeface="Times New Roman"/>
                <a:cs typeface="Times New Roman"/>
              </a:rPr>
              <a:t>hydrostatic</a:t>
            </a:r>
            <a:r>
              <a:rPr sz="3100" spc="-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equilibrium.</a:t>
            </a:r>
            <a:r>
              <a:rPr sz="3100" spc="-75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Air </a:t>
            </a:r>
            <a:r>
              <a:rPr sz="3100" spc="-20" dirty="0">
                <a:latin typeface="Times New Roman"/>
                <a:cs typeface="Times New Roman"/>
              </a:rPr>
              <a:t>density</a:t>
            </a:r>
            <a:r>
              <a:rPr sz="3100" spc="-17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is</a:t>
            </a:r>
            <a:r>
              <a:rPr sz="3100" spc="-195" dirty="0">
                <a:latin typeface="Times New Roman"/>
                <a:cs typeface="Times New Roman"/>
              </a:rPr>
              <a:t> </a:t>
            </a:r>
            <a:r>
              <a:rPr sz="3100" spc="-35" dirty="0">
                <a:latin typeface="Times New Roman"/>
                <a:cs typeface="Times New Roman"/>
              </a:rPr>
              <a:t>directly</a:t>
            </a:r>
            <a:r>
              <a:rPr sz="3100" spc="-16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calculated</a:t>
            </a:r>
            <a:r>
              <a:rPr sz="3100" spc="-1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from</a:t>
            </a:r>
            <a:r>
              <a:rPr sz="3100" spc="-125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the </a:t>
            </a:r>
            <a:r>
              <a:rPr sz="3050" dirty="0">
                <a:latin typeface="Times New Roman"/>
                <a:cs typeface="Times New Roman"/>
              </a:rPr>
              <a:t>local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pressure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and</a:t>
            </a:r>
            <a:r>
              <a:rPr sz="3050" spc="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temperature</a:t>
            </a:r>
            <a:r>
              <a:rPr sz="3050" spc="3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at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each </a:t>
            </a:r>
            <a:r>
              <a:rPr sz="3050" dirty="0">
                <a:latin typeface="Times New Roman"/>
                <a:cs typeface="Times New Roman"/>
              </a:rPr>
              <a:t>altitude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step</a:t>
            </a:r>
            <a:r>
              <a:rPr sz="3050" spc="90" dirty="0">
                <a:latin typeface="Times New Roman"/>
                <a:cs typeface="Times New Roman"/>
              </a:rPr>
              <a:t>.</a:t>
            </a:r>
            <a:r>
              <a:rPr sz="3050" spc="-120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This </a:t>
            </a:r>
            <a:r>
              <a:rPr sz="3050" dirty="0">
                <a:latin typeface="Times New Roman"/>
                <a:cs typeface="Times New Roman"/>
              </a:rPr>
              <a:t>relationship</a:t>
            </a:r>
            <a:r>
              <a:rPr sz="3050" spc="15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is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fundamental</a:t>
            </a:r>
            <a:r>
              <a:rPr sz="3050" spc="2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16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the </a:t>
            </a:r>
            <a:r>
              <a:rPr sz="3050" spc="-10" dirty="0">
                <a:latin typeface="Times New Roman"/>
                <a:cs typeface="Times New Roman"/>
              </a:rPr>
              <a:t>simulation's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accuracy,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as</a:t>
            </a:r>
            <a:r>
              <a:rPr sz="3050" spc="-114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14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constantly </a:t>
            </a:r>
            <a:r>
              <a:rPr sz="3050" dirty="0">
                <a:latin typeface="Times New Roman"/>
                <a:cs typeface="Times New Roman"/>
              </a:rPr>
              <a:t>changing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air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density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directly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impacts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the </a:t>
            </a:r>
            <a:r>
              <a:rPr sz="3050" dirty="0">
                <a:latin typeface="Times New Roman"/>
                <a:cs typeface="Times New Roman"/>
              </a:rPr>
              <a:t>magnitude</a:t>
            </a:r>
            <a:r>
              <a:rPr sz="3050" spc="15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1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aerodynamic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drag </a:t>
            </a:r>
            <a:r>
              <a:rPr sz="3050" dirty="0">
                <a:latin typeface="Times New Roman"/>
                <a:cs typeface="Times New Roman"/>
              </a:rPr>
              <a:t>force,</a:t>
            </a:r>
            <a:r>
              <a:rPr sz="3050" spc="5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primary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factor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10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19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rocket's </a:t>
            </a:r>
            <a:r>
              <a:rPr sz="2950" spc="-10" dirty="0">
                <a:latin typeface="Times New Roman"/>
                <a:cs typeface="Times New Roman"/>
              </a:rPr>
              <a:t>trajectory.</a:t>
            </a: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642412" y="9423186"/>
            <a:ext cx="137160" cy="2533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459984" y="860777"/>
            <a:ext cx="614807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45" dirty="0">
                <a:solidFill>
                  <a:srgbClr val="031A31"/>
                </a:solidFill>
                <a:latin typeface="Cambria"/>
                <a:cs typeface="Cambria"/>
              </a:rPr>
              <a:t>Temperature</a:t>
            </a:r>
            <a:r>
              <a:rPr sz="3450" spc="155" dirty="0">
                <a:solidFill>
                  <a:srgbClr val="031A31"/>
                </a:solidFill>
                <a:latin typeface="Cambria"/>
                <a:cs typeface="Cambria"/>
              </a:rPr>
              <a:t> </a:t>
            </a:r>
            <a:r>
              <a:rPr sz="3450" dirty="0">
                <a:solidFill>
                  <a:srgbClr val="181818"/>
                </a:solidFill>
                <a:latin typeface="Cambria"/>
                <a:cs typeface="Cambria"/>
              </a:rPr>
              <a:t>-</a:t>
            </a:r>
            <a:r>
              <a:rPr sz="3450" spc="-13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3450" dirty="0">
                <a:solidFill>
                  <a:srgbClr val="0F243D"/>
                </a:solidFill>
                <a:latin typeface="Cambria"/>
                <a:cs typeface="Cambria"/>
              </a:rPr>
              <a:t>Air</a:t>
            </a:r>
            <a:r>
              <a:rPr sz="3450" spc="-145" dirty="0">
                <a:solidFill>
                  <a:srgbClr val="0F243D"/>
                </a:solidFill>
                <a:latin typeface="Cambria"/>
                <a:cs typeface="Cambria"/>
              </a:rPr>
              <a:t> </a:t>
            </a:r>
            <a:r>
              <a:rPr sz="3450" dirty="0">
                <a:solidFill>
                  <a:srgbClr val="181818"/>
                </a:solidFill>
                <a:latin typeface="Cambria"/>
                <a:cs typeface="Cambria"/>
              </a:rPr>
              <a:t>Density</a:t>
            </a:r>
            <a:r>
              <a:rPr sz="3450" spc="9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solidFill>
                  <a:srgbClr val="112638"/>
                </a:solidFill>
                <a:latin typeface="Cambria"/>
                <a:cs typeface="Cambria"/>
              </a:rPr>
              <a:t>Graph</a:t>
            </a:r>
            <a:endParaRPr sz="3450">
              <a:latin typeface="Cambria"/>
              <a:cs typeface="Cambria"/>
            </a:endParaRP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82D6E25D-4D7C-E323-EF9F-F3743C1FF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0" y="1883532"/>
            <a:ext cx="8016240" cy="6450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5900" y="3632200"/>
            <a:ext cx="9080500" cy="5257800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782194"/>
              </p:ext>
            </p:extLst>
          </p:nvPr>
        </p:nvGraphicFramePr>
        <p:xfrm>
          <a:off x="4627033" y="2336800"/>
          <a:ext cx="8152764" cy="4888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055">
                <a:tc gridSpan="2">
                  <a:txBody>
                    <a:bodyPr/>
                    <a:lstStyle/>
                    <a:p>
                      <a:pPr marL="49530" algn="ctr">
                        <a:lnSpc>
                          <a:spcPts val="2225"/>
                        </a:lnSpc>
                        <a:spcBef>
                          <a:spcPts val="16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Initialization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38735" algn="ctr">
                        <a:lnSpc>
                          <a:spcPts val="2045"/>
                        </a:lnSpc>
                      </a:pPr>
                      <a:r>
                        <a:rPr sz="1850" spc="-150" dirty="0"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8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95" dirty="0">
                          <a:latin typeface="Trebuchet MS"/>
                          <a:cs typeface="Trebuchet MS"/>
                        </a:rPr>
                        <a:t>fixed</a:t>
                      </a:r>
                      <a:r>
                        <a:rPr sz="185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200" dirty="0">
                          <a:latin typeface="Trebuchet MS"/>
                          <a:cs typeface="Trebuchet MS"/>
                        </a:rPr>
                        <a:t>rocket</a:t>
                      </a:r>
                      <a:r>
                        <a:rPr sz="185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85" dirty="0">
                          <a:latin typeface="Trebuchet MS"/>
                          <a:cs typeface="Trebuchet MS"/>
                        </a:rPr>
                        <a:t>parameters</a:t>
                      </a:r>
                      <a:r>
                        <a:rPr sz="18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40" dirty="0">
                          <a:latin typeface="Trebuchet MS"/>
                          <a:cs typeface="Trebuchet MS"/>
                        </a:rPr>
                        <a:t>(Cd,</a:t>
                      </a:r>
                      <a:r>
                        <a:rPr sz="18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70" dirty="0">
                          <a:latin typeface="Trebuchet MS"/>
                          <a:cs typeface="Trebuchet MS"/>
                        </a:rPr>
                        <a:t>A,</a:t>
                      </a:r>
                      <a:r>
                        <a:rPr sz="1850" spc="-3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dirty="0" err="1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850" spc="-210" dirty="0" err="1">
                          <a:latin typeface="Trebuchet MS"/>
                          <a:cs typeface="Trebuchet MS"/>
                        </a:rPr>
                        <a:t>fuel</a:t>
                      </a:r>
                      <a:r>
                        <a:rPr sz="1850" spc="-21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85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0" dirty="0">
                          <a:latin typeface="Trebuchet MS"/>
                          <a:cs typeface="Trebuchet MS"/>
                        </a:rPr>
                        <a:t>etc.)</a:t>
                      </a:r>
                      <a:endParaRPr sz="1850" dirty="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055"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ts val="2275"/>
                        </a:lnSpc>
                      </a:pPr>
                      <a:r>
                        <a:rPr sz="2150" spc="-155" dirty="0">
                          <a:latin typeface="Arial MT"/>
                          <a:cs typeface="Arial MT"/>
                        </a:rPr>
                        <a:t>Stochastic</a:t>
                      </a:r>
                      <a:r>
                        <a:rPr sz="21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50" spc="-50" dirty="0">
                          <a:latin typeface="Arial MT"/>
                          <a:cs typeface="Arial MT"/>
                        </a:rPr>
                        <a:t>Sampling</a:t>
                      </a:r>
                      <a:endParaRPr sz="2150" dirty="0">
                        <a:latin typeface="Arial MT"/>
                        <a:cs typeface="Arial MT"/>
                      </a:endParaRPr>
                    </a:p>
                    <a:p>
                      <a:pPr marL="23495" algn="ctr">
                        <a:lnSpc>
                          <a:spcPts val="2030"/>
                        </a:lnSpc>
                      </a:pPr>
                      <a:r>
                        <a:rPr sz="1850" spc="-180" dirty="0">
                          <a:latin typeface="Arial MT"/>
                          <a:cs typeface="Arial MT"/>
                        </a:rPr>
                        <a:t>Randomly</a:t>
                      </a:r>
                      <a:r>
                        <a:rPr sz="185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90" dirty="0">
                          <a:latin typeface="Arial MT"/>
                          <a:cs typeface="Arial MT"/>
                        </a:rPr>
                        <a:t>sample</a:t>
                      </a:r>
                      <a:r>
                        <a:rPr sz="18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75" dirty="0">
                          <a:latin typeface="Arial MT"/>
                          <a:cs typeface="Arial MT"/>
                        </a:rPr>
                        <a:t>initial </a:t>
                      </a:r>
                      <a:r>
                        <a:rPr sz="1850" spc="-195" dirty="0">
                          <a:latin typeface="Arial MT"/>
                          <a:cs typeface="Arial MT"/>
                        </a:rPr>
                        <a:t>Temperature</a:t>
                      </a:r>
                      <a:r>
                        <a:rPr sz="185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75" dirty="0">
                          <a:latin typeface="Arial MT"/>
                          <a:cs typeface="Arial MT"/>
                        </a:rPr>
                        <a:t>(T)</a:t>
                      </a:r>
                      <a:r>
                        <a:rPr sz="185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7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5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85" dirty="0">
                          <a:latin typeface="Arial MT"/>
                          <a:cs typeface="Arial MT"/>
                        </a:rPr>
                        <a:t>Pressure</a:t>
                      </a:r>
                      <a:r>
                        <a:rPr sz="18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95" dirty="0">
                          <a:latin typeface="Arial MT"/>
                          <a:cs typeface="Arial MT"/>
                        </a:rPr>
                        <a:t>(P)</a:t>
                      </a:r>
                      <a:r>
                        <a:rPr sz="18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4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8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4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95" dirty="0">
                          <a:latin typeface="Arial MT"/>
                          <a:cs typeface="Arial MT"/>
                        </a:rPr>
                        <a:t>Gaussian</a:t>
                      </a:r>
                      <a:r>
                        <a:rPr sz="18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5" dirty="0">
                          <a:latin typeface="Arial MT"/>
                          <a:cs typeface="Arial MT"/>
                        </a:rPr>
                        <a:t>distribution.</a:t>
                      </a:r>
                      <a:endParaRPr sz="185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0510">
                <a:tc gridSpan="2"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sz="18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Loop</a:t>
                      </a:r>
                      <a:r>
                        <a:rPr sz="18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(Time</a:t>
                      </a:r>
                      <a:r>
                        <a:rPr sz="185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Step</a:t>
                      </a:r>
                      <a:r>
                        <a:rPr sz="18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5" dirty="0">
                          <a:latin typeface="Arial MT"/>
                          <a:cs typeface="Arial MT"/>
                        </a:rPr>
                        <a:t>dt)</a:t>
                      </a:r>
                      <a:endParaRPr sz="1850">
                        <a:latin typeface="Arial MT"/>
                        <a:cs typeface="Arial MT"/>
                      </a:endParaRPr>
                    </a:p>
                    <a:p>
                      <a:pPr marL="531495" indent="-190500">
                        <a:lnSpc>
                          <a:spcPts val="2055"/>
                        </a:lnSpc>
                        <a:spcBef>
                          <a:spcPts val="880"/>
                        </a:spcBef>
                        <a:buChar char="•"/>
                        <a:tabLst>
                          <a:tab pos="531495" algn="l"/>
                          <a:tab pos="6107430" algn="l"/>
                        </a:tabLst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Calculate</a:t>
                      </a:r>
                      <a:r>
                        <a:rPr sz="180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5" dirty="0">
                          <a:latin typeface="Arial MT"/>
                          <a:cs typeface="Arial MT"/>
                        </a:rPr>
                        <a:t>Forces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0" dirty="0">
                          <a:latin typeface="Arial MT"/>
                          <a:cs typeface="Arial MT"/>
                        </a:rPr>
                        <a:t>(Thrust,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0" dirty="0">
                          <a:latin typeface="Arial MT"/>
                          <a:cs typeface="Arial MT"/>
                        </a:rPr>
                        <a:t>Drag,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Gravity)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550" spc="-15" baseline="-17973" dirty="0">
                          <a:latin typeface="Arial MT"/>
                          <a:cs typeface="Arial MT"/>
                        </a:rPr>
                        <a:t>Ground</a:t>
                      </a:r>
                      <a:endParaRPr sz="2550" baseline="-17973">
                        <a:latin typeface="Arial MT"/>
                        <a:cs typeface="Arial MT"/>
                      </a:endParaRPr>
                    </a:p>
                    <a:p>
                      <a:pPr marL="537845" indent="-184150">
                        <a:lnSpc>
                          <a:spcPts val="1925"/>
                        </a:lnSpc>
                        <a:buChar char="•"/>
                        <a:tabLst>
                          <a:tab pos="537845" algn="l"/>
                          <a:tab pos="6074410" algn="l"/>
                        </a:tabLst>
                      </a:pPr>
                      <a:r>
                        <a:rPr sz="1800" spc="-155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Acceleration,</a:t>
                      </a:r>
                      <a:r>
                        <a:rPr sz="1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latin typeface="Arial MT"/>
                          <a:cs typeface="Arial MT"/>
                        </a:rPr>
                        <a:t>Velocity,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550" spc="-15" baseline="-31045" dirty="0">
                          <a:latin typeface="Arial MT"/>
                          <a:cs typeface="Arial MT"/>
                        </a:rPr>
                        <a:t>!</a:t>
                      </a:r>
                      <a:r>
                        <a:rPr sz="2550" spc="-15" baseline="-16339" dirty="0">
                          <a:latin typeface="Arial MT"/>
                          <a:cs typeface="Arial MT"/>
                        </a:rPr>
                        <a:t>mpact?</a:t>
                      </a:r>
                      <a:endParaRPr sz="2550" baseline="-16339">
                        <a:latin typeface="Arial MT"/>
                        <a:cs typeface="Arial MT"/>
                      </a:endParaRPr>
                    </a:p>
                    <a:p>
                      <a:pPr marL="532130" indent="-178435">
                        <a:lnSpc>
                          <a:spcPts val="2030"/>
                        </a:lnSpc>
                        <a:buChar char="•"/>
                        <a:tabLst>
                          <a:tab pos="532130" algn="l"/>
                        </a:tabLst>
                      </a:pPr>
                      <a:r>
                        <a:rPr sz="1800" spc="-170" dirty="0">
                          <a:latin typeface="Arial MT"/>
                          <a:cs typeface="Arial MT"/>
                        </a:rPr>
                        <a:t>Check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far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40" dirty="0">
                          <a:latin typeface="Arial MT"/>
                          <a:cs typeface="Arial MT"/>
                        </a:rPr>
                        <a:t>ground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impact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(y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0" dirty="0">
                          <a:latin typeface="Arial MT"/>
                          <a:cs typeface="Arial MT"/>
                        </a:rPr>
                        <a:t>&lt;</a:t>
                      </a:r>
                      <a:r>
                        <a:rPr sz="1800" spc="-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0)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 gridSpan="2">
                  <a:txBody>
                    <a:bodyPr/>
                    <a:lstStyle/>
                    <a:p>
                      <a:pPr marL="30480" algn="ctr">
                        <a:lnSpc>
                          <a:spcPts val="2160"/>
                        </a:lnSpc>
                        <a:spcBef>
                          <a:spcPts val="114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5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Storage</a:t>
                      </a:r>
                      <a:endParaRPr sz="1850" dirty="0">
                        <a:latin typeface="Arial MT"/>
                        <a:cs typeface="Arial MT"/>
                      </a:endParaRPr>
                    </a:p>
                    <a:p>
                      <a:pPr marL="29209" algn="ctr">
                        <a:lnSpc>
                          <a:spcPts val="1920"/>
                        </a:lnSpc>
                      </a:pPr>
                      <a:r>
                        <a:rPr sz="165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50" spc="-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40" dirty="0">
                          <a:latin typeface="Arial MT"/>
                          <a:cs typeface="Arial MT"/>
                        </a:rPr>
                        <a:t>loop</a:t>
                      </a:r>
                      <a:r>
                        <a:rPr sz="165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35" dirty="0">
                          <a:latin typeface="Arial MT"/>
                          <a:cs typeface="Arial MT"/>
                        </a:rPr>
                        <a:t>terminates,</a:t>
                      </a:r>
                      <a:r>
                        <a:rPr sz="16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35" dirty="0">
                          <a:latin typeface="Arial MT"/>
                          <a:cs typeface="Arial MT"/>
                        </a:rPr>
                        <a:t>record</a:t>
                      </a:r>
                      <a:r>
                        <a:rPr sz="165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2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5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25" dirty="0">
                          <a:latin typeface="Arial MT"/>
                          <a:cs typeface="Arial MT"/>
                        </a:rPr>
                        <a:t>final</a:t>
                      </a:r>
                      <a:r>
                        <a:rPr sz="165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35" dirty="0">
                          <a:latin typeface="Arial MT"/>
                          <a:cs typeface="Arial MT"/>
                        </a:rPr>
                        <a:t>range</a:t>
                      </a:r>
                      <a:r>
                        <a:rPr sz="16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3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65" dirty="0">
                          <a:latin typeface="Arial MT"/>
                          <a:cs typeface="Arial MT"/>
                        </a:rPr>
                        <a:t>maximum</a:t>
                      </a:r>
                      <a:r>
                        <a:rPr sz="16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dirty="0">
                          <a:latin typeface="Arial MT"/>
                          <a:cs typeface="Arial MT"/>
                        </a:rPr>
                        <a:t>altitude</a:t>
                      </a:r>
                      <a:r>
                        <a:rPr sz="16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50" dirty="0">
                          <a:latin typeface="Arial MT"/>
                          <a:cs typeface="Arial MT"/>
                        </a:rPr>
                        <a:t>achieved</a:t>
                      </a:r>
                      <a:r>
                        <a:rPr sz="16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1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5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2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50" spc="-10" dirty="0">
                          <a:latin typeface="Arial MT"/>
                          <a:cs typeface="Arial MT"/>
                        </a:rPr>
                        <a:t>iteration.</a:t>
                      </a:r>
                      <a:endParaRPr sz="1650" dirty="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182F48"/>
                      </a:solidFill>
                      <a:prstDash val="solid"/>
                    </a:lnL>
                    <a:lnR w="28575">
                      <a:solidFill>
                        <a:srgbClr val="182F48"/>
                      </a:solidFill>
                      <a:prstDash val="solid"/>
                    </a:lnR>
                    <a:lnT w="28575">
                      <a:solidFill>
                        <a:srgbClr val="182F48"/>
                      </a:solidFill>
                      <a:prstDash val="solid"/>
                    </a:lnT>
                    <a:lnB w="28575">
                      <a:solidFill>
                        <a:srgbClr val="182F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5463" y="445100"/>
            <a:ext cx="14952980" cy="177292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4800" spc="85" dirty="0">
                <a:solidFill>
                  <a:srgbClr val="05264B"/>
                </a:solidFill>
              </a:rPr>
              <a:t>Simulation</a:t>
            </a:r>
            <a:r>
              <a:rPr sz="4800" spc="-150" dirty="0">
                <a:solidFill>
                  <a:srgbClr val="05264B"/>
                </a:solidFill>
              </a:rPr>
              <a:t> </a:t>
            </a:r>
            <a:r>
              <a:rPr sz="4800" spc="90" dirty="0">
                <a:solidFill>
                  <a:srgbClr val="08284F"/>
                </a:solidFill>
              </a:rPr>
              <a:t>Logic</a:t>
            </a:r>
            <a:r>
              <a:rPr sz="4800" spc="-100" dirty="0">
                <a:solidFill>
                  <a:srgbClr val="08284F"/>
                </a:solidFill>
              </a:rPr>
              <a:t> </a:t>
            </a:r>
            <a:r>
              <a:rPr sz="4800" spc="-20" dirty="0">
                <a:solidFill>
                  <a:srgbClr val="0A2B52"/>
                </a:solidFill>
              </a:rPr>
              <a:t>Flow</a:t>
            </a:r>
            <a:endParaRPr sz="4800"/>
          </a:p>
          <a:p>
            <a:pPr marL="13970" marR="5080" indent="2540">
              <a:lnSpc>
                <a:spcPts val="3000"/>
              </a:lnSpc>
              <a:spcBef>
                <a:spcPts val="840"/>
              </a:spcBef>
            </a:pP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550" spc="-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code</a:t>
            </a:r>
            <a:r>
              <a:rPr sz="255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000000"/>
                </a:solidFill>
                <a:latin typeface="Cambria"/>
                <a:cs typeface="Cambria"/>
              </a:rPr>
              <a:t>executes</a:t>
            </a:r>
            <a:r>
              <a:rPr sz="255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sz="2550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40" dirty="0">
                <a:solidFill>
                  <a:srgbClr val="000000"/>
                </a:solidFill>
                <a:latin typeface="Cambria"/>
                <a:cs typeface="Cambria"/>
              </a:rPr>
              <a:t>structured</a:t>
            </a:r>
            <a:r>
              <a:rPr sz="2550" spc="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loop</a:t>
            </a:r>
            <a:r>
              <a:rPr sz="255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550" spc="-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each</a:t>
            </a:r>
            <a:r>
              <a:rPr sz="2550" spc="-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55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55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55" dirty="0">
                <a:solidFill>
                  <a:srgbClr val="000000"/>
                </a:solidFill>
                <a:latin typeface="Cambria"/>
                <a:cs typeface="Cambria"/>
              </a:rPr>
              <a:t>2,000</a:t>
            </a:r>
            <a:r>
              <a:rPr sz="2550" spc="-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40" dirty="0">
                <a:solidFill>
                  <a:srgbClr val="000000"/>
                </a:solidFill>
                <a:latin typeface="Cambria"/>
                <a:cs typeface="Cambria"/>
              </a:rPr>
              <a:t>iterations</a:t>
            </a:r>
            <a:r>
              <a:rPr sz="2550" spc="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2550" spc="-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40" dirty="0">
                <a:solidFill>
                  <a:srgbClr val="000000"/>
                </a:solidFill>
                <a:latin typeface="Cambria"/>
                <a:cs typeface="Cambria"/>
              </a:rPr>
              <a:t>generate</a:t>
            </a:r>
            <a:r>
              <a:rPr sz="2550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550" spc="-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final</a:t>
            </a:r>
            <a:r>
              <a:rPr sz="2550" spc="-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20" dirty="0">
                <a:solidFill>
                  <a:srgbClr val="000000"/>
                </a:solidFill>
                <a:latin typeface="Cambria"/>
                <a:cs typeface="Cambria"/>
              </a:rPr>
              <a:t>dataset.</a:t>
            </a:r>
            <a:r>
              <a:rPr sz="2550" spc="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This</a:t>
            </a:r>
            <a:r>
              <a:rPr sz="255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000000"/>
                </a:solidFill>
                <a:latin typeface="Cambria"/>
                <a:cs typeface="Cambria"/>
              </a:rPr>
              <a:t>diagram </a:t>
            </a:r>
            <a:r>
              <a:rPr sz="2550" spc="-45" dirty="0">
                <a:solidFill>
                  <a:srgbClr val="000000"/>
                </a:solidFill>
                <a:latin typeface="Cambria"/>
                <a:cs typeface="Cambria"/>
              </a:rPr>
              <a:t>illustrates</a:t>
            </a:r>
            <a:r>
              <a:rPr sz="2550" spc="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55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70" dirty="0">
                <a:solidFill>
                  <a:srgbClr val="000000"/>
                </a:solidFill>
                <a:latin typeface="Cambria"/>
                <a:cs typeface="Cambria"/>
              </a:rPr>
              <a:t>high-</a:t>
            </a:r>
            <a:r>
              <a:rPr sz="2550" spc="-10" dirty="0">
                <a:solidFill>
                  <a:srgbClr val="000000"/>
                </a:solidFill>
                <a:latin typeface="Cambria"/>
                <a:cs typeface="Cambria"/>
              </a:rPr>
              <a:t>level</a:t>
            </a:r>
            <a:r>
              <a:rPr sz="2550" spc="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35" dirty="0">
                <a:solidFill>
                  <a:srgbClr val="000000"/>
                </a:solidFill>
                <a:latin typeface="Cambria"/>
                <a:cs typeface="Cambria"/>
              </a:rPr>
              <a:t>process</a:t>
            </a:r>
            <a:r>
              <a:rPr sz="2550" spc="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000000"/>
                </a:solidFill>
                <a:latin typeface="Cambria"/>
                <a:cs typeface="Cambria"/>
              </a:rPr>
              <a:t>flow.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6749" y="7704666"/>
            <a:ext cx="2084705" cy="5759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83234">
              <a:lnSpc>
                <a:spcPts val="2355"/>
              </a:lnSpc>
              <a:spcBef>
                <a:spcPts val="130"/>
              </a:spcBef>
            </a:pPr>
            <a:r>
              <a:rPr sz="2050" spc="-50" dirty="0">
                <a:latin typeface="Arial MT"/>
                <a:cs typeface="Arial MT"/>
              </a:rPr>
              <a:t>Repeat?</a:t>
            </a:r>
            <a:endParaRPr sz="2050">
              <a:latin typeface="Arial MT"/>
              <a:cs typeface="Arial MT"/>
            </a:endParaRPr>
          </a:p>
          <a:p>
            <a:pPr marL="12700">
              <a:lnSpc>
                <a:spcPts val="1935"/>
              </a:lnSpc>
            </a:pPr>
            <a:r>
              <a:rPr sz="1700" spc="-114" dirty="0">
                <a:latin typeface="Arial MT"/>
                <a:cs typeface="Arial MT"/>
              </a:rPr>
              <a:t>00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5" dirty="0">
                <a:latin typeface="Arial MT"/>
                <a:cs typeface="Arial MT"/>
              </a:rPr>
              <a:t>iterations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70" dirty="0">
                <a:latin typeface="Arial MT"/>
                <a:cs typeface="Arial MT"/>
              </a:rPr>
              <a:t>completed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7616" y="8925983"/>
            <a:ext cx="8140700" cy="711200"/>
          </a:xfrm>
          <a:prstGeom prst="rect">
            <a:avLst/>
          </a:prstGeom>
          <a:ln w="21166">
            <a:solidFill>
              <a:srgbClr val="182F48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55880" algn="ctr">
              <a:lnSpc>
                <a:spcPts val="2305"/>
              </a:lnSpc>
              <a:spcBef>
                <a:spcPts val="114"/>
              </a:spcBef>
            </a:pPr>
            <a:r>
              <a:rPr sz="2050" spc="-110" dirty="0">
                <a:latin typeface="Arial MT"/>
                <a:cs typeface="Arial MT"/>
              </a:rPr>
              <a:t>Post-</a:t>
            </a:r>
            <a:r>
              <a:rPr sz="2050" spc="-10" dirty="0">
                <a:latin typeface="Arial MT"/>
                <a:cs typeface="Arial MT"/>
              </a:rPr>
              <a:t>Processing</a:t>
            </a:r>
            <a:endParaRPr sz="2050">
              <a:latin typeface="Arial MT"/>
              <a:cs typeface="Arial MT"/>
            </a:endParaRPr>
          </a:p>
          <a:p>
            <a:pPr marL="59690" algn="ctr">
              <a:lnSpc>
                <a:spcPts val="2005"/>
              </a:lnSpc>
            </a:pPr>
            <a:r>
              <a:rPr sz="1800" spc="-160" dirty="0">
                <a:latin typeface="Arial MT"/>
                <a:cs typeface="Arial MT"/>
              </a:rPr>
              <a:t>Analyze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the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stored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data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to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generate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statistical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plots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204" dirty="0">
                <a:latin typeface="Arial MT"/>
                <a:cs typeface="Arial MT"/>
              </a:rPr>
              <a:t>(PDF,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225" dirty="0">
                <a:latin typeface="Arial MT"/>
                <a:cs typeface="Arial MT"/>
              </a:rPr>
              <a:t>CDF,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29" dirty="0">
                <a:latin typeface="Arial MT"/>
                <a:cs typeface="Arial MT"/>
              </a:rPr>
              <a:t>2D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Maps).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7600" y="478664"/>
            <a:ext cx="6324600" cy="45505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7600" y="5260676"/>
            <a:ext cx="6324600" cy="41881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46543" y="807508"/>
            <a:ext cx="6533515" cy="21399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050" marR="5080" indent="-6985">
              <a:lnSpc>
                <a:spcPts val="5450"/>
              </a:lnSpc>
              <a:spcBef>
                <a:spcPts val="500"/>
              </a:spcBef>
            </a:pPr>
            <a:r>
              <a:rPr sz="4800" spc="135" dirty="0">
                <a:solidFill>
                  <a:srgbClr val="0A2D52"/>
                </a:solidFill>
              </a:rPr>
              <a:t>Interpreting</a:t>
            </a:r>
            <a:r>
              <a:rPr sz="4800" spc="-65" dirty="0">
                <a:solidFill>
                  <a:srgbClr val="0A2D52"/>
                </a:solidFill>
              </a:rPr>
              <a:t> </a:t>
            </a:r>
            <a:r>
              <a:rPr sz="4800" spc="-10" dirty="0">
                <a:solidFill>
                  <a:srgbClr val="05264B"/>
                </a:solidFill>
              </a:rPr>
              <a:t>Outcomes: </a:t>
            </a:r>
            <a:r>
              <a:rPr sz="4800" spc="80" dirty="0">
                <a:solidFill>
                  <a:srgbClr val="05284D"/>
                </a:solidFill>
              </a:rPr>
              <a:t>Probability</a:t>
            </a:r>
            <a:r>
              <a:rPr sz="4800" spc="90" dirty="0">
                <a:solidFill>
                  <a:srgbClr val="05284D"/>
                </a:solidFill>
              </a:rPr>
              <a:t> </a:t>
            </a:r>
            <a:r>
              <a:rPr sz="4800" spc="80" dirty="0">
                <a:solidFill>
                  <a:srgbClr val="05284D"/>
                </a:solidFill>
              </a:rPr>
              <a:t>Density </a:t>
            </a:r>
            <a:r>
              <a:rPr sz="4800" spc="75" dirty="0">
                <a:solidFill>
                  <a:srgbClr val="052646"/>
                </a:solidFill>
              </a:rPr>
              <a:t>Function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964293" y="3364441"/>
            <a:ext cx="6120130" cy="53467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54000" marR="133985" indent="-240665">
              <a:lnSpc>
                <a:spcPct val="94400"/>
              </a:lnSpc>
              <a:spcBef>
                <a:spcPts val="290"/>
              </a:spcBef>
              <a:buChar char="•"/>
              <a:tabLst>
                <a:tab pos="254000" algn="l"/>
                <a:tab pos="255904" algn="l"/>
              </a:tabLst>
            </a:pPr>
            <a:r>
              <a:rPr sz="2700" dirty="0">
                <a:latin typeface="Cambria"/>
                <a:cs typeface="Cambria"/>
              </a:rPr>
              <a:t>	The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Probability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Density</a:t>
            </a:r>
            <a:r>
              <a:rPr sz="2700" spc="-114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Function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45" dirty="0">
                <a:latin typeface="Cambria"/>
                <a:cs typeface="Cambria"/>
              </a:rPr>
              <a:t>(PDF) </a:t>
            </a:r>
            <a:r>
              <a:rPr sz="2850" spc="-135" dirty="0">
                <a:latin typeface="Cambria"/>
                <a:cs typeface="Cambria"/>
              </a:rPr>
              <a:t>displays</a:t>
            </a:r>
            <a:r>
              <a:rPr sz="2850" spc="-20" dirty="0">
                <a:latin typeface="Cambria"/>
                <a:cs typeface="Cambria"/>
              </a:rPr>
              <a:t> </a:t>
            </a:r>
            <a:r>
              <a:rPr sz="2850" spc="-140" dirty="0">
                <a:latin typeface="Cambria"/>
                <a:cs typeface="Cambria"/>
              </a:rPr>
              <a:t>the</a:t>
            </a:r>
            <a:r>
              <a:rPr sz="2850" spc="-55" dirty="0">
                <a:latin typeface="Cambria"/>
                <a:cs typeface="Cambria"/>
              </a:rPr>
              <a:t> </a:t>
            </a:r>
            <a:r>
              <a:rPr sz="2850" spc="-114" dirty="0">
                <a:latin typeface="Cambria"/>
                <a:cs typeface="Cambria"/>
              </a:rPr>
              <a:t>frequency</a:t>
            </a:r>
            <a:r>
              <a:rPr sz="2850" spc="65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of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specific </a:t>
            </a:r>
            <a:r>
              <a:rPr sz="2700" spc="-35" dirty="0">
                <a:latin typeface="Cambria"/>
                <a:cs typeface="Cambria"/>
              </a:rPr>
              <a:t>outcomes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across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all</a:t>
            </a:r>
            <a:r>
              <a:rPr sz="2700" spc="-140" dirty="0">
                <a:latin typeface="Cambria"/>
                <a:cs typeface="Cambria"/>
              </a:rPr>
              <a:t> </a:t>
            </a:r>
            <a:r>
              <a:rPr sz="2700" spc="-135" dirty="0">
                <a:latin typeface="Cambria"/>
                <a:cs typeface="Cambria"/>
              </a:rPr>
              <a:t>2,000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simulated </a:t>
            </a:r>
            <a:r>
              <a:rPr sz="2700" dirty="0">
                <a:latin typeface="Cambria"/>
                <a:cs typeface="Cambria"/>
              </a:rPr>
              <a:t>flights.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It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spc="-75" dirty="0">
                <a:latin typeface="Cambria"/>
                <a:cs typeface="Cambria"/>
              </a:rPr>
              <a:t>shows </a:t>
            </a:r>
            <a:r>
              <a:rPr sz="2700" dirty="0">
                <a:latin typeface="Cambria"/>
                <a:cs typeface="Cambria"/>
              </a:rPr>
              <a:t>us</a:t>
            </a:r>
            <a:r>
              <a:rPr sz="2700" spc="-125" dirty="0">
                <a:latin typeface="Cambria"/>
                <a:cs typeface="Cambria"/>
              </a:rPr>
              <a:t> </a:t>
            </a:r>
            <a:r>
              <a:rPr sz="2700" spc="-60" dirty="0">
                <a:latin typeface="Cambria"/>
                <a:cs typeface="Cambria"/>
              </a:rPr>
              <a:t>where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the</a:t>
            </a:r>
            <a:r>
              <a:rPr sz="2700" spc="-12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results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are </a:t>
            </a:r>
            <a:r>
              <a:rPr sz="2750" spc="-90" dirty="0">
                <a:latin typeface="Cambria"/>
                <a:cs typeface="Cambria"/>
              </a:rPr>
              <a:t>most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spc="-70" dirty="0">
                <a:latin typeface="Cambria"/>
                <a:cs typeface="Cambria"/>
              </a:rPr>
              <a:t>likely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to</a:t>
            </a:r>
            <a:r>
              <a:rPr sz="2750" spc="-11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fall.</a:t>
            </a:r>
            <a:endParaRPr sz="2750">
              <a:latin typeface="Cambria"/>
              <a:cs typeface="Cambria"/>
            </a:endParaRPr>
          </a:p>
          <a:p>
            <a:pPr marL="254635" marR="78105" indent="-242570">
              <a:lnSpc>
                <a:spcPts val="3100"/>
              </a:lnSpc>
              <a:spcBef>
                <a:spcPts val="770"/>
              </a:spcBef>
              <a:buChar char="•"/>
              <a:tabLst>
                <a:tab pos="262255" algn="l"/>
              </a:tabLst>
            </a:pPr>
            <a:r>
              <a:rPr sz="2850" spc="-120" dirty="0">
                <a:latin typeface="Cambria"/>
                <a:cs typeface="Cambria"/>
              </a:rPr>
              <a:t>The</a:t>
            </a:r>
            <a:r>
              <a:rPr sz="2850" spc="-45" dirty="0">
                <a:latin typeface="Cambria"/>
                <a:cs typeface="Cambria"/>
              </a:rPr>
              <a:t> </a:t>
            </a:r>
            <a:r>
              <a:rPr sz="2850" spc="-105" dirty="0">
                <a:latin typeface="Cambria"/>
                <a:cs typeface="Cambria"/>
              </a:rPr>
              <a:t>distinct</a:t>
            </a:r>
            <a:r>
              <a:rPr sz="2850" spc="60" dirty="0">
                <a:latin typeface="Cambria"/>
                <a:cs typeface="Cambria"/>
              </a:rPr>
              <a:t> </a:t>
            </a:r>
            <a:r>
              <a:rPr sz="2850" spc="-90" dirty="0">
                <a:latin typeface="Cambria"/>
                <a:cs typeface="Cambria"/>
              </a:rPr>
              <a:t>'bell</a:t>
            </a:r>
            <a:r>
              <a:rPr sz="2850" spc="-75" dirty="0">
                <a:latin typeface="Cambria"/>
                <a:cs typeface="Cambria"/>
              </a:rPr>
              <a:t> </a:t>
            </a:r>
            <a:r>
              <a:rPr sz="2850" spc="-140" dirty="0">
                <a:latin typeface="Cambria"/>
                <a:cs typeface="Cambria"/>
              </a:rPr>
              <a:t>curve'</a:t>
            </a:r>
            <a:r>
              <a:rPr sz="2850" spc="10" dirty="0">
                <a:latin typeface="Cambria"/>
                <a:cs typeface="Cambria"/>
              </a:rPr>
              <a:t> </a:t>
            </a:r>
            <a:r>
              <a:rPr sz="2850" spc="-140" dirty="0">
                <a:latin typeface="Cambria"/>
                <a:cs typeface="Cambria"/>
              </a:rPr>
              <a:t>(Gaussian-</a:t>
            </a:r>
            <a:r>
              <a:rPr sz="2850" spc="-10" dirty="0">
                <a:latin typeface="Cambria"/>
                <a:cs typeface="Cambria"/>
              </a:rPr>
              <a:t>like) 	</a:t>
            </a:r>
            <a:r>
              <a:rPr sz="2850" spc="-155" dirty="0">
                <a:latin typeface="Cambria"/>
                <a:cs typeface="Cambria"/>
              </a:rPr>
              <a:t>shape</a:t>
            </a:r>
            <a:r>
              <a:rPr sz="2850" spc="-50" dirty="0">
                <a:latin typeface="Cambria"/>
                <a:cs typeface="Cambria"/>
              </a:rPr>
              <a:t> </a:t>
            </a:r>
            <a:r>
              <a:rPr sz="2850" spc="-140" dirty="0">
                <a:latin typeface="Cambria"/>
                <a:cs typeface="Cambria"/>
              </a:rPr>
              <a:t>observed</a:t>
            </a:r>
            <a:r>
              <a:rPr sz="2850" spc="-20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in</a:t>
            </a:r>
            <a:r>
              <a:rPr sz="2850" spc="-70" dirty="0">
                <a:latin typeface="Cambria"/>
                <a:cs typeface="Cambria"/>
              </a:rPr>
              <a:t> </a:t>
            </a:r>
            <a:r>
              <a:rPr sz="2850" spc="-160" dirty="0">
                <a:latin typeface="Cambria"/>
                <a:cs typeface="Cambria"/>
              </a:rPr>
              <a:t>both</a:t>
            </a:r>
            <a:r>
              <a:rPr sz="2850" spc="-10" dirty="0">
                <a:latin typeface="Cambria"/>
                <a:cs typeface="Cambria"/>
              </a:rPr>
              <a:t> </a:t>
            </a:r>
            <a:r>
              <a:rPr sz="2850" spc="-110" dirty="0">
                <a:latin typeface="Cambria"/>
                <a:cs typeface="Cambria"/>
              </a:rPr>
              <a:t>range</a:t>
            </a:r>
            <a:r>
              <a:rPr sz="2850" spc="65" dirty="0">
                <a:latin typeface="Cambria"/>
                <a:cs typeface="Cambria"/>
              </a:rPr>
              <a:t> </a:t>
            </a:r>
            <a:r>
              <a:rPr sz="2850" spc="-114" dirty="0">
                <a:latin typeface="Cambria"/>
                <a:cs typeface="Cambria"/>
              </a:rPr>
              <a:t>and</a:t>
            </a:r>
            <a:r>
              <a:rPr sz="2850" spc="-45" dirty="0">
                <a:latin typeface="Cambria"/>
                <a:cs typeface="Cambria"/>
              </a:rPr>
              <a:t> </a:t>
            </a:r>
            <a:r>
              <a:rPr sz="2850" spc="-75" dirty="0">
                <a:latin typeface="Cambria"/>
                <a:cs typeface="Cambria"/>
              </a:rPr>
              <a:t>height 	</a:t>
            </a:r>
            <a:r>
              <a:rPr sz="2700" spc="-50" dirty="0">
                <a:latin typeface="Cambria"/>
                <a:cs typeface="Cambria"/>
              </a:rPr>
              <a:t>distributions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confirms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45" dirty="0">
                <a:latin typeface="Cambria"/>
                <a:cs typeface="Cambria"/>
              </a:rPr>
              <a:t>that</a:t>
            </a:r>
            <a:r>
              <a:rPr sz="2700" spc="-9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rocket's 	</a:t>
            </a:r>
            <a:r>
              <a:rPr sz="2700" spc="-40" dirty="0">
                <a:latin typeface="Cambria"/>
                <a:cs typeface="Cambria"/>
              </a:rPr>
              <a:t>performance</a:t>
            </a:r>
            <a:r>
              <a:rPr sz="2700" spc="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is</a:t>
            </a:r>
            <a:r>
              <a:rPr sz="2700" spc="-150" dirty="0"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stable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predictable.</a:t>
            </a:r>
            <a:endParaRPr sz="2700">
              <a:latin typeface="Cambria"/>
              <a:cs typeface="Cambria"/>
            </a:endParaRPr>
          </a:p>
          <a:p>
            <a:pPr marL="254635" marR="5080" indent="-242570">
              <a:lnSpc>
                <a:spcPts val="3100"/>
              </a:lnSpc>
              <a:spcBef>
                <a:spcPts val="700"/>
              </a:spcBef>
              <a:buChar char="•"/>
              <a:tabLst>
                <a:tab pos="256540" algn="l"/>
              </a:tabLst>
            </a:pPr>
            <a:r>
              <a:rPr sz="2850" spc="-100" dirty="0">
                <a:latin typeface="Cambria"/>
                <a:cs typeface="Cambria"/>
              </a:rPr>
              <a:t>The</a:t>
            </a:r>
            <a:r>
              <a:rPr sz="2850" spc="-55" dirty="0">
                <a:latin typeface="Cambria"/>
                <a:cs typeface="Cambria"/>
              </a:rPr>
              <a:t> </a:t>
            </a:r>
            <a:r>
              <a:rPr sz="2850" spc="-155" dirty="0">
                <a:latin typeface="Cambria"/>
                <a:cs typeface="Cambria"/>
              </a:rPr>
              <a:t>peak</a:t>
            </a:r>
            <a:r>
              <a:rPr sz="2850" spc="-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of</a:t>
            </a:r>
            <a:r>
              <a:rPr sz="2850" spc="-155" dirty="0">
                <a:latin typeface="Cambria"/>
                <a:cs typeface="Cambria"/>
              </a:rPr>
              <a:t> </a:t>
            </a:r>
            <a:r>
              <a:rPr sz="2850" spc="-165" dirty="0">
                <a:latin typeface="Cambria"/>
                <a:cs typeface="Cambria"/>
              </a:rPr>
              <a:t>the</a:t>
            </a:r>
            <a:r>
              <a:rPr sz="2850" spc="-10" dirty="0">
                <a:latin typeface="Cambria"/>
                <a:cs typeface="Cambria"/>
              </a:rPr>
              <a:t> </a:t>
            </a:r>
            <a:r>
              <a:rPr sz="2850" spc="-114" dirty="0">
                <a:latin typeface="Cambria"/>
                <a:cs typeface="Cambria"/>
              </a:rPr>
              <a:t>curve</a:t>
            </a:r>
            <a:r>
              <a:rPr sz="2850" spc="-35" dirty="0">
                <a:latin typeface="Cambria"/>
                <a:cs typeface="Cambria"/>
              </a:rPr>
              <a:t> </a:t>
            </a:r>
            <a:r>
              <a:rPr sz="2850" spc="-130" dirty="0">
                <a:latin typeface="Cambria"/>
                <a:cs typeface="Cambria"/>
              </a:rPr>
              <a:t>represents</a:t>
            </a:r>
            <a:r>
              <a:rPr sz="2850" spc="70" dirty="0">
                <a:latin typeface="Cambria"/>
                <a:cs typeface="Cambria"/>
              </a:rPr>
              <a:t> </a:t>
            </a:r>
            <a:r>
              <a:rPr sz="2850" spc="-25" dirty="0">
                <a:latin typeface="Cambria"/>
                <a:cs typeface="Cambria"/>
              </a:rPr>
              <a:t>the 	</a:t>
            </a:r>
            <a:r>
              <a:rPr sz="2750" spc="-95" dirty="0">
                <a:latin typeface="Cambria"/>
                <a:cs typeface="Cambria"/>
              </a:rPr>
              <a:t>most</a:t>
            </a:r>
            <a:r>
              <a:rPr sz="2750" spc="-55" dirty="0">
                <a:latin typeface="Cambria"/>
                <a:cs typeface="Cambria"/>
              </a:rPr>
              <a:t> </a:t>
            </a:r>
            <a:r>
              <a:rPr sz="2750" spc="-70" dirty="0">
                <a:latin typeface="Cambria"/>
                <a:cs typeface="Cambria"/>
              </a:rPr>
              <a:t>probable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outcome</a:t>
            </a:r>
            <a:r>
              <a:rPr sz="2750" spc="-40" dirty="0">
                <a:latin typeface="Cambria"/>
                <a:cs typeface="Cambria"/>
              </a:rPr>
              <a:t> </a:t>
            </a:r>
            <a:r>
              <a:rPr sz="2750" spc="-65" dirty="0">
                <a:latin typeface="Cambria"/>
                <a:cs typeface="Cambria"/>
              </a:rPr>
              <a:t>(the </a:t>
            </a:r>
            <a:r>
              <a:rPr sz="2750" spc="-55" dirty="0">
                <a:latin typeface="Cambria"/>
                <a:cs typeface="Cambria"/>
              </a:rPr>
              <a:t>mean),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with 	</a:t>
            </a:r>
            <a:r>
              <a:rPr sz="2750" spc="-75" dirty="0">
                <a:latin typeface="Cambria"/>
                <a:cs typeface="Cambria"/>
              </a:rPr>
              <a:t>outcomes</a:t>
            </a:r>
            <a:r>
              <a:rPr sz="2750" spc="-35" dirty="0"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becoming</a:t>
            </a:r>
            <a:r>
              <a:rPr sz="2750" spc="-40" dirty="0">
                <a:latin typeface="Cambria"/>
                <a:cs typeface="Cambria"/>
              </a:rPr>
              <a:t> </a:t>
            </a:r>
            <a:r>
              <a:rPr sz="2750" spc="-100" dirty="0">
                <a:latin typeface="Cambria"/>
                <a:cs typeface="Cambria"/>
              </a:rPr>
              <a:t>progressively</a:t>
            </a:r>
            <a:r>
              <a:rPr sz="2750" spc="40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less 	</a:t>
            </a:r>
            <a:r>
              <a:rPr sz="2700" spc="-10" dirty="0">
                <a:latin typeface="Cambria"/>
                <a:cs typeface="Cambria"/>
              </a:rPr>
              <a:t>likely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as</a:t>
            </a:r>
            <a:r>
              <a:rPr sz="2700" spc="-150" dirty="0"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they</a:t>
            </a:r>
            <a:r>
              <a:rPr sz="2700" spc="-80" dirty="0">
                <a:latin typeface="Cambria"/>
                <a:cs typeface="Cambria"/>
              </a:rPr>
              <a:t> </a:t>
            </a:r>
            <a:r>
              <a:rPr sz="2700" spc="-45" dirty="0">
                <a:latin typeface="Cambria"/>
                <a:cs typeface="Cambria"/>
              </a:rPr>
              <a:t>move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90" dirty="0">
                <a:latin typeface="Cambria"/>
                <a:cs typeface="Cambria"/>
              </a:rPr>
              <a:t>away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from</a:t>
            </a:r>
            <a:r>
              <a:rPr sz="2700" spc="-1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13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center.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04800" y="1143000"/>
            <a:ext cx="1524000" cy="45461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345"/>
              </a:spcBef>
            </a:pPr>
            <a:r>
              <a:rPr sz="1600" spc="-50" dirty="0">
                <a:solidFill>
                  <a:srgbClr val="262626"/>
                </a:solidFill>
                <a:latin typeface="Cambria"/>
                <a:cs typeface="Cambria"/>
              </a:rPr>
              <a:t>Must</a:t>
            </a:r>
            <a:r>
              <a:rPr sz="1600" spc="2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Cambria"/>
                <a:cs typeface="Cambria"/>
              </a:rPr>
              <a:t>Probable </a:t>
            </a:r>
            <a:r>
              <a:rPr sz="1600" spc="-40" dirty="0">
                <a:solidFill>
                  <a:srgbClr val="1F1F1F"/>
                </a:solidFill>
                <a:latin typeface="Cambria"/>
                <a:cs typeface="Cambria"/>
              </a:rPr>
              <a:t>Outcome</a:t>
            </a:r>
            <a:r>
              <a:rPr sz="1600" spc="-20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endParaRPr sz="1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66650" y="719666"/>
            <a:ext cx="6317615" cy="2019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9525">
              <a:lnSpc>
                <a:spcPts val="5100"/>
              </a:lnSpc>
              <a:spcBef>
                <a:spcPts val="600"/>
              </a:spcBef>
            </a:pPr>
            <a:r>
              <a:rPr sz="4550" spc="95" dirty="0">
                <a:solidFill>
                  <a:srgbClr val="012D59"/>
                </a:solidFill>
              </a:rPr>
              <a:t>Quantifying</a:t>
            </a:r>
            <a:r>
              <a:rPr sz="4550" spc="85" dirty="0">
                <a:solidFill>
                  <a:srgbClr val="012D59"/>
                </a:solidFill>
              </a:rPr>
              <a:t> </a:t>
            </a:r>
            <a:r>
              <a:rPr sz="4550" spc="-10" dirty="0">
                <a:solidFill>
                  <a:srgbClr val="072D56"/>
                </a:solidFill>
              </a:rPr>
              <a:t>Risk: </a:t>
            </a:r>
            <a:r>
              <a:rPr sz="4550" spc="60" dirty="0">
                <a:solidFill>
                  <a:srgbClr val="032A52"/>
                </a:solidFill>
              </a:rPr>
              <a:t>Cumulative</a:t>
            </a:r>
            <a:r>
              <a:rPr sz="4550" spc="135" dirty="0">
                <a:solidFill>
                  <a:srgbClr val="032A52"/>
                </a:solidFill>
              </a:rPr>
              <a:t> </a:t>
            </a:r>
            <a:r>
              <a:rPr sz="4550" spc="114" dirty="0">
                <a:solidFill>
                  <a:srgbClr val="03264B"/>
                </a:solidFill>
              </a:rPr>
              <a:t>Distribution </a:t>
            </a:r>
            <a:r>
              <a:rPr sz="4550" spc="80" dirty="0">
                <a:solidFill>
                  <a:srgbClr val="032449"/>
                </a:solidFill>
              </a:rPr>
              <a:t>Function</a:t>
            </a:r>
            <a:r>
              <a:rPr sz="4550" spc="75" dirty="0">
                <a:solidFill>
                  <a:srgbClr val="032449"/>
                </a:solidFill>
              </a:rPr>
              <a:t> </a:t>
            </a:r>
            <a:r>
              <a:rPr sz="4550" spc="-10" dirty="0">
                <a:solidFill>
                  <a:srgbClr val="052A54"/>
                </a:solidFill>
              </a:rPr>
              <a:t>(CDF)</a:t>
            </a:r>
            <a:endParaRPr sz="4550"/>
          </a:p>
        </p:txBody>
      </p:sp>
      <p:sp>
        <p:nvSpPr>
          <p:cNvPr id="18" name="object 1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1620" marR="5080" indent="-249554">
              <a:lnSpc>
                <a:spcPct val="99200"/>
              </a:lnSpc>
              <a:spcBef>
                <a:spcPts val="135"/>
              </a:spcBef>
              <a:buChar char="•"/>
              <a:tabLst>
                <a:tab pos="261620" algn="l"/>
                <a:tab pos="267335" algn="l"/>
              </a:tabLst>
            </a:pPr>
            <a:r>
              <a:rPr sz="2700" dirty="0"/>
              <a:t>	</a:t>
            </a:r>
            <a:r>
              <a:rPr sz="2700" spc="-80" dirty="0"/>
              <a:t>The</a:t>
            </a:r>
            <a:r>
              <a:rPr sz="2700" spc="-70" dirty="0"/>
              <a:t> </a:t>
            </a:r>
            <a:r>
              <a:rPr sz="2700" spc="-40" dirty="0"/>
              <a:t>Cumulative</a:t>
            </a:r>
            <a:r>
              <a:rPr sz="2700" spc="-20" dirty="0"/>
              <a:t> </a:t>
            </a:r>
            <a:r>
              <a:rPr sz="2700" spc="-25" dirty="0"/>
              <a:t>Distribution</a:t>
            </a:r>
            <a:r>
              <a:rPr sz="2700" spc="-10" dirty="0"/>
              <a:t> Function </a:t>
            </a:r>
            <a:r>
              <a:rPr spc="-40" dirty="0"/>
              <a:t>(CDF)</a:t>
            </a:r>
            <a:r>
              <a:rPr spc="-105" dirty="0"/>
              <a:t> </a:t>
            </a:r>
            <a:r>
              <a:rPr spc="-30" dirty="0"/>
              <a:t>shows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45" dirty="0"/>
              <a:t>probability</a:t>
            </a:r>
            <a:r>
              <a:rPr spc="-5" dirty="0"/>
              <a:t> </a:t>
            </a:r>
            <a:r>
              <a:rPr dirty="0"/>
              <a:t>that</a:t>
            </a:r>
            <a:r>
              <a:rPr spc="-75" dirty="0"/>
              <a:t> </a:t>
            </a:r>
            <a:r>
              <a:rPr spc="-25" dirty="0"/>
              <a:t>an </a:t>
            </a:r>
            <a:r>
              <a:rPr spc="-30" dirty="0"/>
              <a:t>outcome</a:t>
            </a:r>
            <a:r>
              <a:rPr spc="-114" dirty="0"/>
              <a:t> </a:t>
            </a:r>
            <a:r>
              <a:rPr dirty="0"/>
              <a:t>will</a:t>
            </a:r>
            <a:r>
              <a:rPr spc="-95" dirty="0"/>
              <a:t> </a:t>
            </a:r>
            <a:r>
              <a:rPr dirty="0"/>
              <a:t>be</a:t>
            </a:r>
            <a:r>
              <a:rPr spc="-135" dirty="0"/>
              <a:t> </a:t>
            </a:r>
            <a:r>
              <a:rPr spc="-20" dirty="0"/>
              <a:t>less</a:t>
            </a:r>
            <a:r>
              <a:rPr spc="-85" dirty="0"/>
              <a:t> </a:t>
            </a:r>
            <a:r>
              <a:rPr spc="-30" dirty="0"/>
              <a:t>than</a:t>
            </a:r>
            <a:r>
              <a:rPr spc="-114" dirty="0"/>
              <a:t> </a:t>
            </a:r>
            <a:r>
              <a:rPr dirty="0"/>
              <a:t>or</a:t>
            </a:r>
            <a:r>
              <a:rPr spc="-114" dirty="0"/>
              <a:t> </a:t>
            </a:r>
            <a:r>
              <a:rPr spc="-10" dirty="0"/>
              <a:t>equal</a:t>
            </a:r>
            <a:r>
              <a:rPr spc="-20" dirty="0"/>
              <a:t> </a:t>
            </a:r>
            <a:r>
              <a:rPr spc="-60" dirty="0"/>
              <a:t>to</a:t>
            </a:r>
            <a:r>
              <a:rPr spc="-85" dirty="0"/>
              <a:t> </a:t>
            </a:r>
            <a:r>
              <a:rPr spc="-50" dirty="0"/>
              <a:t>a </a:t>
            </a:r>
            <a:r>
              <a:rPr spc="-10" dirty="0"/>
              <a:t>certain</a:t>
            </a:r>
            <a:r>
              <a:rPr spc="-70" dirty="0"/>
              <a:t> </a:t>
            </a:r>
            <a:r>
              <a:rPr spc="-10" dirty="0"/>
              <a:t>value.</a:t>
            </a:r>
            <a:r>
              <a:rPr spc="-100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dirty="0"/>
              <a:t>is</a:t>
            </a:r>
            <a:r>
              <a:rPr spc="-145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spc="-50" dirty="0"/>
              <a:t>powerful</a:t>
            </a:r>
            <a:r>
              <a:rPr spc="50" dirty="0"/>
              <a:t> </a:t>
            </a:r>
            <a:r>
              <a:rPr spc="-20" dirty="0"/>
              <a:t>tool</a:t>
            </a:r>
            <a:r>
              <a:rPr spc="-105" dirty="0"/>
              <a:t> </a:t>
            </a:r>
            <a:r>
              <a:rPr dirty="0"/>
              <a:t>for</a:t>
            </a:r>
            <a:r>
              <a:rPr spc="-110" dirty="0"/>
              <a:t> </a:t>
            </a:r>
            <a:r>
              <a:rPr spc="-20" dirty="0"/>
              <a:t>risk </a:t>
            </a:r>
            <a:r>
              <a:rPr sz="2550" spc="-10" dirty="0"/>
              <a:t>assessment.</a:t>
            </a:r>
            <a:endParaRPr sz="2550"/>
          </a:p>
          <a:p>
            <a:pPr marL="258445" marR="236854" indent="-245745">
              <a:lnSpc>
                <a:spcPts val="3100"/>
              </a:lnSpc>
              <a:spcBef>
                <a:spcPts val="110"/>
              </a:spcBef>
              <a:buChar char="•"/>
              <a:tabLst>
                <a:tab pos="261620" algn="l"/>
              </a:tabLst>
            </a:pPr>
            <a:r>
              <a:rPr dirty="0"/>
              <a:t>For</a:t>
            </a:r>
            <a:r>
              <a:rPr spc="-145" dirty="0"/>
              <a:t> </a:t>
            </a:r>
            <a:r>
              <a:rPr dirty="0"/>
              <a:t>example,</a:t>
            </a:r>
            <a:r>
              <a:rPr spc="25" dirty="0"/>
              <a:t> </a:t>
            </a:r>
            <a:r>
              <a:rPr spc="-20" dirty="0"/>
              <a:t>by</a:t>
            </a:r>
            <a:r>
              <a:rPr spc="-70" dirty="0"/>
              <a:t> </a:t>
            </a:r>
            <a:r>
              <a:rPr dirty="0"/>
              <a:t>finding</a:t>
            </a:r>
            <a:r>
              <a:rPr spc="25" dirty="0"/>
              <a:t> </a:t>
            </a:r>
            <a:r>
              <a:rPr spc="-35" dirty="0"/>
              <a:t>the</a:t>
            </a:r>
            <a:r>
              <a:rPr spc="-110" dirty="0"/>
              <a:t> </a:t>
            </a:r>
            <a:r>
              <a:rPr spc="-60" dirty="0"/>
              <a:t>0.95</a:t>
            </a:r>
            <a:r>
              <a:rPr spc="-85" dirty="0"/>
              <a:t> </a:t>
            </a:r>
            <a:r>
              <a:rPr spc="-20" dirty="0"/>
              <a:t>(95%) 	</a:t>
            </a:r>
            <a:r>
              <a:rPr spc="-10" dirty="0"/>
              <a:t>point</a:t>
            </a:r>
            <a:r>
              <a:rPr spc="-35" dirty="0"/>
              <a:t> </a:t>
            </a:r>
            <a:r>
              <a:rPr dirty="0"/>
              <a:t>on</a:t>
            </a:r>
            <a:r>
              <a:rPr spc="-80" dirty="0"/>
              <a:t> </a:t>
            </a:r>
            <a:r>
              <a:rPr dirty="0"/>
              <a:t>the</a:t>
            </a:r>
            <a:r>
              <a:rPr spc="-70" dirty="0"/>
              <a:t> Y-</a:t>
            </a:r>
            <a:r>
              <a:rPr spc="-20" dirty="0"/>
              <a:t>axis</a:t>
            </a:r>
            <a:r>
              <a:rPr spc="-85" dirty="0"/>
              <a:t> </a:t>
            </a:r>
            <a:r>
              <a:rPr dirty="0"/>
              <a:t>and</a:t>
            </a:r>
            <a:r>
              <a:rPr spc="-30" dirty="0"/>
              <a:t> reading</a:t>
            </a:r>
            <a:r>
              <a:rPr spc="85" dirty="0"/>
              <a:t> </a:t>
            </a:r>
            <a:r>
              <a:rPr spc="-25" dirty="0"/>
              <a:t>the 	corresponding</a:t>
            </a:r>
            <a:r>
              <a:rPr spc="114" dirty="0"/>
              <a:t> </a:t>
            </a:r>
            <a:r>
              <a:rPr spc="-35" dirty="0"/>
              <a:t>X-</a:t>
            </a:r>
            <a:r>
              <a:rPr dirty="0"/>
              <a:t>axis</a:t>
            </a:r>
            <a:r>
              <a:rPr spc="-30" dirty="0"/>
              <a:t> </a:t>
            </a:r>
            <a:r>
              <a:rPr dirty="0"/>
              <a:t>value,</a:t>
            </a:r>
            <a:r>
              <a:rPr spc="-55" dirty="0"/>
              <a:t> </a:t>
            </a:r>
            <a:r>
              <a:rPr spc="-30" dirty="0"/>
              <a:t>we</a:t>
            </a:r>
            <a:r>
              <a:rPr spc="-80" dirty="0"/>
              <a:t> </a:t>
            </a:r>
            <a:r>
              <a:rPr spc="-25" dirty="0"/>
              <a:t>can 	</a:t>
            </a:r>
            <a:r>
              <a:rPr spc="-20" dirty="0"/>
              <a:t>determine</a:t>
            </a:r>
            <a:r>
              <a:rPr spc="-1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performance</a:t>
            </a:r>
            <a:r>
              <a:rPr spc="-5" dirty="0"/>
              <a:t> </a:t>
            </a:r>
            <a:r>
              <a:rPr spc="-10" dirty="0"/>
              <a:t>threshold 	</a:t>
            </a:r>
            <a:r>
              <a:rPr spc="-40" dirty="0"/>
              <a:t>below</a:t>
            </a:r>
            <a:r>
              <a:rPr spc="-65" dirty="0"/>
              <a:t> </a:t>
            </a:r>
            <a:r>
              <a:rPr spc="-10" dirty="0"/>
              <a:t>which</a:t>
            </a:r>
            <a:r>
              <a:rPr spc="-30" dirty="0"/>
              <a:t> </a:t>
            </a:r>
            <a:r>
              <a:rPr spc="-235" dirty="0"/>
              <a:t>95%</a:t>
            </a:r>
            <a:r>
              <a:rPr spc="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all</a:t>
            </a:r>
            <a:r>
              <a:rPr spc="-95" dirty="0"/>
              <a:t> </a:t>
            </a:r>
            <a:r>
              <a:rPr dirty="0"/>
              <a:t>flight</a:t>
            </a:r>
            <a:r>
              <a:rPr spc="25" dirty="0"/>
              <a:t> </a:t>
            </a:r>
            <a:r>
              <a:rPr spc="-10" dirty="0"/>
              <a:t>outcomes 	</a:t>
            </a:r>
            <a:r>
              <a:rPr dirty="0"/>
              <a:t>are</a:t>
            </a:r>
            <a:r>
              <a:rPr spc="-145" dirty="0"/>
              <a:t> </a:t>
            </a:r>
            <a:r>
              <a:rPr dirty="0"/>
              <a:t>expected</a:t>
            </a:r>
            <a:r>
              <a:rPr spc="-90" dirty="0"/>
              <a:t> </a:t>
            </a:r>
            <a:r>
              <a:rPr dirty="0"/>
              <a:t>to</a:t>
            </a:r>
            <a:r>
              <a:rPr spc="-145" dirty="0"/>
              <a:t> </a:t>
            </a:r>
            <a:r>
              <a:rPr spc="-10" dirty="0"/>
              <a:t>fall.</a:t>
            </a:r>
          </a:p>
          <a:p>
            <a:pPr marL="254635" marR="83820" indent="-242570">
              <a:lnSpc>
                <a:spcPts val="3100"/>
              </a:lnSpc>
              <a:buClr>
                <a:srgbClr val="0A0A0A"/>
              </a:buClr>
              <a:buChar char="•"/>
              <a:tabLst>
                <a:tab pos="262890" algn="l"/>
              </a:tabLst>
            </a:pPr>
            <a:r>
              <a:rPr sz="2700" spc="-30" dirty="0"/>
              <a:t>This</a:t>
            </a:r>
            <a:r>
              <a:rPr sz="2700" spc="-120" dirty="0"/>
              <a:t> </a:t>
            </a:r>
            <a:r>
              <a:rPr sz="2700" spc="-70" dirty="0"/>
              <a:t>allows</a:t>
            </a:r>
            <a:r>
              <a:rPr sz="2700" spc="-80" dirty="0"/>
              <a:t> </a:t>
            </a:r>
            <a:r>
              <a:rPr sz="2700" spc="-65" dirty="0"/>
              <a:t>us</a:t>
            </a:r>
            <a:r>
              <a:rPr sz="2700" spc="-85" dirty="0"/>
              <a:t> </a:t>
            </a:r>
            <a:r>
              <a:rPr sz="2700" spc="-70" dirty="0"/>
              <a:t>to</a:t>
            </a:r>
            <a:r>
              <a:rPr sz="2700" spc="-120" dirty="0"/>
              <a:t> </a:t>
            </a:r>
            <a:r>
              <a:rPr sz="2700" spc="-60" dirty="0"/>
              <a:t>establish</a:t>
            </a:r>
            <a:r>
              <a:rPr sz="2700" spc="30" dirty="0"/>
              <a:t> </a:t>
            </a:r>
            <a:r>
              <a:rPr sz="2700" spc="-50" dirty="0"/>
              <a:t>a 	</a:t>
            </a:r>
            <a:r>
              <a:rPr sz="2700" spc="-40" dirty="0"/>
              <a:t>scientifically</a:t>
            </a:r>
            <a:r>
              <a:rPr sz="2700" spc="-110" dirty="0"/>
              <a:t> </a:t>
            </a:r>
            <a:r>
              <a:rPr sz="2700" spc="-75" dirty="0"/>
              <a:t>grounded</a:t>
            </a:r>
            <a:r>
              <a:rPr sz="2700" spc="40" dirty="0"/>
              <a:t> </a:t>
            </a:r>
            <a:r>
              <a:rPr sz="2700" spc="-10" dirty="0"/>
              <a:t>confidence 	</a:t>
            </a:r>
            <a:r>
              <a:rPr spc="-10" dirty="0"/>
              <a:t>interval</a:t>
            </a:r>
            <a:r>
              <a:rPr dirty="0"/>
              <a:t> for</a:t>
            </a:r>
            <a:r>
              <a:rPr spc="-110" dirty="0"/>
              <a:t> </a:t>
            </a:r>
            <a:r>
              <a:rPr spc="-10" dirty="0"/>
              <a:t>mission</a:t>
            </a:r>
            <a:r>
              <a:rPr spc="10" dirty="0"/>
              <a:t> </a:t>
            </a:r>
            <a:r>
              <a:rPr dirty="0"/>
              <a:t>planning</a:t>
            </a:r>
            <a:r>
              <a:rPr spc="1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safety 	</a:t>
            </a:r>
            <a:r>
              <a:rPr sz="2550" spc="-10" dirty="0"/>
              <a:t>assurance.</a:t>
            </a:r>
            <a:endParaRPr sz="2550"/>
          </a:p>
        </p:txBody>
      </p:sp>
      <p:pic>
        <p:nvPicPr>
          <p:cNvPr id="34" name="Resim 33" descr="ekran görüntüsü, öykü gelişim çizgisi; kumpas; grafiğini çıkarma, metin, çizgi içeren bir resim">
            <a:extLst>
              <a:ext uri="{FF2B5EF4-FFF2-40B4-BE49-F238E27FC236}">
                <a16:creationId xmlns:a16="http://schemas.microsoft.com/office/drawing/2014/main" id="{5AEB84D6-5666-498B-A484-BA1B08710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632" y="719666"/>
            <a:ext cx="10126488" cy="3972479"/>
          </a:xfrm>
          <a:prstGeom prst="rect">
            <a:avLst/>
          </a:prstGeom>
        </p:spPr>
      </p:pic>
      <p:pic>
        <p:nvPicPr>
          <p:cNvPr id="36" name="Resim 35" descr="ekran görüntüsü, metin, öykü gelişim çizgisi; kumpas; grafiğini çıkarma, çizgi içeren bir resim">
            <a:extLst>
              <a:ext uri="{FF2B5EF4-FFF2-40B4-BE49-F238E27FC236}">
                <a16:creationId xmlns:a16="http://schemas.microsoft.com/office/drawing/2014/main" id="{393A6926-EE36-76AA-06CF-A6545CB66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749" y="5119537"/>
            <a:ext cx="10088383" cy="3943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4900" y="2120900"/>
            <a:ext cx="5041900" cy="4546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2120900"/>
            <a:ext cx="660400" cy="4635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52400" y="6477000"/>
            <a:ext cx="4102100" cy="2463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7428" y="572558"/>
            <a:ext cx="15874365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spc="95" dirty="0">
                <a:solidFill>
                  <a:srgbClr val="03234D"/>
                </a:solidFill>
              </a:rPr>
              <a:t>Visualizing</a:t>
            </a:r>
            <a:r>
              <a:rPr sz="4800" spc="55" dirty="0">
                <a:solidFill>
                  <a:srgbClr val="03234D"/>
                </a:solidFill>
              </a:rPr>
              <a:t> </a:t>
            </a:r>
            <a:r>
              <a:rPr sz="4800" spc="175" dirty="0">
                <a:solidFill>
                  <a:srgbClr val="05264B"/>
                </a:solidFill>
              </a:rPr>
              <a:t>the</a:t>
            </a:r>
            <a:r>
              <a:rPr sz="4800" spc="-340" dirty="0">
                <a:solidFill>
                  <a:srgbClr val="05264B"/>
                </a:solidFill>
              </a:rPr>
              <a:t> </a:t>
            </a:r>
            <a:r>
              <a:rPr sz="4800" spc="114" dirty="0">
                <a:solidFill>
                  <a:srgbClr val="082856"/>
                </a:solidFill>
              </a:rPr>
              <a:t>Impact</a:t>
            </a:r>
            <a:r>
              <a:rPr sz="4800" spc="229" dirty="0">
                <a:solidFill>
                  <a:srgbClr val="082856"/>
                </a:solidFill>
              </a:rPr>
              <a:t> </a:t>
            </a:r>
            <a:r>
              <a:rPr sz="4800" dirty="0">
                <a:solidFill>
                  <a:srgbClr val="01234B"/>
                </a:solidFill>
              </a:rPr>
              <a:t>Zone:</a:t>
            </a:r>
            <a:r>
              <a:rPr sz="4800" spc="-215" dirty="0">
                <a:solidFill>
                  <a:srgbClr val="01234B"/>
                </a:solidFill>
              </a:rPr>
              <a:t> </a:t>
            </a:r>
            <a:r>
              <a:rPr sz="4800" spc="50" dirty="0">
                <a:solidFill>
                  <a:srgbClr val="05264D"/>
                </a:solidFill>
              </a:rPr>
              <a:t>The</a:t>
            </a:r>
            <a:r>
              <a:rPr sz="4800" spc="-145" dirty="0">
                <a:solidFill>
                  <a:srgbClr val="05264D"/>
                </a:solidFill>
              </a:rPr>
              <a:t> </a:t>
            </a:r>
            <a:r>
              <a:rPr sz="4800" spc="-65" dirty="0">
                <a:solidFill>
                  <a:srgbClr val="032856"/>
                </a:solidFill>
              </a:rPr>
              <a:t>2D</a:t>
            </a:r>
            <a:r>
              <a:rPr sz="4800" spc="-305" dirty="0">
                <a:solidFill>
                  <a:srgbClr val="032856"/>
                </a:solidFill>
              </a:rPr>
              <a:t> </a:t>
            </a:r>
            <a:r>
              <a:rPr sz="4800" spc="95" dirty="0">
                <a:solidFill>
                  <a:srgbClr val="052A54"/>
                </a:solidFill>
              </a:rPr>
              <a:t>Performance</a:t>
            </a:r>
            <a:r>
              <a:rPr sz="4800" spc="-85" dirty="0">
                <a:solidFill>
                  <a:srgbClr val="052A54"/>
                </a:solidFill>
              </a:rPr>
              <a:t> </a:t>
            </a:r>
            <a:r>
              <a:rPr sz="4800" spc="114" dirty="0">
                <a:solidFill>
                  <a:srgbClr val="01244D"/>
                </a:solidFill>
              </a:rPr>
              <a:t>Model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718272" y="2122311"/>
            <a:ext cx="3453129" cy="216789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59715" marR="5080" indent="-247650">
              <a:lnSpc>
                <a:spcPct val="87800"/>
              </a:lnSpc>
              <a:spcBef>
                <a:spcPts val="520"/>
              </a:spcBef>
              <a:buChar char="•"/>
              <a:tabLst>
                <a:tab pos="259715" algn="l"/>
                <a:tab pos="264160" algn="l"/>
              </a:tabLst>
            </a:pPr>
            <a:r>
              <a:rPr sz="2600" dirty="0">
                <a:latin typeface="Times New Roman"/>
                <a:cs typeface="Times New Roman"/>
              </a:rPr>
              <a:t>	8y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plotting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peak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altitude </a:t>
            </a:r>
            <a:r>
              <a:rPr sz="2600" spc="-20" dirty="0">
                <a:latin typeface="Times New Roman"/>
                <a:cs typeface="Times New Roman"/>
              </a:rPr>
              <a:t>versus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final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range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for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all </a:t>
            </a:r>
            <a:r>
              <a:rPr sz="2600" spc="-75" dirty="0">
                <a:latin typeface="Times New Roman"/>
                <a:cs typeface="Times New Roman"/>
              </a:rPr>
              <a:t>2,000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iterations,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we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can </a:t>
            </a:r>
            <a:r>
              <a:rPr sz="2600" spc="-40" dirty="0">
                <a:latin typeface="Times New Roman"/>
                <a:cs typeface="Times New Roman"/>
              </a:rPr>
              <a:t>visualize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system's </a:t>
            </a:r>
            <a:r>
              <a:rPr sz="2600" dirty="0">
                <a:latin typeface="Times New Roman"/>
                <a:cs typeface="Times New Roman"/>
              </a:rPr>
              <a:t>combined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performance envelope.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501" y="4584700"/>
            <a:ext cx="4039235" cy="28498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58445" marR="5080" indent="-246379">
              <a:lnSpc>
                <a:spcPct val="93200"/>
              </a:lnSpc>
              <a:spcBef>
                <a:spcPts val="305"/>
              </a:spcBef>
              <a:buChar char="•"/>
              <a:tabLst>
                <a:tab pos="258445" algn="l"/>
                <a:tab pos="265430" algn="l"/>
              </a:tabLst>
            </a:pPr>
            <a:r>
              <a:rPr sz="2500" dirty="0">
                <a:latin typeface="Cambria"/>
                <a:cs typeface="Cambria"/>
              </a:rPr>
              <a:t>	</a:t>
            </a:r>
            <a:r>
              <a:rPr sz="2500" spc="-70" dirty="0">
                <a:latin typeface="Cambria"/>
                <a:cs typeface="Cambria"/>
              </a:rPr>
              <a:t>The </a:t>
            </a:r>
            <a:r>
              <a:rPr sz="2500" spc="-10" dirty="0">
                <a:latin typeface="Cambria"/>
                <a:cs typeface="Cambria"/>
              </a:rPr>
              <a:t>2D</a:t>
            </a:r>
            <a:r>
              <a:rPr sz="2500" spc="-18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Density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Map </a:t>
            </a:r>
            <a:r>
              <a:rPr sz="2500" spc="-60" dirty="0">
                <a:latin typeface="Cambria"/>
                <a:cs typeface="Cambria"/>
              </a:rPr>
              <a:t>visualizes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75" dirty="0">
                <a:latin typeface="Cambria"/>
                <a:cs typeface="Cambria"/>
              </a:rPr>
              <a:t>the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'Impact </a:t>
            </a:r>
            <a:r>
              <a:rPr sz="2500" spc="-55" dirty="0">
                <a:latin typeface="Cambria"/>
                <a:cs typeface="Cambria"/>
              </a:rPr>
              <a:t>Dispersion.'</a:t>
            </a:r>
            <a:r>
              <a:rPr sz="2500" spc="55" dirty="0">
                <a:latin typeface="Cambria"/>
                <a:cs typeface="Cambria"/>
              </a:rPr>
              <a:t> </a:t>
            </a:r>
            <a:r>
              <a:rPr sz="2500" spc="-50" dirty="0">
                <a:latin typeface="Cambria"/>
                <a:cs typeface="Cambria"/>
              </a:rPr>
              <a:t>The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color </a:t>
            </a:r>
            <a:r>
              <a:rPr sz="2400" dirty="0">
                <a:latin typeface="Cambria"/>
                <a:cs typeface="Cambria"/>
              </a:rPr>
              <a:t>intensity </a:t>
            </a:r>
            <a:r>
              <a:rPr sz="2400" spc="-20" dirty="0">
                <a:latin typeface="Cambria"/>
                <a:cs typeface="Cambria"/>
              </a:rPr>
              <a:t>represents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concentration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outcomes, </a:t>
            </a:r>
            <a:r>
              <a:rPr sz="2500" spc="-60" dirty="0">
                <a:latin typeface="Cambria"/>
                <a:cs typeface="Cambria"/>
              </a:rPr>
              <a:t>with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70" dirty="0">
                <a:latin typeface="Cambria"/>
                <a:cs typeface="Cambria"/>
              </a:rPr>
              <a:t>'hotspots'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spc="-40" dirty="0">
                <a:latin typeface="Cambria"/>
                <a:cs typeface="Cambria"/>
              </a:rPr>
              <a:t>indicating</a:t>
            </a:r>
            <a:r>
              <a:rPr sz="2500" spc="1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the </a:t>
            </a:r>
            <a:r>
              <a:rPr sz="2500" spc="-45" dirty="0">
                <a:latin typeface="Cambria"/>
                <a:cs typeface="Cambria"/>
              </a:rPr>
              <a:t>highest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probability </a:t>
            </a:r>
            <a:r>
              <a:rPr sz="2400" dirty="0">
                <a:latin typeface="Cambria"/>
                <a:cs typeface="Cambria"/>
              </a:rPr>
              <a:t>performance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zones.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180" y="2425347"/>
            <a:ext cx="63055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solidFill>
                  <a:srgbClr val="131313"/>
                </a:solidFill>
                <a:latin typeface="Cambria"/>
                <a:cs typeface="Cambria"/>
              </a:rPr>
              <a:t>2650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480" y="3015897"/>
            <a:ext cx="64833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latin typeface="Cambria"/>
                <a:cs typeface="Cambria"/>
              </a:rPr>
              <a:t>2600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6480" y="3606447"/>
            <a:ext cx="64833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latin typeface="Cambria"/>
                <a:cs typeface="Cambria"/>
              </a:rPr>
              <a:t>2550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6480" y="4203347"/>
            <a:ext cx="64833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solidFill>
                  <a:srgbClr val="0C0C0C"/>
                </a:solidFill>
                <a:latin typeface="Cambria"/>
                <a:cs typeface="Cambria"/>
              </a:rPr>
              <a:t>2500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9180" y="4800247"/>
            <a:ext cx="63055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solidFill>
                  <a:srgbClr val="111111"/>
                </a:solidFill>
                <a:latin typeface="Cambria"/>
                <a:cs typeface="Cambria"/>
              </a:rPr>
              <a:t>2450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9180" y="5390797"/>
            <a:ext cx="63055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solidFill>
                  <a:srgbClr val="0E0E0E"/>
                </a:solidFill>
                <a:latin typeface="Cambria"/>
                <a:cs typeface="Cambria"/>
              </a:rPr>
              <a:t>2400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54257" y="5977819"/>
            <a:ext cx="64706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95" dirty="0">
                <a:latin typeface="Cambria"/>
                <a:cs typeface="Cambria"/>
              </a:rPr>
              <a:t>2350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23802" y="1676400"/>
            <a:ext cx="23374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14" dirty="0">
                <a:latin typeface="Cambria"/>
                <a:cs typeface="Cambria"/>
              </a:rPr>
              <a:t>2D</a:t>
            </a:r>
            <a:r>
              <a:rPr sz="2500" spc="95" dirty="0">
                <a:latin typeface="Cambria"/>
                <a:cs typeface="Cambria"/>
              </a:rPr>
              <a:t> </a:t>
            </a:r>
            <a:r>
              <a:rPr sz="2500" spc="50" dirty="0">
                <a:latin typeface="Cambria"/>
                <a:cs typeface="Cambria"/>
              </a:rPr>
              <a:t>Density</a:t>
            </a:r>
            <a:r>
              <a:rPr sz="2500" spc="35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Map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43585" y="2045405"/>
            <a:ext cx="42545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25" dirty="0">
                <a:latin typeface="Trebuchet MS"/>
                <a:cs typeface="Trebuchet MS"/>
              </a:rPr>
              <a:t>200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41935" y="3150305"/>
            <a:ext cx="435609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25" dirty="0">
                <a:latin typeface="Cambria"/>
                <a:cs typeface="Cambria"/>
              </a:rPr>
              <a:t>150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1935" y="4255205"/>
            <a:ext cx="435609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25" dirty="0">
                <a:latin typeface="Cambria"/>
                <a:cs typeface="Cambria"/>
              </a:rPr>
              <a:t>100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32611" y="5372805"/>
            <a:ext cx="30988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25" dirty="0">
                <a:latin typeface="Cambria"/>
                <a:cs typeface="Cambria"/>
              </a:rPr>
              <a:t>50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62344" y="6705963"/>
            <a:ext cx="6704965" cy="26314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22580" algn="ctr">
              <a:lnSpc>
                <a:spcPct val="100000"/>
              </a:lnSpc>
              <a:spcBef>
                <a:spcPts val="245"/>
              </a:spcBef>
              <a:tabLst>
                <a:tab pos="1605280" algn="l"/>
                <a:tab pos="2875280" algn="l"/>
                <a:tab pos="4157979" algn="l"/>
              </a:tabLst>
            </a:pPr>
            <a:r>
              <a:rPr sz="2150" spc="-20" dirty="0">
                <a:latin typeface="Arial MT"/>
                <a:cs typeface="Arial MT"/>
              </a:rPr>
              <a:t>4200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4400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latin typeface="Arial MT"/>
                <a:cs typeface="Arial MT"/>
              </a:rPr>
              <a:t>4600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0" dirty="0">
                <a:solidFill>
                  <a:srgbClr val="1A1A1A"/>
                </a:solidFill>
                <a:latin typeface="Arial MT"/>
                <a:cs typeface="Arial MT"/>
              </a:rPr>
              <a:t>4800</a:t>
            </a:r>
            <a:endParaRPr sz="2150">
              <a:latin typeface="Arial MT"/>
              <a:cs typeface="Arial MT"/>
            </a:endParaRPr>
          </a:p>
          <a:p>
            <a:pPr marR="17780" algn="ctr">
              <a:lnSpc>
                <a:spcPct val="100000"/>
              </a:lnSpc>
              <a:spcBef>
                <a:spcPts val="170"/>
              </a:spcBef>
            </a:pPr>
            <a:r>
              <a:rPr sz="2350" spc="-25" dirty="0">
                <a:latin typeface="Arial MT"/>
                <a:cs typeface="Arial MT"/>
              </a:rPr>
              <a:t>Range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(m)</a:t>
            </a:r>
            <a:endParaRPr sz="2350">
              <a:latin typeface="Arial MT"/>
              <a:cs typeface="Arial MT"/>
            </a:endParaRPr>
          </a:p>
          <a:p>
            <a:pPr marL="251460" marR="5080" indent="-239395">
              <a:lnSpc>
                <a:spcPct val="88200"/>
              </a:lnSpc>
              <a:spcBef>
                <a:spcPts val="2370"/>
              </a:spcBef>
              <a:buChar char="•"/>
              <a:tabLst>
                <a:tab pos="25146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strong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positive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linear</a:t>
            </a:r>
            <a:r>
              <a:rPr sz="2400" spc="-1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correlation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seen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1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350" spc="-60" dirty="0">
                <a:latin typeface="Cambria"/>
                <a:cs typeface="Cambria"/>
              </a:rPr>
              <a:t>scatter</a:t>
            </a:r>
            <a:r>
              <a:rPr sz="2350" spc="-40" dirty="0">
                <a:latin typeface="Cambria"/>
                <a:cs typeface="Cambria"/>
              </a:rPr>
              <a:t> </a:t>
            </a:r>
            <a:r>
              <a:rPr sz="2350" spc="-55" dirty="0">
                <a:latin typeface="Cambria"/>
                <a:cs typeface="Cambria"/>
              </a:rPr>
              <a:t>plot</a:t>
            </a:r>
            <a:r>
              <a:rPr sz="2350" spc="-75" dirty="0">
                <a:latin typeface="Cambria"/>
                <a:cs typeface="Cambria"/>
              </a:rPr>
              <a:t> </a:t>
            </a:r>
            <a:r>
              <a:rPr sz="2350" spc="-20" dirty="0">
                <a:latin typeface="Cambria"/>
                <a:cs typeface="Cambria"/>
              </a:rPr>
              <a:t>confirms</a:t>
            </a:r>
            <a:r>
              <a:rPr sz="2350" spc="-50" dirty="0">
                <a:latin typeface="Cambria"/>
                <a:cs typeface="Cambria"/>
              </a:rPr>
              <a:t> </a:t>
            </a:r>
            <a:r>
              <a:rPr sz="2350" spc="-40" dirty="0">
                <a:latin typeface="Cambria"/>
                <a:cs typeface="Cambria"/>
              </a:rPr>
              <a:t>that</a:t>
            </a:r>
            <a:r>
              <a:rPr sz="2350" spc="-45" dirty="0">
                <a:latin typeface="Cambria"/>
                <a:cs typeface="Cambria"/>
              </a:rPr>
              <a:t> </a:t>
            </a:r>
            <a:r>
              <a:rPr sz="2350" spc="-10" dirty="0">
                <a:latin typeface="Cambria"/>
                <a:cs typeface="Cambria"/>
              </a:rPr>
              <a:t>flights</a:t>
            </a:r>
            <a:r>
              <a:rPr sz="2350" spc="-60" dirty="0">
                <a:latin typeface="Cambria"/>
                <a:cs typeface="Cambria"/>
              </a:rPr>
              <a:t> </a:t>
            </a:r>
            <a:r>
              <a:rPr sz="2350" spc="-20" dirty="0">
                <a:latin typeface="Cambria"/>
                <a:cs typeface="Cambria"/>
              </a:rPr>
              <a:t>achieving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-10" dirty="0">
                <a:latin typeface="Cambria"/>
                <a:cs typeface="Cambria"/>
              </a:rPr>
              <a:t>higher </a:t>
            </a:r>
            <a:r>
              <a:rPr sz="2350" spc="-25" dirty="0">
                <a:latin typeface="Cambria"/>
                <a:cs typeface="Cambria"/>
              </a:rPr>
              <a:t>altitudes</a:t>
            </a:r>
            <a:r>
              <a:rPr sz="2350" spc="-105" dirty="0">
                <a:latin typeface="Cambria"/>
                <a:cs typeface="Cambria"/>
              </a:rPr>
              <a:t> </a:t>
            </a:r>
            <a:r>
              <a:rPr sz="2350" spc="-25" dirty="0">
                <a:latin typeface="Cambria"/>
                <a:cs typeface="Cambria"/>
              </a:rPr>
              <a:t>consistently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-35" dirty="0">
                <a:latin typeface="Cambria"/>
                <a:cs typeface="Cambria"/>
              </a:rPr>
              <a:t>travel</a:t>
            </a:r>
            <a:r>
              <a:rPr sz="2350" spc="-75" dirty="0">
                <a:latin typeface="Cambria"/>
                <a:cs typeface="Cambria"/>
              </a:rPr>
              <a:t> </a:t>
            </a:r>
            <a:r>
              <a:rPr sz="2350" spc="90" dirty="0">
                <a:latin typeface="Cambria"/>
                <a:cs typeface="Cambria"/>
              </a:rPr>
              <a:t>a</a:t>
            </a:r>
            <a:r>
              <a:rPr sz="2350" spc="-145" dirty="0">
                <a:latin typeface="Cambria"/>
                <a:cs typeface="Cambria"/>
              </a:rPr>
              <a:t> </a:t>
            </a:r>
            <a:r>
              <a:rPr sz="2350" spc="-25" dirty="0">
                <a:latin typeface="Cambria"/>
                <a:cs typeface="Cambria"/>
              </a:rPr>
              <a:t>greater</a:t>
            </a:r>
            <a:r>
              <a:rPr sz="2350" spc="-15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range,</a:t>
            </a:r>
            <a:r>
              <a:rPr sz="2350" spc="-10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as</a:t>
            </a:r>
            <a:r>
              <a:rPr sz="2350" spc="-30" dirty="0">
                <a:latin typeface="Cambria"/>
                <a:cs typeface="Cambria"/>
              </a:rPr>
              <a:t> </a:t>
            </a:r>
            <a:r>
              <a:rPr sz="2350" spc="-20" dirty="0">
                <a:latin typeface="Cambria"/>
                <a:cs typeface="Cambria"/>
              </a:rPr>
              <a:t>they </a:t>
            </a:r>
            <a:r>
              <a:rPr sz="2300" dirty="0">
                <a:latin typeface="Cambria"/>
                <a:cs typeface="Cambria"/>
              </a:rPr>
              <a:t>spend</a:t>
            </a:r>
            <a:r>
              <a:rPr sz="2300" spc="-4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more</a:t>
            </a:r>
            <a:r>
              <a:rPr sz="2300" spc="-2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time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in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thinner</a:t>
            </a:r>
            <a:r>
              <a:rPr sz="2300" spc="4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upper-atmospheric </a:t>
            </a:r>
            <a:r>
              <a:rPr sz="2350" spc="-25" dirty="0">
                <a:latin typeface="Cambria"/>
                <a:cs typeface="Cambria"/>
              </a:rPr>
              <a:t>layers</a:t>
            </a:r>
            <a:r>
              <a:rPr sz="2350" spc="-100" dirty="0">
                <a:latin typeface="Cambria"/>
                <a:cs typeface="Cambria"/>
              </a:rPr>
              <a:t> </a:t>
            </a:r>
            <a:r>
              <a:rPr sz="2350" spc="-25" dirty="0">
                <a:latin typeface="Cambria"/>
                <a:cs typeface="Cambria"/>
              </a:rPr>
              <a:t>with</a:t>
            </a:r>
            <a:r>
              <a:rPr sz="2350" spc="-45" dirty="0">
                <a:latin typeface="Cambria"/>
                <a:cs typeface="Cambria"/>
              </a:rPr>
              <a:t> </a:t>
            </a:r>
            <a:r>
              <a:rPr sz="2350" spc="-20" dirty="0">
                <a:latin typeface="Cambria"/>
                <a:cs typeface="Cambria"/>
              </a:rPr>
              <a:t>reduced</a:t>
            </a:r>
            <a:r>
              <a:rPr sz="2350" spc="-85" dirty="0">
                <a:latin typeface="Cambria"/>
                <a:cs typeface="Cambria"/>
              </a:rPr>
              <a:t> </a:t>
            </a:r>
            <a:r>
              <a:rPr sz="2350" spc="-20" dirty="0">
                <a:latin typeface="Cambria"/>
                <a:cs typeface="Cambria"/>
              </a:rPr>
              <a:t>drag.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45045" y="6277680"/>
            <a:ext cx="1212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40816" y="6115402"/>
            <a:ext cx="35071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1510" algn="l"/>
              </a:tabLst>
            </a:pPr>
            <a:r>
              <a:rPr sz="1600" spc="-25" dirty="0">
                <a:latin typeface="Cambria"/>
                <a:cs typeface="Cambria"/>
              </a:rPr>
              <a:t>yyy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60" dirty="0">
                <a:latin typeface="Cambria"/>
                <a:cs typeface="Cambria"/>
              </a:rPr>
              <a:t>Range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vs.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Altitude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Relationship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44487" y="6776860"/>
            <a:ext cx="40830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20" dirty="0">
                <a:latin typeface="Cambria"/>
                <a:cs typeface="Cambria"/>
              </a:rPr>
              <a:t>2600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867373" y="7284860"/>
            <a:ext cx="58547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solidFill>
                  <a:srgbClr val="282828"/>
                </a:solidFill>
                <a:latin typeface="Cambria"/>
                <a:cs typeface="Cambria"/>
              </a:rPr>
              <a:t>E</a:t>
            </a:r>
            <a:r>
              <a:rPr sz="1350" spc="32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350" spc="-20" dirty="0">
                <a:latin typeface="Cambria"/>
                <a:cs typeface="Cambria"/>
              </a:rPr>
              <a:t>2500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55600" y="7784041"/>
            <a:ext cx="59499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310" dirty="0">
                <a:latin typeface="Cambria"/>
                <a:cs typeface="Cambria"/>
              </a:rPr>
              <a:t>%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-45" dirty="0">
                <a:latin typeface="Cambria"/>
                <a:cs typeface="Cambria"/>
              </a:rPr>
              <a:t>2400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44487" y="8300860"/>
            <a:ext cx="40830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20" dirty="0">
                <a:solidFill>
                  <a:srgbClr val="0E0E0E"/>
                </a:solidFill>
                <a:latin typeface="Cambria"/>
                <a:cs typeface="Cambria"/>
              </a:rPr>
              <a:t>2400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044487" y="8808860"/>
            <a:ext cx="40830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20" dirty="0">
                <a:solidFill>
                  <a:srgbClr val="0C0C0C"/>
                </a:solidFill>
                <a:latin typeface="Cambria"/>
                <a:cs typeface="Cambria"/>
              </a:rPr>
              <a:t>2300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289610" y="8943622"/>
            <a:ext cx="4051300" cy="728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88595" algn="ctr">
              <a:lnSpc>
                <a:spcPct val="100000"/>
              </a:lnSpc>
              <a:spcBef>
                <a:spcPts val="125"/>
              </a:spcBef>
              <a:tabLst>
                <a:tab pos="697865" algn="l"/>
                <a:tab pos="1383665" algn="l"/>
                <a:tab pos="2069464" algn="l"/>
                <a:tab pos="2755265" algn="l"/>
                <a:tab pos="3447415" algn="l"/>
              </a:tabLst>
            </a:pPr>
            <a:r>
              <a:rPr sz="1500" spc="-20" dirty="0">
                <a:solidFill>
                  <a:srgbClr val="0F0F0F"/>
                </a:solidFill>
                <a:latin typeface="Cambria"/>
                <a:cs typeface="Cambria"/>
              </a:rPr>
              <a:t>4000</a:t>
            </a:r>
            <a:r>
              <a:rPr sz="1500" dirty="0">
                <a:solidFill>
                  <a:srgbClr val="0F0F0F"/>
                </a:solidFill>
                <a:latin typeface="Cambria"/>
                <a:cs typeface="Cambria"/>
              </a:rPr>
              <a:t>	</a:t>
            </a:r>
            <a:r>
              <a:rPr sz="1500" spc="-20" dirty="0">
                <a:latin typeface="Cambria"/>
                <a:cs typeface="Cambria"/>
              </a:rPr>
              <a:t>4200</a:t>
            </a:r>
            <a:r>
              <a:rPr sz="1500" dirty="0">
                <a:latin typeface="Cambria"/>
                <a:cs typeface="Cambria"/>
              </a:rPr>
              <a:t>	</a:t>
            </a:r>
            <a:r>
              <a:rPr sz="1500" spc="-20" dirty="0">
                <a:solidFill>
                  <a:srgbClr val="0C0C0C"/>
                </a:solidFill>
                <a:latin typeface="Cambria"/>
                <a:cs typeface="Cambria"/>
              </a:rPr>
              <a:t>4400</a:t>
            </a:r>
            <a:r>
              <a:rPr sz="15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500" spc="-20" dirty="0">
                <a:latin typeface="Cambria"/>
                <a:cs typeface="Cambria"/>
              </a:rPr>
              <a:t>4600</a:t>
            </a:r>
            <a:r>
              <a:rPr sz="1500" dirty="0">
                <a:latin typeface="Cambria"/>
                <a:cs typeface="Cambria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Cambria"/>
                <a:cs typeface="Cambria"/>
              </a:rPr>
              <a:t>4800</a:t>
            </a:r>
            <a:r>
              <a:rPr sz="15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500" spc="-40" dirty="0">
                <a:solidFill>
                  <a:srgbClr val="1A1A1A"/>
                </a:solidFill>
                <a:latin typeface="Cambria"/>
                <a:cs typeface="Cambria"/>
              </a:rPr>
              <a:t>5000</a:t>
            </a:r>
            <a:endParaRPr sz="1500" dirty="0">
              <a:latin typeface="Cambria"/>
              <a:cs typeface="Cambria"/>
            </a:endParaRPr>
          </a:p>
          <a:p>
            <a:pPr marR="156210" algn="ctr">
              <a:lnSpc>
                <a:spcPct val="100000"/>
              </a:lnSpc>
            </a:pPr>
            <a:r>
              <a:rPr sz="1500" dirty="0">
                <a:latin typeface="Cambria"/>
                <a:cs typeface="Cambria"/>
              </a:rPr>
              <a:t>Range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Cambria"/>
                <a:cs typeface="Cambria"/>
              </a:rPr>
              <a:t>(m)</a:t>
            </a:r>
            <a:endParaRPr sz="1500" dirty="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700" y="7721600"/>
            <a:ext cx="508000" cy="50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6604000"/>
            <a:ext cx="495300" cy="469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2700" y="5041900"/>
            <a:ext cx="520700" cy="52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0800" y="3924300"/>
            <a:ext cx="444500" cy="508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7527" y="933802"/>
            <a:ext cx="1258633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600" spc="-380" dirty="0">
                <a:solidFill>
                  <a:srgbClr val="03264B"/>
                </a:solidFill>
              </a:rPr>
              <a:t>Key</a:t>
            </a:r>
            <a:r>
              <a:rPr sz="6600" spc="-315" dirty="0">
                <a:solidFill>
                  <a:srgbClr val="03264B"/>
                </a:solidFill>
              </a:rPr>
              <a:t> </a:t>
            </a:r>
            <a:r>
              <a:rPr sz="6600" spc="-180" dirty="0">
                <a:solidFill>
                  <a:srgbClr val="032349"/>
                </a:solidFill>
              </a:rPr>
              <a:t>Results</a:t>
            </a:r>
            <a:r>
              <a:rPr sz="6600" spc="-280" dirty="0">
                <a:solidFill>
                  <a:srgbClr val="032349"/>
                </a:solidFill>
              </a:rPr>
              <a:t> </a:t>
            </a:r>
            <a:r>
              <a:rPr sz="6600" spc="-400" dirty="0">
                <a:solidFill>
                  <a:srgbClr val="002A52"/>
                </a:solidFill>
              </a:rPr>
              <a:t>&amp;</a:t>
            </a:r>
            <a:r>
              <a:rPr sz="6600" spc="-565" dirty="0">
                <a:solidFill>
                  <a:srgbClr val="002A52"/>
                </a:solidFill>
              </a:rPr>
              <a:t> </a:t>
            </a:r>
            <a:r>
              <a:rPr sz="6600" spc="-150" dirty="0">
                <a:solidFill>
                  <a:srgbClr val="012349"/>
                </a:solidFill>
              </a:rPr>
              <a:t>Professional</a:t>
            </a:r>
            <a:r>
              <a:rPr sz="6600" spc="-235" dirty="0">
                <a:solidFill>
                  <a:srgbClr val="012349"/>
                </a:solidFill>
              </a:rPr>
              <a:t> </a:t>
            </a:r>
            <a:r>
              <a:rPr sz="6600" spc="-10" dirty="0">
                <a:solidFill>
                  <a:srgbClr val="012346"/>
                </a:solidFill>
              </a:rPr>
              <a:t>Insights</a:t>
            </a:r>
            <a:endParaRPr sz="6600"/>
          </a:p>
        </p:txBody>
      </p:sp>
      <p:sp>
        <p:nvSpPr>
          <p:cNvPr id="7" name="object 7"/>
          <p:cNvSpPr txBox="1"/>
          <p:nvPr/>
        </p:nvSpPr>
        <p:spPr>
          <a:xfrm>
            <a:off x="1307438" y="2481086"/>
            <a:ext cx="15026640" cy="65436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9685" marR="892810" indent="-7620">
              <a:lnSpc>
                <a:spcPts val="3450"/>
              </a:lnSpc>
              <a:spcBef>
                <a:spcPts val="600"/>
              </a:spcBef>
              <a:tabLst>
                <a:tab pos="3743325" algn="l"/>
              </a:tabLst>
            </a:pPr>
            <a:r>
              <a:rPr sz="3250" spc="-60" dirty="0">
                <a:latin typeface="Cambria"/>
                <a:cs typeface="Cambria"/>
              </a:rPr>
              <a:t>The</a:t>
            </a:r>
            <a:r>
              <a:rPr sz="3250" spc="-120" dirty="0">
                <a:latin typeface="Cambria"/>
                <a:cs typeface="Cambria"/>
              </a:rPr>
              <a:t> </a:t>
            </a:r>
            <a:r>
              <a:rPr sz="3250" spc="-80" dirty="0">
                <a:latin typeface="Cambria"/>
                <a:cs typeface="Cambria"/>
              </a:rPr>
              <a:t>statistical</a:t>
            </a:r>
            <a:r>
              <a:rPr sz="3250" spc="-75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analysis</a:t>
            </a:r>
            <a:r>
              <a:rPr sz="3250" spc="-80" dirty="0">
                <a:latin typeface="Cambria"/>
                <a:cs typeface="Cambria"/>
              </a:rPr>
              <a:t> </a:t>
            </a:r>
            <a:r>
              <a:rPr sz="3250" spc="-10" dirty="0">
                <a:latin typeface="Cambria"/>
                <a:cs typeface="Cambria"/>
              </a:rPr>
              <a:t>of</a:t>
            </a:r>
            <a:r>
              <a:rPr sz="3250" spc="-175" dirty="0">
                <a:latin typeface="Cambria"/>
                <a:cs typeface="Cambria"/>
              </a:rPr>
              <a:t> </a:t>
            </a:r>
            <a:r>
              <a:rPr sz="3250" spc="-200" dirty="0">
                <a:latin typeface="Cambria"/>
                <a:cs typeface="Cambria"/>
              </a:rPr>
              <a:t>2,000</a:t>
            </a:r>
            <a:r>
              <a:rPr sz="3250" spc="20" dirty="0">
                <a:latin typeface="Cambria"/>
                <a:cs typeface="Cambria"/>
              </a:rPr>
              <a:t> </a:t>
            </a:r>
            <a:r>
              <a:rPr sz="3250" spc="-60" dirty="0">
                <a:latin typeface="Cambria"/>
                <a:cs typeface="Cambria"/>
              </a:rPr>
              <a:t>flight</a:t>
            </a:r>
            <a:r>
              <a:rPr sz="3250" dirty="0">
                <a:latin typeface="Cambria"/>
                <a:cs typeface="Cambria"/>
              </a:rPr>
              <a:t> </a:t>
            </a:r>
            <a:r>
              <a:rPr sz="3250" spc="-105" dirty="0">
                <a:latin typeface="Cambria"/>
                <a:cs typeface="Cambria"/>
              </a:rPr>
              <a:t>iterations</a:t>
            </a:r>
            <a:r>
              <a:rPr sz="3250" spc="-30" dirty="0">
                <a:latin typeface="Cambria"/>
                <a:cs typeface="Cambria"/>
              </a:rPr>
              <a:t> </a:t>
            </a:r>
            <a:r>
              <a:rPr sz="3250" spc="-85" dirty="0">
                <a:latin typeface="Cambria"/>
                <a:cs typeface="Cambria"/>
              </a:rPr>
              <a:t>yields</a:t>
            </a:r>
            <a:r>
              <a:rPr sz="3250" spc="-75" dirty="0">
                <a:latin typeface="Cambria"/>
                <a:cs typeface="Cambria"/>
              </a:rPr>
              <a:t> </a:t>
            </a:r>
            <a:r>
              <a:rPr sz="3250" spc="-130" dirty="0">
                <a:latin typeface="Cambria"/>
                <a:cs typeface="Cambria"/>
              </a:rPr>
              <a:t>several</a:t>
            </a:r>
            <a:r>
              <a:rPr sz="3250" spc="-50" dirty="0">
                <a:latin typeface="Cambria"/>
                <a:cs typeface="Cambria"/>
              </a:rPr>
              <a:t> </a:t>
            </a:r>
            <a:r>
              <a:rPr sz="3250" spc="-40" dirty="0">
                <a:latin typeface="Cambria"/>
                <a:cs typeface="Cambria"/>
              </a:rPr>
              <a:t>critical</a:t>
            </a:r>
            <a:r>
              <a:rPr sz="3250" spc="-100" dirty="0">
                <a:latin typeface="Cambria"/>
                <a:cs typeface="Cambria"/>
              </a:rPr>
              <a:t> </a:t>
            </a:r>
            <a:r>
              <a:rPr sz="3250" spc="-80" dirty="0">
                <a:latin typeface="Cambria"/>
                <a:cs typeface="Cambria"/>
              </a:rPr>
              <a:t>insights</a:t>
            </a:r>
            <a:r>
              <a:rPr sz="3250" spc="10" dirty="0">
                <a:latin typeface="Cambria"/>
                <a:cs typeface="Cambria"/>
              </a:rPr>
              <a:t> </a:t>
            </a:r>
            <a:r>
              <a:rPr sz="3250" spc="-80" dirty="0">
                <a:latin typeface="Cambria"/>
                <a:cs typeface="Cambria"/>
              </a:rPr>
              <a:t>into</a:t>
            </a:r>
            <a:r>
              <a:rPr sz="3250" spc="-100" dirty="0">
                <a:latin typeface="Cambria"/>
                <a:cs typeface="Cambria"/>
              </a:rPr>
              <a:t> </a:t>
            </a:r>
            <a:r>
              <a:rPr sz="3250" spc="-25" dirty="0">
                <a:latin typeface="Cambria"/>
                <a:cs typeface="Cambria"/>
              </a:rPr>
              <a:t>the </a:t>
            </a:r>
            <a:r>
              <a:rPr sz="3250" spc="-155" dirty="0">
                <a:latin typeface="Cambria"/>
                <a:cs typeface="Cambria"/>
              </a:rPr>
              <a:t>system's</a:t>
            </a:r>
            <a:r>
              <a:rPr sz="3250" spc="-10" dirty="0">
                <a:latin typeface="Cambria"/>
                <a:cs typeface="Cambria"/>
              </a:rPr>
              <a:t> </a:t>
            </a:r>
            <a:r>
              <a:rPr sz="3250" spc="-20" dirty="0">
                <a:latin typeface="Cambria"/>
                <a:cs typeface="Cambria"/>
              </a:rPr>
              <a:t>performance</a:t>
            </a:r>
            <a:r>
              <a:rPr sz="3250" dirty="0">
                <a:latin typeface="Cambria"/>
                <a:cs typeface="Cambria"/>
              </a:rPr>
              <a:t>	</a:t>
            </a:r>
            <a:r>
              <a:rPr sz="3250" spc="-95" dirty="0">
                <a:latin typeface="Cambria"/>
                <a:cs typeface="Cambria"/>
              </a:rPr>
              <a:t>and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40" dirty="0">
                <a:latin typeface="Cambria"/>
                <a:cs typeface="Cambria"/>
              </a:rPr>
              <a:t>robustness:</a:t>
            </a:r>
            <a:endParaRPr sz="3250">
              <a:latin typeface="Cambria"/>
              <a:cs typeface="Cambria"/>
            </a:endParaRPr>
          </a:p>
          <a:p>
            <a:pPr marL="775335">
              <a:lnSpc>
                <a:spcPts val="3729"/>
              </a:lnSpc>
              <a:spcBef>
                <a:spcPts val="3110"/>
              </a:spcBef>
            </a:pPr>
            <a:r>
              <a:rPr sz="3300" dirty="0">
                <a:latin typeface="Cambria"/>
                <a:cs typeface="Cambria"/>
              </a:rPr>
              <a:t>High</a:t>
            </a:r>
            <a:r>
              <a:rPr sz="3300" spc="-185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Dispersion</a:t>
            </a:r>
            <a:r>
              <a:rPr sz="3300" spc="-45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Stability:</a:t>
            </a:r>
            <a:r>
              <a:rPr sz="3300" spc="-30" dirty="0">
                <a:latin typeface="Cambria"/>
                <a:cs typeface="Cambria"/>
              </a:rPr>
              <a:t> </a:t>
            </a:r>
            <a:r>
              <a:rPr sz="3300" spc="-150" dirty="0">
                <a:latin typeface="Cambria"/>
                <a:cs typeface="Cambria"/>
              </a:rPr>
              <a:t>The</a:t>
            </a:r>
            <a:r>
              <a:rPr sz="3300" spc="-30" dirty="0">
                <a:latin typeface="Cambria"/>
                <a:cs typeface="Cambria"/>
              </a:rPr>
              <a:t> </a:t>
            </a:r>
            <a:r>
              <a:rPr sz="3300" spc="-200" dirty="0">
                <a:latin typeface="Cambria"/>
                <a:cs typeface="Cambria"/>
              </a:rPr>
              <a:t>low</a:t>
            </a:r>
            <a:r>
              <a:rPr sz="3300" spc="-55" dirty="0">
                <a:latin typeface="Cambria"/>
                <a:cs typeface="Cambria"/>
              </a:rPr>
              <a:t> </a:t>
            </a:r>
            <a:r>
              <a:rPr sz="3300" spc="-130" dirty="0">
                <a:latin typeface="Cambria"/>
                <a:cs typeface="Cambria"/>
              </a:rPr>
              <a:t>standard</a:t>
            </a:r>
            <a:r>
              <a:rPr sz="3300" spc="135" dirty="0">
                <a:latin typeface="Cambria"/>
                <a:cs typeface="Cambria"/>
              </a:rPr>
              <a:t> </a:t>
            </a:r>
            <a:r>
              <a:rPr sz="3300" spc="-135" dirty="0">
                <a:latin typeface="Cambria"/>
                <a:cs typeface="Cambria"/>
              </a:rPr>
              <a:t>deviation</a:t>
            </a:r>
            <a:r>
              <a:rPr sz="3300" spc="-45" dirty="0">
                <a:latin typeface="Cambria"/>
                <a:cs typeface="Cambria"/>
              </a:rPr>
              <a:t> </a:t>
            </a:r>
            <a:r>
              <a:rPr sz="3300" spc="-150" dirty="0">
                <a:latin typeface="Cambria"/>
                <a:cs typeface="Cambria"/>
              </a:rPr>
              <a:t>observed</a:t>
            </a:r>
            <a:r>
              <a:rPr sz="3300" spc="70" dirty="0">
                <a:latin typeface="Cambria"/>
                <a:cs typeface="Cambria"/>
              </a:rPr>
              <a:t> </a:t>
            </a:r>
            <a:r>
              <a:rPr sz="3300" spc="-35" dirty="0">
                <a:latin typeface="Cambria"/>
                <a:cs typeface="Cambria"/>
              </a:rPr>
              <a:t>in</a:t>
            </a:r>
            <a:r>
              <a:rPr sz="3300" spc="-155" dirty="0">
                <a:latin typeface="Cambria"/>
                <a:cs typeface="Cambria"/>
              </a:rPr>
              <a:t> </a:t>
            </a:r>
            <a:r>
              <a:rPr sz="3300" spc="-100" dirty="0">
                <a:latin typeface="Cambria"/>
                <a:cs typeface="Cambria"/>
              </a:rPr>
              <a:t>the</a:t>
            </a:r>
            <a:r>
              <a:rPr sz="3300" spc="-114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results</a:t>
            </a:r>
            <a:endParaRPr sz="3300">
              <a:latin typeface="Cambria"/>
              <a:cs typeface="Cambria"/>
            </a:endParaRPr>
          </a:p>
          <a:p>
            <a:pPr marL="783590">
              <a:lnSpc>
                <a:spcPts val="3670"/>
              </a:lnSpc>
            </a:pPr>
            <a:r>
              <a:rPr sz="3250" spc="-90" dirty="0">
                <a:latin typeface="Cambria"/>
                <a:cs typeface="Cambria"/>
              </a:rPr>
              <a:t>indicates </a:t>
            </a:r>
            <a:r>
              <a:rPr sz="3250" spc="-85" dirty="0">
                <a:latin typeface="Cambria"/>
                <a:cs typeface="Cambria"/>
              </a:rPr>
              <a:t>that</a:t>
            </a:r>
            <a:r>
              <a:rPr sz="3250" spc="-95" dirty="0">
                <a:latin typeface="Cambria"/>
                <a:cs typeface="Cambria"/>
              </a:rPr>
              <a:t> </a:t>
            </a:r>
            <a:r>
              <a:rPr sz="3250" spc="-114" dirty="0">
                <a:latin typeface="Cambria"/>
                <a:cs typeface="Cambria"/>
              </a:rPr>
              <a:t>the</a:t>
            </a:r>
            <a:r>
              <a:rPr sz="3250" spc="-65" dirty="0">
                <a:latin typeface="Cambria"/>
                <a:cs typeface="Cambria"/>
              </a:rPr>
              <a:t> </a:t>
            </a:r>
            <a:r>
              <a:rPr sz="3250" spc="-110" dirty="0">
                <a:latin typeface="Cambria"/>
                <a:cs typeface="Cambria"/>
              </a:rPr>
              <a:t>rocket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design</a:t>
            </a:r>
            <a:r>
              <a:rPr sz="3250" spc="-80" dirty="0">
                <a:latin typeface="Cambria"/>
                <a:cs typeface="Cambria"/>
              </a:rPr>
              <a:t> </a:t>
            </a:r>
            <a:r>
              <a:rPr sz="3250" spc="-30" dirty="0">
                <a:latin typeface="Cambria"/>
                <a:cs typeface="Cambria"/>
              </a:rPr>
              <a:t>is</a:t>
            </a:r>
            <a:r>
              <a:rPr sz="3250" spc="-150" dirty="0">
                <a:latin typeface="Cambria"/>
                <a:cs typeface="Cambria"/>
              </a:rPr>
              <a:t> </a:t>
            </a:r>
            <a:r>
              <a:rPr sz="3250" spc="-75" dirty="0">
                <a:latin typeface="Cambria"/>
                <a:cs typeface="Cambria"/>
              </a:rPr>
              <a:t>highly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95" dirty="0">
                <a:latin typeface="Cambria"/>
                <a:cs typeface="Cambria"/>
              </a:rPr>
              <a:t>resilient</a:t>
            </a:r>
            <a:r>
              <a:rPr sz="3250" spc="30" dirty="0">
                <a:latin typeface="Cambria"/>
                <a:cs typeface="Cambria"/>
              </a:rPr>
              <a:t> </a:t>
            </a:r>
            <a:r>
              <a:rPr sz="3250" spc="-95" dirty="0">
                <a:latin typeface="Cambria"/>
                <a:cs typeface="Cambria"/>
              </a:rPr>
              <a:t>to</a:t>
            </a:r>
            <a:r>
              <a:rPr sz="3250" spc="-150" dirty="0">
                <a:latin typeface="Cambria"/>
                <a:cs typeface="Cambria"/>
              </a:rPr>
              <a:t> </a:t>
            </a:r>
            <a:r>
              <a:rPr sz="3250" spc="-95" dirty="0">
                <a:latin typeface="Cambria"/>
                <a:cs typeface="Cambria"/>
              </a:rPr>
              <a:t>atmospheric</a:t>
            </a:r>
            <a:r>
              <a:rPr sz="3250" spc="60" dirty="0">
                <a:latin typeface="Cambria"/>
                <a:cs typeface="Cambria"/>
              </a:rPr>
              <a:t> </a:t>
            </a:r>
            <a:r>
              <a:rPr sz="3250" spc="-80" dirty="0">
                <a:latin typeface="Cambria"/>
                <a:cs typeface="Cambria"/>
              </a:rPr>
              <a:t>noise</a:t>
            </a:r>
            <a:r>
              <a:rPr sz="3250" spc="-100" dirty="0">
                <a:latin typeface="Cambria"/>
                <a:cs typeface="Cambria"/>
              </a:rPr>
              <a:t> </a:t>
            </a:r>
            <a:r>
              <a:rPr sz="3250" spc="-95" dirty="0">
                <a:latin typeface="Cambria"/>
                <a:cs typeface="Cambria"/>
              </a:rPr>
              <a:t>and</a:t>
            </a:r>
            <a:r>
              <a:rPr sz="3250" spc="-85" dirty="0">
                <a:latin typeface="Cambria"/>
                <a:cs typeface="Cambria"/>
              </a:rPr>
              <a:t> </a:t>
            </a:r>
            <a:r>
              <a:rPr sz="3250" spc="-10" dirty="0">
                <a:latin typeface="Cambria"/>
                <a:cs typeface="Cambria"/>
              </a:rPr>
              <a:t>variations.</a:t>
            </a:r>
            <a:endParaRPr sz="3250">
              <a:latin typeface="Cambria"/>
              <a:cs typeface="Cambria"/>
            </a:endParaRPr>
          </a:p>
          <a:p>
            <a:pPr marL="779780" marR="618490" indent="6350">
              <a:lnSpc>
                <a:spcPts val="3500"/>
              </a:lnSpc>
              <a:spcBef>
                <a:spcPts val="1900"/>
              </a:spcBef>
              <a:tabLst>
                <a:tab pos="3823970" algn="l"/>
              </a:tabLst>
            </a:pPr>
            <a:r>
              <a:rPr sz="3300" spc="-10" dirty="0">
                <a:latin typeface="Cambria"/>
                <a:cs typeface="Cambria"/>
              </a:rPr>
              <a:t>Thermodynamic</a:t>
            </a:r>
            <a:r>
              <a:rPr sz="3300" dirty="0">
                <a:latin typeface="Cambria"/>
                <a:cs typeface="Cambria"/>
              </a:rPr>
              <a:t>	Model</a:t>
            </a:r>
            <a:r>
              <a:rPr sz="3300" spc="-120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Validation: </a:t>
            </a:r>
            <a:r>
              <a:rPr sz="3300" spc="-120" dirty="0">
                <a:latin typeface="Cambria"/>
                <a:cs typeface="Cambria"/>
              </a:rPr>
              <a:t>The</a:t>
            </a:r>
            <a:r>
              <a:rPr sz="3300" spc="-60" dirty="0">
                <a:latin typeface="Cambria"/>
                <a:cs typeface="Cambria"/>
              </a:rPr>
              <a:t> </a:t>
            </a:r>
            <a:r>
              <a:rPr sz="3300" spc="-135" dirty="0">
                <a:latin typeface="Cambria"/>
                <a:cs typeface="Cambria"/>
              </a:rPr>
              <a:t>simulated</a:t>
            </a:r>
            <a:r>
              <a:rPr sz="3300" spc="-25" dirty="0">
                <a:latin typeface="Cambria"/>
                <a:cs typeface="Cambria"/>
              </a:rPr>
              <a:t> </a:t>
            </a:r>
            <a:r>
              <a:rPr sz="3300" spc="-125" dirty="0">
                <a:latin typeface="Cambria"/>
                <a:cs typeface="Cambria"/>
              </a:rPr>
              <a:t>atmospheric</a:t>
            </a:r>
            <a:r>
              <a:rPr sz="3300" spc="170" dirty="0">
                <a:latin typeface="Cambria"/>
                <a:cs typeface="Cambria"/>
              </a:rPr>
              <a:t> </a:t>
            </a:r>
            <a:r>
              <a:rPr sz="3300" spc="-130" dirty="0">
                <a:latin typeface="Cambria"/>
                <a:cs typeface="Cambria"/>
              </a:rPr>
              <a:t>profiles</a:t>
            </a:r>
            <a:r>
              <a:rPr sz="3300" spc="-25" dirty="0">
                <a:latin typeface="Cambria"/>
                <a:cs typeface="Cambria"/>
              </a:rPr>
              <a:t> for </a:t>
            </a:r>
            <a:r>
              <a:rPr sz="3300" spc="-135" dirty="0">
                <a:latin typeface="Cambria"/>
                <a:cs typeface="Cambria"/>
              </a:rPr>
              <a:t>temperature,</a:t>
            </a:r>
            <a:r>
              <a:rPr sz="3300" spc="-50" dirty="0">
                <a:latin typeface="Cambria"/>
                <a:cs typeface="Cambria"/>
              </a:rPr>
              <a:t> </a:t>
            </a:r>
            <a:r>
              <a:rPr sz="3300" spc="-105" dirty="0">
                <a:latin typeface="Cambria"/>
                <a:cs typeface="Cambria"/>
              </a:rPr>
              <a:t>pressure,</a:t>
            </a:r>
            <a:r>
              <a:rPr sz="3300" spc="-45" dirty="0">
                <a:latin typeface="Cambria"/>
                <a:cs typeface="Cambria"/>
              </a:rPr>
              <a:t> </a:t>
            </a:r>
            <a:r>
              <a:rPr sz="3300" spc="-130" dirty="0">
                <a:latin typeface="Cambria"/>
                <a:cs typeface="Cambria"/>
              </a:rPr>
              <a:t>and</a:t>
            </a:r>
            <a:r>
              <a:rPr sz="3300" spc="-75" dirty="0">
                <a:latin typeface="Cambria"/>
                <a:cs typeface="Cambria"/>
              </a:rPr>
              <a:t> </a:t>
            </a:r>
            <a:r>
              <a:rPr sz="3300" spc="-125" dirty="0">
                <a:latin typeface="Cambria"/>
                <a:cs typeface="Cambria"/>
              </a:rPr>
              <a:t>density</a:t>
            </a:r>
            <a:r>
              <a:rPr sz="3300" spc="-45" dirty="0">
                <a:latin typeface="Cambria"/>
                <a:cs typeface="Cambria"/>
              </a:rPr>
              <a:t> </a:t>
            </a:r>
            <a:r>
              <a:rPr sz="3300" spc="-65" dirty="0">
                <a:latin typeface="Cambria"/>
                <a:cs typeface="Cambria"/>
              </a:rPr>
              <a:t>align</a:t>
            </a:r>
            <a:r>
              <a:rPr sz="3300" spc="-105" dirty="0">
                <a:latin typeface="Cambria"/>
                <a:cs typeface="Cambria"/>
              </a:rPr>
              <a:t> </a:t>
            </a:r>
            <a:r>
              <a:rPr sz="3300" spc="-125" dirty="0">
                <a:latin typeface="Cambria"/>
                <a:cs typeface="Cambria"/>
              </a:rPr>
              <a:t>perfectly</a:t>
            </a:r>
            <a:r>
              <a:rPr sz="3300" spc="20" dirty="0">
                <a:latin typeface="Cambria"/>
                <a:cs typeface="Cambria"/>
              </a:rPr>
              <a:t> </a:t>
            </a:r>
            <a:r>
              <a:rPr sz="3300" spc="-125" dirty="0">
                <a:latin typeface="Cambria"/>
                <a:cs typeface="Cambria"/>
              </a:rPr>
              <a:t>with</a:t>
            </a:r>
            <a:r>
              <a:rPr sz="3300" spc="-90" dirty="0">
                <a:latin typeface="Cambria"/>
                <a:cs typeface="Cambria"/>
              </a:rPr>
              <a:t> </a:t>
            </a:r>
            <a:r>
              <a:rPr sz="3300" spc="-140" dirty="0">
                <a:latin typeface="Cambria"/>
                <a:cs typeface="Cambria"/>
              </a:rPr>
              <a:t>the</a:t>
            </a:r>
            <a:r>
              <a:rPr sz="3300" spc="-45" dirty="0">
                <a:latin typeface="Cambria"/>
                <a:cs typeface="Cambria"/>
              </a:rPr>
              <a:t> </a:t>
            </a:r>
            <a:r>
              <a:rPr sz="3300" spc="-114" dirty="0">
                <a:latin typeface="Cambria"/>
                <a:cs typeface="Cambria"/>
              </a:rPr>
              <a:t>International</a:t>
            </a:r>
            <a:r>
              <a:rPr sz="3300" spc="75" dirty="0">
                <a:latin typeface="Cambria"/>
                <a:cs typeface="Cambria"/>
              </a:rPr>
              <a:t> </a:t>
            </a:r>
            <a:r>
              <a:rPr sz="3300" spc="-45" dirty="0">
                <a:latin typeface="Cambria"/>
                <a:cs typeface="Cambria"/>
              </a:rPr>
              <a:t>Standard </a:t>
            </a:r>
            <a:r>
              <a:rPr sz="3300" spc="-85" dirty="0">
                <a:latin typeface="Cambria"/>
                <a:cs typeface="Cambria"/>
              </a:rPr>
              <a:t>Atmosphere</a:t>
            </a:r>
            <a:r>
              <a:rPr sz="3300" spc="-100" dirty="0">
                <a:latin typeface="Cambria"/>
                <a:cs typeface="Cambria"/>
              </a:rPr>
              <a:t> </a:t>
            </a:r>
            <a:r>
              <a:rPr sz="3300" spc="-95" dirty="0">
                <a:latin typeface="Cambria"/>
                <a:cs typeface="Cambria"/>
              </a:rPr>
              <a:t>(ISA)</a:t>
            </a:r>
            <a:r>
              <a:rPr sz="3300" spc="-85" dirty="0">
                <a:latin typeface="Cambria"/>
                <a:cs typeface="Cambria"/>
              </a:rPr>
              <a:t> </a:t>
            </a:r>
            <a:r>
              <a:rPr sz="3300" spc="-25" dirty="0">
                <a:latin typeface="Cambria"/>
                <a:cs typeface="Cambria"/>
              </a:rPr>
              <a:t>model,</a:t>
            </a:r>
            <a:r>
              <a:rPr sz="3300" spc="-70" dirty="0">
                <a:latin typeface="Cambria"/>
                <a:cs typeface="Cambria"/>
              </a:rPr>
              <a:t> </a:t>
            </a:r>
            <a:r>
              <a:rPr sz="3300" spc="-80" dirty="0">
                <a:latin typeface="Cambria"/>
                <a:cs typeface="Cambria"/>
              </a:rPr>
              <a:t>validating</a:t>
            </a:r>
            <a:r>
              <a:rPr sz="3300" spc="20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the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core</a:t>
            </a:r>
            <a:r>
              <a:rPr sz="3300" spc="-114" dirty="0">
                <a:latin typeface="Cambria"/>
                <a:cs typeface="Cambria"/>
              </a:rPr>
              <a:t> </a:t>
            </a:r>
            <a:r>
              <a:rPr sz="3300" spc="-40" dirty="0">
                <a:latin typeface="Cambria"/>
                <a:cs typeface="Cambria"/>
              </a:rPr>
              <a:t>’physics</a:t>
            </a:r>
            <a:r>
              <a:rPr sz="3300" spc="-120" dirty="0">
                <a:latin typeface="Cambria"/>
                <a:cs typeface="Cambria"/>
              </a:rPr>
              <a:t> </a:t>
            </a:r>
            <a:r>
              <a:rPr sz="3300" spc="-35" dirty="0">
                <a:latin typeface="Cambria"/>
                <a:cs typeface="Cambria"/>
              </a:rPr>
              <a:t>engine'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of</a:t>
            </a:r>
            <a:r>
              <a:rPr sz="3300" spc="-175" dirty="0">
                <a:latin typeface="Cambria"/>
                <a:cs typeface="Cambria"/>
              </a:rPr>
              <a:t> </a:t>
            </a:r>
            <a:r>
              <a:rPr sz="3300" spc="-120" dirty="0">
                <a:latin typeface="Cambria"/>
                <a:cs typeface="Cambria"/>
              </a:rPr>
              <a:t>the</a:t>
            </a:r>
            <a:r>
              <a:rPr sz="3300" spc="-65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simulation.</a:t>
            </a:r>
            <a:endParaRPr sz="3300">
              <a:latin typeface="Cambria"/>
              <a:cs typeface="Cambria"/>
            </a:endParaRPr>
          </a:p>
          <a:p>
            <a:pPr marL="772795">
              <a:lnSpc>
                <a:spcPts val="3895"/>
              </a:lnSpc>
              <a:spcBef>
                <a:spcPts val="1150"/>
              </a:spcBef>
            </a:pPr>
            <a:r>
              <a:rPr sz="3450" dirty="0">
                <a:latin typeface="Times New Roman"/>
                <a:cs typeface="Times New Roman"/>
              </a:rPr>
              <a:t>Strong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Performance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Correlation:</a:t>
            </a:r>
            <a:r>
              <a:rPr sz="3450" spc="-105" dirty="0">
                <a:latin typeface="Times New Roman"/>
                <a:cs typeface="Times New Roman"/>
              </a:rPr>
              <a:t> </a:t>
            </a:r>
            <a:r>
              <a:rPr sz="3450" spc="-500" dirty="0">
                <a:latin typeface="Times New Roman"/>
                <a:cs typeface="Times New Roman"/>
              </a:rPr>
              <a:t>A</a:t>
            </a:r>
            <a:r>
              <a:rPr sz="3450" spc="-265" dirty="0">
                <a:latin typeface="Times New Roman"/>
                <a:cs typeface="Times New Roman"/>
              </a:rPr>
              <a:t> </a:t>
            </a:r>
            <a:r>
              <a:rPr sz="3450" spc="-55" dirty="0">
                <a:latin typeface="Times New Roman"/>
                <a:cs typeface="Times New Roman"/>
              </a:rPr>
              <a:t>clear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spc="-55" dirty="0">
                <a:latin typeface="Times New Roman"/>
                <a:cs typeface="Times New Roman"/>
              </a:rPr>
              <a:t>and</a:t>
            </a:r>
            <a:r>
              <a:rPr sz="3450" spc="-150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strong</a:t>
            </a:r>
            <a:r>
              <a:rPr sz="3450" spc="50" dirty="0">
                <a:latin typeface="Times New Roman"/>
                <a:cs typeface="Times New Roman"/>
              </a:rPr>
              <a:t> </a:t>
            </a:r>
            <a:r>
              <a:rPr sz="3450" spc="-130" dirty="0">
                <a:latin typeface="Times New Roman"/>
                <a:cs typeface="Times New Roman"/>
              </a:rPr>
              <a:t>positive</a:t>
            </a:r>
            <a:r>
              <a:rPr sz="3450" spc="-85" dirty="0">
                <a:latin typeface="Times New Roman"/>
                <a:cs typeface="Times New Roman"/>
              </a:rPr>
              <a:t> </a:t>
            </a:r>
            <a:r>
              <a:rPr sz="3450" spc="-45" dirty="0">
                <a:latin typeface="Times New Roman"/>
                <a:cs typeface="Times New Roman"/>
              </a:rPr>
              <a:t>correlation</a:t>
            </a:r>
            <a:r>
              <a:rPr sz="3450" spc="10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exists</a:t>
            </a:r>
            <a:endParaRPr sz="3450">
              <a:latin typeface="Times New Roman"/>
              <a:cs typeface="Times New Roman"/>
            </a:endParaRPr>
          </a:p>
          <a:p>
            <a:pPr marL="801370">
              <a:lnSpc>
                <a:spcPts val="3715"/>
              </a:lnSpc>
            </a:pPr>
            <a:r>
              <a:rPr sz="3300" dirty="0">
                <a:latin typeface="Times New Roman"/>
                <a:cs typeface="Times New Roman"/>
              </a:rPr>
              <a:t>between</a:t>
            </a:r>
            <a:r>
              <a:rPr sz="3300" spc="5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the</a:t>
            </a:r>
            <a:r>
              <a:rPr sz="3300" spc="-8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peak</a:t>
            </a:r>
            <a:r>
              <a:rPr sz="3300" spc="-17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altitude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achieved</a:t>
            </a:r>
            <a:r>
              <a:rPr sz="3300" spc="1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-10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the</a:t>
            </a:r>
            <a:r>
              <a:rPr sz="3300" spc="-204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final</a:t>
            </a:r>
            <a:r>
              <a:rPr sz="3300" spc="-5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range</a:t>
            </a:r>
            <a:r>
              <a:rPr sz="3300" spc="-10" dirty="0">
                <a:latin typeface="Times New Roman"/>
                <a:cs typeface="Times New Roman"/>
              </a:rPr>
              <a:t> </a:t>
            </a:r>
            <a:r>
              <a:rPr sz="3300" spc="-120" dirty="0">
                <a:latin typeface="Times New Roman"/>
                <a:cs typeface="Times New Roman"/>
              </a:rPr>
              <a:t>of</a:t>
            </a:r>
            <a:r>
              <a:rPr sz="3300" spc="-9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the</a:t>
            </a:r>
            <a:r>
              <a:rPr sz="3300" spc="-114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vehicle.</a:t>
            </a:r>
            <a:endParaRPr sz="3300">
              <a:latin typeface="Times New Roman"/>
              <a:cs typeface="Times New Roman"/>
            </a:endParaRPr>
          </a:p>
          <a:p>
            <a:pPr marL="782320" marR="5080" indent="-5080">
              <a:lnSpc>
                <a:spcPct val="92200"/>
              </a:lnSpc>
              <a:spcBef>
                <a:spcPts val="1745"/>
              </a:spcBef>
            </a:pPr>
            <a:r>
              <a:rPr sz="3250" dirty="0">
                <a:latin typeface="Cambria"/>
                <a:cs typeface="Cambria"/>
              </a:rPr>
              <a:t>System</a:t>
            </a:r>
            <a:r>
              <a:rPr sz="3250" spc="-180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Reliability:</a:t>
            </a:r>
            <a:r>
              <a:rPr sz="3250" spc="-60" dirty="0">
                <a:latin typeface="Cambria"/>
                <a:cs typeface="Cambria"/>
              </a:rPr>
              <a:t> </a:t>
            </a:r>
            <a:r>
              <a:rPr sz="3250" spc="-20" dirty="0">
                <a:latin typeface="Cambria"/>
                <a:cs typeface="Cambria"/>
              </a:rPr>
              <a:t>The</a:t>
            </a:r>
            <a:r>
              <a:rPr sz="3250" spc="-50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tight</a:t>
            </a:r>
            <a:r>
              <a:rPr sz="3250" spc="-35" dirty="0">
                <a:latin typeface="Cambria"/>
                <a:cs typeface="Cambria"/>
              </a:rPr>
              <a:t> </a:t>
            </a:r>
            <a:r>
              <a:rPr sz="3250" spc="-75" dirty="0">
                <a:latin typeface="Cambria"/>
                <a:cs typeface="Cambria"/>
              </a:rPr>
              <a:t>clustering</a:t>
            </a:r>
            <a:r>
              <a:rPr sz="3250" spc="30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of</a:t>
            </a:r>
            <a:r>
              <a:rPr sz="3250" spc="-180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outcomes</a:t>
            </a:r>
            <a:r>
              <a:rPr sz="3250" spc="-50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in</a:t>
            </a:r>
            <a:r>
              <a:rPr sz="3250" spc="-180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the</a:t>
            </a:r>
            <a:r>
              <a:rPr sz="3250" spc="-75" dirty="0">
                <a:latin typeface="Cambria"/>
                <a:cs typeface="Cambria"/>
              </a:rPr>
              <a:t> </a:t>
            </a:r>
            <a:r>
              <a:rPr sz="3250" spc="-150" dirty="0">
                <a:latin typeface="Cambria"/>
                <a:cs typeface="Cambria"/>
              </a:rPr>
              <a:t>2D</a:t>
            </a:r>
            <a:r>
              <a:rPr sz="3250" spc="-135" dirty="0">
                <a:latin typeface="Cambria"/>
                <a:cs typeface="Cambria"/>
              </a:rPr>
              <a:t> </a:t>
            </a:r>
            <a:r>
              <a:rPr sz="3250" spc="-70" dirty="0">
                <a:latin typeface="Cambria"/>
                <a:cs typeface="Cambria"/>
              </a:rPr>
              <a:t>impact</a:t>
            </a:r>
            <a:r>
              <a:rPr sz="3250" spc="105" dirty="0">
                <a:latin typeface="Cambria"/>
                <a:cs typeface="Cambria"/>
              </a:rPr>
              <a:t> </a:t>
            </a:r>
            <a:r>
              <a:rPr sz="3250" spc="-80" dirty="0">
                <a:latin typeface="Cambria"/>
                <a:cs typeface="Cambria"/>
              </a:rPr>
              <a:t>model</a:t>
            </a:r>
            <a:r>
              <a:rPr sz="3250" spc="-15" dirty="0">
                <a:latin typeface="Cambria"/>
                <a:cs typeface="Cambria"/>
              </a:rPr>
              <a:t> </a:t>
            </a:r>
            <a:r>
              <a:rPr sz="3250" spc="-50" dirty="0">
                <a:latin typeface="Cambria"/>
                <a:cs typeface="Cambria"/>
              </a:rPr>
              <a:t>suggests </a:t>
            </a:r>
            <a:r>
              <a:rPr sz="3200" dirty="0">
                <a:latin typeface="Cambria"/>
                <a:cs typeface="Cambria"/>
              </a:rPr>
              <a:t>a</a:t>
            </a:r>
            <a:r>
              <a:rPr sz="3200" spc="-175" dirty="0">
                <a:latin typeface="Cambria"/>
                <a:cs typeface="Cambria"/>
              </a:rPr>
              <a:t> </a:t>
            </a:r>
            <a:r>
              <a:rPr sz="3200" spc="-30" dirty="0">
                <a:latin typeface="Cambria"/>
                <a:cs typeface="Cambria"/>
              </a:rPr>
              <a:t>highly</a:t>
            </a:r>
            <a:r>
              <a:rPr sz="3200" spc="-145" dirty="0">
                <a:latin typeface="Cambria"/>
                <a:cs typeface="Cambria"/>
              </a:rPr>
              <a:t> </a:t>
            </a:r>
            <a:r>
              <a:rPr sz="3200" spc="-50" dirty="0">
                <a:latin typeface="Cambria"/>
                <a:cs typeface="Cambria"/>
              </a:rPr>
              <a:t>reliable</a:t>
            </a:r>
            <a:r>
              <a:rPr sz="3200" spc="-125" dirty="0">
                <a:latin typeface="Cambria"/>
                <a:cs typeface="Cambria"/>
              </a:rPr>
              <a:t> </a:t>
            </a:r>
            <a:r>
              <a:rPr sz="3200" spc="-50" dirty="0">
                <a:latin typeface="Cambria"/>
                <a:cs typeface="Cambria"/>
              </a:rPr>
              <a:t>and</a:t>
            </a:r>
            <a:r>
              <a:rPr sz="3200" spc="-125" dirty="0">
                <a:latin typeface="Cambria"/>
                <a:cs typeface="Cambria"/>
              </a:rPr>
              <a:t> </a:t>
            </a:r>
            <a:r>
              <a:rPr sz="3200" spc="-70" dirty="0">
                <a:latin typeface="Cambria"/>
                <a:cs typeface="Cambria"/>
              </a:rPr>
              <a:t>predictable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40" dirty="0">
                <a:latin typeface="Cambria"/>
                <a:cs typeface="Cambria"/>
              </a:rPr>
              <a:t>vehicle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50" dirty="0">
                <a:latin typeface="Cambria"/>
                <a:cs typeface="Cambria"/>
              </a:rPr>
              <a:t>design</a:t>
            </a:r>
            <a:r>
              <a:rPr sz="3200" spc="-120" dirty="0">
                <a:latin typeface="Cambria"/>
                <a:cs typeface="Cambria"/>
              </a:rPr>
              <a:t> </a:t>
            </a:r>
            <a:r>
              <a:rPr sz="3200" spc="-65" dirty="0">
                <a:latin typeface="Cambria"/>
                <a:cs typeface="Cambria"/>
              </a:rPr>
              <a:t>under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75" dirty="0">
                <a:latin typeface="Cambria"/>
                <a:cs typeface="Cambria"/>
              </a:rPr>
              <a:t>varying</a:t>
            </a:r>
            <a:r>
              <a:rPr sz="3200" spc="-5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thermodynamic </a:t>
            </a:r>
            <a:r>
              <a:rPr sz="3050" spc="-10" dirty="0">
                <a:latin typeface="Cambria"/>
                <a:cs typeface="Cambria"/>
              </a:rPr>
              <a:t>stresses.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63950" y="9422341"/>
            <a:ext cx="13779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1000" y="2781300"/>
            <a:ext cx="2197100" cy="3987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4101" y="598663"/>
            <a:ext cx="7352030" cy="12680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7145" marR="5080" indent="-5080">
              <a:lnSpc>
                <a:spcPts val="4700"/>
              </a:lnSpc>
              <a:spcBef>
                <a:spcPts val="575"/>
              </a:spcBef>
            </a:pPr>
            <a:r>
              <a:rPr sz="4200" spc="75" dirty="0">
                <a:solidFill>
                  <a:srgbClr val="052342"/>
                </a:solidFill>
              </a:rPr>
              <a:t>Conclusion:</a:t>
            </a:r>
            <a:r>
              <a:rPr sz="4200" spc="65" dirty="0">
                <a:solidFill>
                  <a:srgbClr val="052342"/>
                </a:solidFill>
              </a:rPr>
              <a:t> </a:t>
            </a:r>
            <a:r>
              <a:rPr sz="4200" dirty="0">
                <a:solidFill>
                  <a:srgbClr val="052342"/>
                </a:solidFill>
              </a:rPr>
              <a:t>From</a:t>
            </a:r>
            <a:r>
              <a:rPr sz="4200" spc="-290" dirty="0">
                <a:solidFill>
                  <a:srgbClr val="052342"/>
                </a:solidFill>
              </a:rPr>
              <a:t> </a:t>
            </a:r>
            <a:r>
              <a:rPr sz="4200" spc="105" dirty="0">
                <a:solidFill>
                  <a:srgbClr val="082B4F"/>
                </a:solidFill>
              </a:rPr>
              <a:t>Uncertainty </a:t>
            </a:r>
            <a:r>
              <a:rPr sz="4200" spc="100" dirty="0">
                <a:solidFill>
                  <a:srgbClr val="052B52"/>
                </a:solidFill>
              </a:rPr>
              <a:t>to</a:t>
            </a:r>
            <a:r>
              <a:rPr sz="4200" spc="-65" dirty="0">
                <a:solidFill>
                  <a:srgbClr val="052B52"/>
                </a:solidFill>
              </a:rPr>
              <a:t> </a:t>
            </a:r>
            <a:r>
              <a:rPr sz="4200" spc="55" dirty="0">
                <a:solidFill>
                  <a:srgbClr val="032448"/>
                </a:solidFill>
              </a:rPr>
              <a:t>Engineering</a:t>
            </a:r>
            <a:r>
              <a:rPr sz="4200" spc="85" dirty="0">
                <a:solidFill>
                  <a:srgbClr val="032448"/>
                </a:solidFill>
              </a:rPr>
              <a:t> </a:t>
            </a:r>
            <a:r>
              <a:rPr sz="4200" spc="70" dirty="0">
                <a:solidFill>
                  <a:srgbClr val="072849"/>
                </a:solidFill>
              </a:rPr>
              <a:t>Confidence</a:t>
            </a:r>
            <a:endParaRPr sz="42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54635" marR="5080" indent="-242570">
              <a:lnSpc>
                <a:spcPct val="101899"/>
              </a:lnSpc>
              <a:spcBef>
                <a:spcPts val="30"/>
              </a:spcBef>
              <a:buChar char="•"/>
              <a:tabLst>
                <a:tab pos="259079" algn="l"/>
              </a:tabLst>
            </a:pPr>
            <a:r>
              <a:rPr spc="-125" dirty="0"/>
              <a:t>This</a:t>
            </a:r>
            <a:r>
              <a:rPr spc="-40" dirty="0"/>
              <a:t> </a:t>
            </a:r>
            <a:r>
              <a:rPr spc="-200" dirty="0"/>
              <a:t>study</a:t>
            </a:r>
            <a:r>
              <a:rPr spc="-15" dirty="0"/>
              <a:t> </a:t>
            </a:r>
            <a:r>
              <a:rPr spc="-120" dirty="0"/>
              <a:t>successfully</a:t>
            </a:r>
            <a:r>
              <a:rPr spc="-5" dirty="0"/>
              <a:t> </a:t>
            </a:r>
            <a:r>
              <a:rPr spc="-140" dirty="0"/>
              <a:t>demonstrates</a:t>
            </a:r>
            <a:r>
              <a:rPr spc="200" dirty="0"/>
              <a:t> </a:t>
            </a:r>
            <a:r>
              <a:rPr spc="-170" dirty="0"/>
              <a:t>the</a:t>
            </a:r>
            <a:r>
              <a:rPr spc="-70" dirty="0"/>
              <a:t> </a:t>
            </a:r>
            <a:r>
              <a:rPr spc="-220" dirty="0"/>
              <a:t>power</a:t>
            </a:r>
            <a:r>
              <a:rPr spc="65" dirty="0"/>
              <a:t> </a:t>
            </a:r>
            <a:r>
              <a:rPr spc="-25" dirty="0"/>
              <a:t>of 	</a:t>
            </a:r>
            <a:r>
              <a:rPr spc="-160" dirty="0"/>
              <a:t>Monte</a:t>
            </a:r>
            <a:r>
              <a:rPr spc="5" dirty="0"/>
              <a:t> </a:t>
            </a:r>
            <a:r>
              <a:rPr spc="-100" dirty="0"/>
              <a:t>Carlo</a:t>
            </a:r>
            <a:r>
              <a:rPr spc="-45" dirty="0"/>
              <a:t> </a:t>
            </a:r>
            <a:r>
              <a:rPr spc="-125" dirty="0"/>
              <a:t>analysis</a:t>
            </a:r>
            <a:r>
              <a:rPr spc="75" dirty="0"/>
              <a:t> </a:t>
            </a:r>
            <a:r>
              <a:rPr spc="-125" dirty="0"/>
              <a:t>in</a:t>
            </a:r>
            <a:r>
              <a:rPr spc="-70" dirty="0"/>
              <a:t> </a:t>
            </a:r>
            <a:r>
              <a:rPr spc="-150" dirty="0"/>
              <a:t>moving</a:t>
            </a:r>
            <a:r>
              <a:rPr spc="-5" dirty="0"/>
              <a:t> </a:t>
            </a:r>
            <a:r>
              <a:rPr spc="-180" dirty="0"/>
              <a:t>beyond</a:t>
            </a:r>
            <a:r>
              <a:rPr spc="25" dirty="0"/>
              <a:t> </a:t>
            </a:r>
            <a:r>
              <a:rPr dirty="0"/>
              <a:t>a</a:t>
            </a:r>
            <a:r>
              <a:rPr spc="-155" dirty="0"/>
              <a:t> </a:t>
            </a:r>
            <a:r>
              <a:rPr spc="-10" dirty="0"/>
              <a:t>single 	</a:t>
            </a:r>
            <a:r>
              <a:rPr spc="-114" dirty="0"/>
              <a:t>deterministic</a:t>
            </a:r>
            <a:r>
              <a:rPr dirty="0"/>
              <a:t> </a:t>
            </a:r>
            <a:r>
              <a:rPr spc="-125" dirty="0"/>
              <a:t>prediction</a:t>
            </a:r>
            <a:r>
              <a:rPr spc="85" dirty="0"/>
              <a:t> </a:t>
            </a:r>
            <a:r>
              <a:rPr spc="-145" dirty="0"/>
              <a:t>to</a:t>
            </a:r>
            <a:r>
              <a:rPr spc="-150" dirty="0"/>
              <a:t> </a:t>
            </a:r>
            <a:r>
              <a:rPr spc="-130" dirty="0"/>
              <a:t>create</a:t>
            </a:r>
            <a:r>
              <a:rPr spc="-30" dirty="0"/>
              <a:t> </a:t>
            </a:r>
            <a:r>
              <a:rPr dirty="0"/>
              <a:t>a</a:t>
            </a:r>
            <a:r>
              <a:rPr spc="-155" dirty="0"/>
              <a:t> </a:t>
            </a:r>
            <a:r>
              <a:rPr spc="-180" dirty="0"/>
              <a:t>robust</a:t>
            </a:r>
            <a:r>
              <a:rPr spc="25" dirty="0"/>
              <a:t> </a:t>
            </a:r>
            <a:r>
              <a:rPr spc="-105" dirty="0"/>
              <a:t>statistical 	</a:t>
            </a:r>
            <a:r>
              <a:rPr spc="-155" dirty="0"/>
              <a:t>model</a:t>
            </a:r>
            <a:r>
              <a:rPr spc="-10" dirty="0"/>
              <a:t> </a:t>
            </a:r>
            <a:r>
              <a:rPr spc="-40" dirty="0"/>
              <a:t>of</a:t>
            </a:r>
            <a:r>
              <a:rPr spc="-120" dirty="0"/>
              <a:t> </a:t>
            </a:r>
            <a:r>
              <a:rPr spc="-110" dirty="0"/>
              <a:t>flight</a:t>
            </a:r>
            <a:r>
              <a:rPr spc="-10" dirty="0"/>
              <a:t> </a:t>
            </a:r>
            <a:r>
              <a:rPr spc="-55" dirty="0"/>
              <a:t>performance.</a:t>
            </a:r>
          </a:p>
          <a:p>
            <a:pPr marL="254635" marR="43815" indent="-242570">
              <a:lnSpc>
                <a:spcPct val="102299"/>
              </a:lnSpc>
              <a:spcBef>
                <a:spcPts val="1450"/>
              </a:spcBef>
              <a:buChar char="•"/>
              <a:tabLst>
                <a:tab pos="266065" algn="l"/>
              </a:tabLst>
            </a:pPr>
            <a:r>
              <a:rPr spc="-135" dirty="0"/>
              <a:t>The</a:t>
            </a:r>
            <a:r>
              <a:rPr spc="-70" dirty="0"/>
              <a:t> </a:t>
            </a:r>
            <a:r>
              <a:rPr spc="-125" dirty="0"/>
              <a:t>analysis</a:t>
            </a:r>
            <a:r>
              <a:rPr spc="-30" dirty="0"/>
              <a:t> </a:t>
            </a:r>
            <a:r>
              <a:rPr spc="-140" dirty="0"/>
              <a:t>validates</a:t>
            </a:r>
            <a:r>
              <a:rPr spc="80" dirty="0"/>
              <a:t> </a:t>
            </a:r>
            <a:r>
              <a:rPr spc="-140" dirty="0"/>
              <a:t>the</a:t>
            </a:r>
            <a:r>
              <a:rPr spc="-60" dirty="0"/>
              <a:t> </a:t>
            </a:r>
            <a:r>
              <a:rPr spc="-160" dirty="0"/>
              <a:t>rocket</a:t>
            </a:r>
            <a:r>
              <a:rPr spc="55" dirty="0"/>
              <a:t> </a:t>
            </a:r>
            <a:r>
              <a:rPr spc="-130" dirty="0"/>
              <a:t>design</a:t>
            </a:r>
            <a:r>
              <a:rPr spc="-10" dirty="0"/>
              <a:t> </a:t>
            </a:r>
            <a:r>
              <a:rPr spc="-25" dirty="0"/>
              <a:t>as 	</a:t>
            </a:r>
            <a:r>
              <a:rPr spc="-135" dirty="0"/>
              <a:t>aerodynamically</a:t>
            </a:r>
            <a:r>
              <a:rPr spc="-20" dirty="0"/>
              <a:t> </a:t>
            </a:r>
            <a:r>
              <a:rPr spc="-170" dirty="0"/>
              <a:t>sound</a:t>
            </a:r>
            <a:r>
              <a:rPr spc="15" dirty="0"/>
              <a:t> </a:t>
            </a:r>
            <a:r>
              <a:rPr spc="-130" dirty="0"/>
              <a:t>and</a:t>
            </a:r>
            <a:r>
              <a:rPr spc="-30" dirty="0"/>
              <a:t> </a:t>
            </a:r>
            <a:r>
              <a:rPr spc="-130" dirty="0"/>
              <a:t>statistically</a:t>
            </a:r>
            <a:r>
              <a:rPr spc="135" dirty="0"/>
              <a:t> </a:t>
            </a:r>
            <a:r>
              <a:rPr spc="-95" dirty="0"/>
              <a:t>predictable.</a:t>
            </a:r>
          </a:p>
          <a:p>
            <a:pPr marL="255270" marR="258445" indent="-236854">
              <a:lnSpc>
                <a:spcPct val="100800"/>
              </a:lnSpc>
              <a:spcBef>
                <a:spcPts val="1455"/>
              </a:spcBef>
              <a:buChar char="•"/>
              <a:tabLst>
                <a:tab pos="266700" algn="l"/>
              </a:tabLst>
            </a:pPr>
            <a:r>
              <a:rPr sz="2900" spc="-60" dirty="0">
                <a:latin typeface="Times New Roman"/>
                <a:cs typeface="Times New Roman"/>
              </a:rPr>
              <a:t>The</a:t>
            </a:r>
            <a:r>
              <a:rPr sz="2900" spc="-125" dirty="0">
                <a:latin typeface="Times New Roman"/>
                <a:cs typeface="Times New Roman"/>
              </a:rPr>
              <a:t> </a:t>
            </a:r>
            <a:r>
              <a:rPr sz="2900" spc="-160" dirty="0">
                <a:latin typeface="Times New Roman"/>
                <a:cs typeface="Times New Roman"/>
              </a:rPr>
              <a:t>key</a:t>
            </a:r>
            <a:r>
              <a:rPr sz="2900" spc="-150" dirty="0">
                <a:latin typeface="Times New Roman"/>
                <a:cs typeface="Times New Roman"/>
              </a:rPr>
              <a:t> </a:t>
            </a:r>
            <a:r>
              <a:rPr sz="2900" spc="-30" dirty="0">
                <a:latin typeface="Times New Roman"/>
                <a:cs typeface="Times New Roman"/>
              </a:rPr>
              <a:t>contribution</a:t>
            </a:r>
            <a:r>
              <a:rPr sz="2900" spc="-85" dirty="0">
                <a:latin typeface="Times New Roman"/>
                <a:cs typeface="Times New Roman"/>
              </a:rPr>
              <a:t> </a:t>
            </a:r>
            <a:r>
              <a:rPr sz="2900" spc="-30" dirty="0">
                <a:latin typeface="Times New Roman"/>
                <a:cs typeface="Times New Roman"/>
              </a:rPr>
              <a:t>is</a:t>
            </a:r>
            <a:r>
              <a:rPr sz="2900" spc="-1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110" dirty="0">
                <a:latin typeface="Times New Roman"/>
                <a:cs typeface="Times New Roman"/>
              </a:rPr>
              <a:t> </a:t>
            </a:r>
            <a:r>
              <a:rPr sz="2900" spc="-55" dirty="0">
                <a:latin typeface="Times New Roman"/>
                <a:cs typeface="Times New Roman"/>
              </a:rPr>
              <a:t>quantification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-175" dirty="0">
                <a:latin typeface="Times New Roman"/>
                <a:cs typeface="Times New Roman"/>
              </a:rPr>
              <a:t>of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spc="-50" dirty="0">
                <a:latin typeface="Times New Roman"/>
                <a:cs typeface="Times New Roman"/>
              </a:rPr>
              <a:t>a 	</a:t>
            </a:r>
            <a:r>
              <a:rPr spc="-10" dirty="0">
                <a:solidFill>
                  <a:srgbClr val="A85728"/>
                </a:solidFill>
                <a:latin typeface="Times New Roman"/>
                <a:cs typeface="Times New Roman"/>
              </a:rPr>
              <a:t>confidence</a:t>
            </a:r>
            <a:r>
              <a:rPr spc="-100" dirty="0">
                <a:solidFill>
                  <a:srgbClr val="A85728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interval, </a:t>
            </a:r>
            <a:r>
              <a:rPr spc="-45" dirty="0">
                <a:latin typeface="Times New Roman"/>
                <a:cs typeface="Times New Roman"/>
              </a:rPr>
              <a:t>or</a:t>
            </a:r>
            <a:r>
              <a:rPr spc="-18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safety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75" dirty="0">
                <a:latin typeface="Times New Roman"/>
                <a:cs typeface="Times New Roman"/>
              </a:rPr>
              <a:t>buffer,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65" dirty="0">
                <a:latin typeface="Times New Roman"/>
                <a:cs typeface="Times New Roman"/>
              </a:rPr>
              <a:t>which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Times New Roman"/>
                <a:cs typeface="Times New Roman"/>
              </a:rPr>
              <a:t>is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an 	</a:t>
            </a:r>
            <a:r>
              <a:rPr spc="-20" dirty="0">
                <a:latin typeface="Times New Roman"/>
                <a:cs typeface="Times New Roman"/>
              </a:rPr>
              <a:t>essential</a:t>
            </a:r>
            <a:r>
              <a:rPr spc="-160" dirty="0">
                <a:latin typeface="Times New Roman"/>
                <a:cs typeface="Times New Roman"/>
              </a:rPr>
              <a:t> </a:t>
            </a:r>
            <a:r>
              <a:rPr spc="-55" dirty="0">
                <a:latin typeface="Times New Roman"/>
                <a:cs typeface="Times New Roman"/>
              </a:rPr>
              <a:t>tool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Times New Roman"/>
                <a:cs typeface="Times New Roman"/>
              </a:rPr>
              <a:t>real-</a:t>
            </a:r>
            <a:r>
              <a:rPr spc="-45" dirty="0">
                <a:latin typeface="Times New Roman"/>
                <a:cs typeface="Times New Roman"/>
              </a:rPr>
              <a:t>world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mission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planning,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risk 	</a:t>
            </a:r>
            <a:r>
              <a:rPr sz="2950" spc="-65" dirty="0">
                <a:latin typeface="Times New Roman"/>
                <a:cs typeface="Times New Roman"/>
              </a:rPr>
              <a:t>assessment,</a:t>
            </a:r>
            <a:r>
              <a:rPr sz="2950" spc="70" dirty="0">
                <a:latin typeface="Times New Roman"/>
                <a:cs typeface="Times New Roman"/>
              </a:rPr>
              <a:t> </a:t>
            </a:r>
            <a:r>
              <a:rPr sz="2950" spc="-60" dirty="0">
                <a:latin typeface="Times New Roman"/>
                <a:cs typeface="Times New Roman"/>
              </a:rPr>
              <a:t>and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85" dirty="0">
                <a:latin typeface="Times New Roman"/>
                <a:cs typeface="Times New Roman"/>
              </a:rPr>
              <a:t>operational</a:t>
            </a:r>
            <a:r>
              <a:rPr sz="2950" spc="-60" dirty="0">
                <a:latin typeface="Times New Roman"/>
                <a:cs typeface="Times New Roman"/>
              </a:rPr>
              <a:t> </a:t>
            </a:r>
            <a:r>
              <a:rPr sz="2950" spc="-95" dirty="0">
                <a:latin typeface="Times New Roman"/>
                <a:cs typeface="Times New Roman"/>
              </a:rPr>
              <a:t>safety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assurance.</a:t>
            </a:r>
            <a:endParaRPr sz="2950">
              <a:latin typeface="Times New Roman"/>
              <a:cs typeface="Times New Roman"/>
            </a:endParaRPr>
          </a:p>
          <a:p>
            <a:pPr marL="264160" marR="202565" indent="-250825">
              <a:lnSpc>
                <a:spcPct val="105700"/>
              </a:lnSpc>
              <a:spcBef>
                <a:spcPts val="1425"/>
              </a:spcBef>
              <a:buChar char="•"/>
              <a:tabLst>
                <a:tab pos="265430" algn="l"/>
              </a:tabLst>
            </a:pPr>
            <a:r>
              <a:rPr sz="2700" spc="-55" dirty="0"/>
              <a:t>Ultimately,</a:t>
            </a:r>
            <a:r>
              <a:rPr sz="2700" spc="-30" dirty="0"/>
              <a:t> </a:t>
            </a:r>
            <a:r>
              <a:rPr sz="2700" spc="-20" dirty="0"/>
              <a:t>this</a:t>
            </a:r>
            <a:r>
              <a:rPr sz="2700" spc="-130" dirty="0"/>
              <a:t> </a:t>
            </a:r>
            <a:r>
              <a:rPr sz="2700" spc="-55" dirty="0"/>
              <a:t>approach</a:t>
            </a:r>
            <a:r>
              <a:rPr sz="2700" spc="35" dirty="0"/>
              <a:t> </a:t>
            </a:r>
            <a:r>
              <a:rPr sz="2700" spc="-65" dirty="0"/>
              <a:t>transforms</a:t>
            </a:r>
            <a:r>
              <a:rPr sz="2700" spc="-60" dirty="0"/>
              <a:t> </a:t>
            </a:r>
            <a:r>
              <a:rPr sz="2700" spc="-10" dirty="0"/>
              <a:t>atmospheric 	</a:t>
            </a:r>
            <a:r>
              <a:rPr sz="2700" spc="-60" dirty="0"/>
              <a:t>uncertainty</a:t>
            </a:r>
            <a:r>
              <a:rPr sz="2700" spc="-20" dirty="0"/>
              <a:t> </a:t>
            </a:r>
            <a:r>
              <a:rPr sz="2700" dirty="0"/>
              <a:t>from</a:t>
            </a:r>
            <a:r>
              <a:rPr sz="2700" spc="-145" dirty="0"/>
              <a:t> </a:t>
            </a:r>
            <a:r>
              <a:rPr sz="2700" dirty="0"/>
              <a:t>an</a:t>
            </a:r>
            <a:r>
              <a:rPr sz="2700" spc="-150" dirty="0"/>
              <a:t> </a:t>
            </a:r>
            <a:r>
              <a:rPr sz="2700" spc="-70" dirty="0"/>
              <a:t>unknown</a:t>
            </a:r>
            <a:r>
              <a:rPr sz="2700" spc="-5" dirty="0"/>
              <a:t> </a:t>
            </a:r>
            <a:r>
              <a:rPr sz="2700" spc="-45" dirty="0"/>
              <a:t>risk</a:t>
            </a:r>
            <a:r>
              <a:rPr sz="2700" spc="-105" dirty="0"/>
              <a:t> </a:t>
            </a:r>
            <a:r>
              <a:rPr sz="2700" spc="-25" dirty="0"/>
              <a:t>into</a:t>
            </a:r>
            <a:r>
              <a:rPr sz="2700" spc="-85" dirty="0"/>
              <a:t> </a:t>
            </a:r>
            <a:r>
              <a:rPr sz="2700" spc="-50" dirty="0"/>
              <a:t>a 	</a:t>
            </a:r>
            <a:r>
              <a:rPr spc="-125" dirty="0"/>
              <a:t>manageable,</a:t>
            </a:r>
            <a:r>
              <a:rPr spc="-25" dirty="0"/>
              <a:t> </a:t>
            </a:r>
            <a:r>
              <a:rPr spc="-145" dirty="0"/>
              <a:t>well-</a:t>
            </a:r>
            <a:r>
              <a:rPr spc="-110" dirty="0"/>
              <a:t>defined</a:t>
            </a:r>
            <a:r>
              <a:rPr spc="20" dirty="0"/>
              <a:t> </a:t>
            </a:r>
            <a:r>
              <a:rPr spc="-140" dirty="0"/>
              <a:t>performance</a:t>
            </a:r>
            <a:r>
              <a:rPr spc="30" dirty="0"/>
              <a:t> </a:t>
            </a:r>
            <a:r>
              <a:rPr spc="-114" dirty="0"/>
              <a:t>parameter.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10210706" y="6941608"/>
            <a:ext cx="175069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75" dirty="0">
                <a:latin typeface="Cambria"/>
                <a:cs typeface="Cambria"/>
              </a:rPr>
              <a:t>Unknown</a:t>
            </a:r>
            <a:r>
              <a:rPr sz="2300" spc="145" dirty="0">
                <a:latin typeface="Cambria"/>
                <a:cs typeface="Cambria"/>
              </a:rPr>
              <a:t> </a:t>
            </a:r>
            <a:r>
              <a:rPr sz="2300" spc="-80" dirty="0">
                <a:latin typeface="Cambria"/>
                <a:cs typeface="Cambria"/>
              </a:rPr>
              <a:t>Risk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52077" y="4105627"/>
            <a:ext cx="1540510" cy="6902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545"/>
              </a:lnSpc>
              <a:spcBef>
                <a:spcPts val="120"/>
              </a:spcBef>
            </a:pPr>
            <a:r>
              <a:rPr sz="2200" dirty="0">
                <a:latin typeface="Cambria"/>
                <a:cs typeface="Cambria"/>
              </a:rPr>
              <a:t>Monte</a:t>
            </a:r>
            <a:r>
              <a:rPr sz="2200" spc="229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Carlo</a:t>
            </a:r>
            <a:endParaRPr sz="2200">
              <a:latin typeface="Cambria"/>
              <a:cs typeface="Cambria"/>
            </a:endParaRPr>
          </a:p>
          <a:p>
            <a:pPr marR="9525" algn="ctr">
              <a:lnSpc>
                <a:spcPts val="2665"/>
              </a:lnSpc>
            </a:pPr>
            <a:r>
              <a:rPr sz="2300" spc="-10" dirty="0">
                <a:latin typeface="Cambria"/>
                <a:cs typeface="Cambria"/>
              </a:rPr>
              <a:t>Analysis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11199" y="6906330"/>
            <a:ext cx="2636520" cy="7346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685800" marR="5080" indent="-673100">
              <a:lnSpc>
                <a:spcPts val="2500"/>
              </a:lnSpc>
              <a:spcBef>
                <a:spcPts val="670"/>
              </a:spcBef>
            </a:pPr>
            <a:r>
              <a:rPr sz="2550" spc="-215" dirty="0">
                <a:latin typeface="Trebuchet MS"/>
                <a:cs typeface="Trebuchet MS"/>
              </a:rPr>
              <a:t>Defined</a:t>
            </a:r>
            <a:r>
              <a:rPr sz="2550" spc="15" dirty="0">
                <a:latin typeface="Trebuchet MS"/>
                <a:cs typeface="Trebuchet MS"/>
              </a:rPr>
              <a:t> </a:t>
            </a:r>
            <a:r>
              <a:rPr sz="2550" spc="-204" dirty="0">
                <a:latin typeface="Trebuchet MS"/>
                <a:cs typeface="Trebuchet MS"/>
              </a:rPr>
              <a:t>Performance </a:t>
            </a:r>
            <a:r>
              <a:rPr sz="2550" spc="-135" dirty="0">
                <a:latin typeface="Trebuchet MS"/>
                <a:cs typeface="Trebuchet MS"/>
              </a:rPr>
              <a:t>Parameter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1643</Words>
  <Application>Microsoft Office PowerPoint</Application>
  <PresentationFormat>Özel</PresentationFormat>
  <Paragraphs>173</Paragraphs>
  <Slides>16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3" baseType="lpstr">
      <vt:lpstr>Aptos</vt:lpstr>
      <vt:lpstr>Arial MT</vt:lpstr>
      <vt:lpstr>Cambria</vt:lpstr>
      <vt:lpstr>Cambria Math</vt:lpstr>
      <vt:lpstr>Times New Roman</vt:lpstr>
      <vt:lpstr>Trebuchet MS</vt:lpstr>
      <vt:lpstr>Office Theme</vt:lpstr>
      <vt:lpstr>Stochastic Flight Dynamics: A Monte Carlo Analysis of Rocket Trajectory Under Atmospheric Uncertainty</vt:lpstr>
      <vt:lpstr>The Core Objective: Moving Beyond Deterministic Prediction</vt:lpstr>
      <vt:lpstr>The Mathematical Framework: Point Mass Dynamics</vt:lpstr>
      <vt:lpstr>Governing Principles: The Laws of Physics in Code</vt:lpstr>
      <vt:lpstr>Height&amp;Range Grapghics</vt:lpstr>
      <vt:lpstr>The Equations of Motion</vt:lpstr>
      <vt:lpstr>The Method: Introducing Uncertainty via Monte Carlo Simulation</vt:lpstr>
      <vt:lpstr>Implementing Randomness: Stochastic &amp; Dynamic Variables</vt:lpstr>
      <vt:lpstr>Atmospheric Model Part 1: Vertical Temperature &amp; Pressure Profiles</vt:lpstr>
      <vt:lpstr>Temperature - Air Density Graph</vt:lpstr>
      <vt:lpstr>Simulation Logic Flow The code executes a structured loop for each of the 2,000 iterations to generate the final dataset. This diagram illustrates the high-level process flow.</vt:lpstr>
      <vt:lpstr>Interpreting Outcomes: Probability Density Function</vt:lpstr>
      <vt:lpstr>Quantifying Risk: Cumulative Distribution Function (CDF)</vt:lpstr>
      <vt:lpstr>Visualizing the Impact Zone: The 2D Performance Model</vt:lpstr>
      <vt:lpstr>Key Results &amp; Professional Insights</vt:lpstr>
      <vt:lpstr>Conclusion: From Uncertainty to Engineering Confidence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Kerim</dc:creator>
  <cp:lastModifiedBy>Tolgahan Döner</cp:lastModifiedBy>
  <cp:revision>2</cp:revision>
  <dcterms:created xsi:type="dcterms:W3CDTF">2025-12-30T22:22:17Z</dcterms:created>
  <dcterms:modified xsi:type="dcterms:W3CDTF">2025-12-31T03:33:43Z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2025-12-30T00:00:00Z</vt:filetime>
  </property>
  <property fmtid="{D5CDD505-2E9C-101B-9397-08002B2CF9AE}" pid="3" name="LastSaved">
    <vt:filetime>2025-12-30T00:00:00Z</vt:filetime>
  </property>
</Properties>
</file>